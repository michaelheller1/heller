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פתיחה" id="{c0c6349c-e971-50fa-b616-dc2d88479239}">
          <p14:sldIdLst>
            <p14:sldId id="256"/>
            <p14:sldId id="257"/>
          </p14:sldIdLst>
        </p14:section>
        <p14:section name="בריאות הציבור" id="{8ad05b24-e735-0d45-31d7-00281ff4efb0}">
          <p14:sldIdLst>
            <p14:sldId id="258"/>
            <p14:sldId id="259"/>
            <p14:sldId id="260"/>
            <p14:sldId id="261"/>
            <p14:sldId id="262"/>
            <p14:sldId id="263"/>
            <p14:sldId id="264"/>
            <p14:sldId id="265"/>
          </p14:sldIdLst>
        </p14:section>
        <p14:section name="אבחון קהילתי" id="{eb76fe9c-0b36-21fc-9e01-27fd16bfee81}">
          <p14:sldIdLst>
            <p14:sldId id="266"/>
            <p14:sldId id="267"/>
            <p14:sldId id="268"/>
            <p14:sldId id="269"/>
            <p14:sldId id="270"/>
            <p14:sldId id="271"/>
          </p14:sldIdLst>
        </p14:section>
        <p14:section name="מושגי יסוד בקידום בריאות" id="{7e312fb8-a064-7759-ebe4-58a4859190cf}">
          <p14:sldIdLst>
            <p14:sldId id="272"/>
            <p14:sldId id="273"/>
            <p14:sldId id="274"/>
            <p14:sldId id="275"/>
            <p14:sldId id="276"/>
            <p14:sldId id="277"/>
            <p14:sldId id="278"/>
            <p14:sldId id="279"/>
          </p14:sldIdLst>
        </p14:section>
        <p14:section name="אמנת אוטווה" id="{a2cb1bac-3b71-7f78-058e-90de9f11ef1e}">
          <p14:sldIdLst>
            <p14:sldId id="280"/>
            <p14:sldId id="281"/>
            <p14:sldId id="282"/>
            <p14:sldId id="283"/>
            <p14:sldId id="284"/>
            <p14:sldId id="285"/>
            <p14:sldId id="286"/>
            <p14:sldId id="287"/>
            <p14:sldId id="288"/>
            <p14:sldId id="289"/>
          </p14:sldIdLst>
        </p14:section>
        <p14:section name="חינוך לבריאות וקידום בריאות" id="{686c1a83-2a94-1cc7-5d8c-e0e4d58f5612}">
          <p14:sldIdLst>
            <p14:sldId id="290"/>
            <p14:sldId id="291"/>
          </p14:sldIdLst>
        </p14:section>
        <p14:section name="תרגילים" id="{ee6b6233-2fda-e007-0ed7-ae6402866813}">
          <p14:sldIdLst>
            <p14:sldId id="292"/>
            <p14:sldId id="293"/>
            <p14:sldId id="302"/>
            <p14:sldId id="303"/>
          </p14:sldIdLst>
        </p14:section>
        <p14:section name="תזונה בבריאות הציבור" id="{31df2636-d7c2-5189-6cf2-00760624976e}">
          <p14:sldIdLst>
            <p14:sldId id="294"/>
            <p14:sldId id="295"/>
            <p14:sldId id="296"/>
            <p14:sldId id="297"/>
            <p14:sldId id="298"/>
            <p14:sldId id="299"/>
            <p14:sldId id="300"/>
            <p14:sldId id="301"/>
          </p14:sldIdLst>
        </p14:section>
        <p14:section name="סיכום" id="{97ec4dc7-c015-09a9-f8e5-7516bbd248f0}">
          <p14:sldIdLst>
            <p14:sldId id="304"/>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rtlCol="0"/>
          <a:lstStyle>
            <a:lvl1pPr rtl="1" algn="r" indent="0" marL="0">
              <a:buNone/>
              <a:defRPr lang="en-US" sz="3000" b="1" dirty="0">
                <a:solidFill>
                  <a:schemeClr val="tx2"/>
                </a:solidFill>
                <a:latin typeface="Arial" pitchFamily="34" charset="0"/>
                <a:ea typeface="Arial" pitchFamily="34" charset="-122"/>
                <a:cs typeface="Arial" pitchFamily="34" charset="-120"/>
              </a:defRPr>
            </a:lvl1pPr>
          </a:lstStyle>
          <a:p>
            <a:pPr rtl="1" algn="r" indent="0" marL="0">
              <a:buNone/>
            </a:pPr>
            <a:endParaRPr lang="en-US" sz="30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INT">
    <p:bg>
      <p:bgPr>
        <a:solidFill>
          <a:schemeClr val="bg2"/>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rtlCol="0"/>
          <a:lstStyle>
            <a:lvl1pPr rtl="1" algn="r" indent="0" marL="0">
              <a:buNone/>
              <a:defRPr lang="en-US" sz="3000" b="1" dirty="0">
                <a:solidFill>
                  <a:schemeClr val="tx2"/>
                </a:solidFill>
                <a:latin typeface="Arial" pitchFamily="34" charset="0"/>
                <a:ea typeface="Arial" pitchFamily="34" charset="-122"/>
                <a:cs typeface="Arial" pitchFamily="34" charset="-120"/>
              </a:defRPr>
            </a:lvl1pPr>
          </a:lstStyle>
          <a:p>
            <a:pPr rtl="1" algn="r" indent="0" marL="0">
              <a:buNone/>
            </a:pPr>
            <a:endParaRPr lang="en-US" sz="30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Arial"/>
                <a:ea typeface="Arial"/>
                <a:cs typeface="Arial"/>
              </a:defRPr>
            </a:lvl1pPr>
          </a:lstStyle>
          <a:p>
            <a:pPr rtl="1"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5.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2.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2.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2.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3.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hyperlink" Target="https://www.eatrightpro.org/practice/practice-resources/public-health-and-community" TargetMode="External"/><Relationship Id="rId1" Type="http://schemas.openxmlformats.org/officeDocument/2006/relationships/image" Target="../media/image-40-1.png"/><Relationship Id="rId2" Type="http://schemas.openxmlformats.org/officeDocument/2006/relationships/image" Target="../media/image-40-2.png"/><Relationship Id="rId4" Type="http://schemas.openxmlformats.org/officeDocument/2006/relationships/slideLayout" Target="../slideLayouts/slideLayout2.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2.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2.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image" Target="../media/image-44-11.png"/><Relationship Id="rId12" Type="http://schemas.openxmlformats.org/officeDocument/2006/relationships/slideLayout" Target="../slideLayouts/slideLayout2.xml"/><Relationship Id="rId1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2.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3.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3.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4" Type="http://schemas.openxmlformats.org/officeDocument/2006/relationships/hyperlink" Target="mailto:einat.ophir@telaviv.health.gov.il" TargetMode="External"/><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5" Type="http://schemas.openxmlformats.org/officeDocument/2006/relationships/slideLayout" Target="../slideLayouts/slideLayout2.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5.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circle-1"/>
          <p:cNvSpPr/>
          <p:nvPr/>
        </p:nvSpPr>
        <p:spPr>
          <a:xfrm>
            <a:off x="-1097280" y="2377440"/>
            <a:ext cx="5669280" cy="5669280"/>
          </a:xfrm>
          <a:prstGeom prst="ellipse">
            <a:avLst/>
          </a:prstGeom>
          <a:solidFill>
            <a:schemeClr val="accent1">
              <a:alpha val="25000"/>
            </a:schemeClr>
          </a:solidFill>
          <a:ln/>
        </p:spPr>
      </p:sp>
      <p:sp>
        <p:nvSpPr>
          <p:cNvPr id="3" name="deco-circle-2"/>
          <p:cNvSpPr/>
          <p:nvPr/>
        </p:nvSpPr>
        <p:spPr>
          <a:xfrm>
            <a:off x="1463040" y="-1280160"/>
            <a:ext cx="3840480" cy="3840480"/>
          </a:xfrm>
          <a:prstGeom prst="ellipse">
            <a:avLst/>
          </a:prstGeom>
          <a:solidFill>
            <a:schemeClr val="accent2">
              <a:alpha val="20000"/>
            </a:schemeClr>
          </a:solidFill>
          <a:ln/>
        </p:spPr>
      </p:sp>
      <p:sp>
        <p:nvSpPr>
          <p:cNvPr id="4" name="deco-circle-3"/>
          <p:cNvSpPr/>
          <p:nvPr/>
        </p:nvSpPr>
        <p:spPr>
          <a:xfrm>
            <a:off x="3566160" y="4480560"/>
            <a:ext cx="1463040" cy="1463040"/>
          </a:xfrm>
          <a:prstGeom prst="ellipse">
            <a:avLst/>
          </a:prstGeom>
          <a:solidFill>
            <a:schemeClr val="accent3">
              <a:alpha val="30000"/>
            </a:schemeClr>
          </a:solidFill>
          <a:ln/>
        </p:spPr>
      </p:sp>
      <p:sp>
        <p:nvSpPr>
          <p:cNvPr id="5" name="Shape 3"/>
          <p:cNvSpPr/>
          <p:nvPr/>
        </p:nvSpPr>
        <p:spPr>
          <a:xfrm>
            <a:off x="1234440" y="1874520"/>
            <a:ext cx="1143000" cy="11430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531620" y="2171700"/>
            <a:ext cx="548640" cy="548640"/>
          </a:xfrm>
          <a:prstGeom prst="rect">
            <a:avLst/>
          </a:prstGeom>
        </p:spPr>
      </p:pic>
      <p:sp>
        <p:nvSpPr>
          <p:cNvPr id="7" name="Shape 4"/>
          <p:cNvSpPr/>
          <p:nvPr/>
        </p:nvSpPr>
        <p:spPr>
          <a:xfrm>
            <a:off x="2697480" y="1234440"/>
            <a:ext cx="960120" cy="96012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2947111" y="1484071"/>
            <a:ext cx="460858" cy="460858"/>
          </a:xfrm>
          <a:prstGeom prst="rect">
            <a:avLst/>
          </a:prstGeom>
        </p:spPr>
      </p:pic>
      <p:sp>
        <p:nvSpPr>
          <p:cNvPr id="9" name="Shape 5"/>
          <p:cNvSpPr/>
          <p:nvPr/>
        </p:nvSpPr>
        <p:spPr>
          <a:xfrm>
            <a:off x="2788920" y="2880360"/>
            <a:ext cx="1051560" cy="1051560"/>
          </a:xfrm>
          <a:prstGeom prst="ellipse">
            <a:avLst/>
          </a:prstGeom>
          <a:solidFill>
            <a:schemeClr val="accent4"/>
          </a:solidFill>
          <a:ln w="12700">
            <a:solidFill>
              <a:schemeClr val="accent4"/>
            </a:solidFill>
            <a:prstDash val="solid"/>
          </a:ln>
        </p:spPr>
      </p:sp>
      <p:pic>
        <p:nvPicPr>
          <p:cNvPr id="10" name="Image 2" descr="preencoded.png">    </p:cNvPr>
          <p:cNvPicPr>
            <a:picLocks noChangeAspect="1"/>
          </p:cNvPicPr>
          <p:nvPr/>
        </p:nvPicPr>
        <p:blipFill>
          <a:blip r:embed="rId3"/>
          <a:stretch>
            <a:fillRect/>
          </a:stretch>
        </p:blipFill>
        <p:spPr>
          <a:xfrm>
            <a:off x="3062326" y="3153766"/>
            <a:ext cx="504749" cy="504749"/>
          </a:xfrm>
          <a:prstGeom prst="rect">
            <a:avLst/>
          </a:prstGeom>
        </p:spPr>
      </p:pic>
      <p:sp>
        <p:nvSpPr>
          <p:cNvPr id="11" name="Shape 6"/>
          <p:cNvSpPr/>
          <p:nvPr/>
        </p:nvSpPr>
        <p:spPr>
          <a:xfrm>
            <a:off x="1600200" y="3566160"/>
            <a:ext cx="868680" cy="868680"/>
          </a:xfrm>
          <a:prstGeom prst="ellipse">
            <a:avLst/>
          </a:prstGeom>
          <a:solidFill>
            <a:schemeClr val="accent3"/>
          </a:solidFill>
          <a:ln w="12700">
            <a:solidFill>
              <a:schemeClr val="accent3"/>
            </a:solidFill>
            <a:prstDash val="solid"/>
          </a:ln>
        </p:spPr>
      </p:sp>
      <p:pic>
        <p:nvPicPr>
          <p:cNvPr id="12" name="Image 3" descr="preencoded.png">    </p:cNvPr>
          <p:cNvPicPr>
            <a:picLocks noChangeAspect="1"/>
          </p:cNvPicPr>
          <p:nvPr/>
        </p:nvPicPr>
        <p:blipFill>
          <a:blip r:embed="rId4"/>
          <a:stretch>
            <a:fillRect/>
          </a:stretch>
        </p:blipFill>
        <p:spPr>
          <a:xfrm>
            <a:off x="1826057" y="3792017"/>
            <a:ext cx="416966" cy="416966"/>
          </a:xfrm>
          <a:prstGeom prst="rect">
            <a:avLst/>
          </a:prstGeom>
        </p:spPr>
      </p:pic>
      <p:sp>
        <p:nvSpPr>
          <p:cNvPr id="13" name="Shape 7"/>
          <p:cNvSpPr/>
          <p:nvPr/>
        </p:nvSpPr>
        <p:spPr>
          <a:xfrm flipH="1">
            <a:off x="2194560" y="1783080"/>
            <a:ext cx="548640" cy="411480"/>
          </a:xfrm>
          <a:prstGeom prst="line">
            <a:avLst/>
          </a:prstGeom>
          <a:noFill/>
          <a:ln w="12700">
            <a:solidFill>
              <a:schemeClr val="bg2"/>
            </a:solidFill>
            <a:prstDash val="solid"/>
          </a:ln>
        </p:spPr>
      </p:sp>
      <p:sp>
        <p:nvSpPr>
          <p:cNvPr id="14" name="Shape 8"/>
          <p:cNvSpPr/>
          <p:nvPr/>
        </p:nvSpPr>
        <p:spPr>
          <a:xfrm>
            <a:off x="2331720" y="2788920"/>
            <a:ext cx="502920" cy="457200"/>
          </a:xfrm>
          <a:prstGeom prst="line">
            <a:avLst/>
          </a:prstGeom>
          <a:noFill/>
          <a:ln w="12700">
            <a:solidFill>
              <a:schemeClr val="bg2"/>
            </a:solidFill>
            <a:prstDash val="solid"/>
          </a:ln>
        </p:spPr>
      </p:sp>
      <p:sp>
        <p:nvSpPr>
          <p:cNvPr id="15" name="Shape 9"/>
          <p:cNvSpPr/>
          <p:nvPr/>
        </p:nvSpPr>
        <p:spPr>
          <a:xfrm>
            <a:off x="1874520" y="3017520"/>
            <a:ext cx="45720" cy="548640"/>
          </a:xfrm>
          <a:prstGeom prst="line">
            <a:avLst/>
          </a:prstGeom>
          <a:noFill/>
          <a:ln w="12700">
            <a:solidFill>
              <a:schemeClr val="bg2"/>
            </a:solidFill>
            <a:prstDash val="solid"/>
          </a:ln>
        </p:spPr>
      </p:sp>
      <p:sp>
        <p:nvSpPr>
          <p:cNvPr id="16" name="Text 10"/>
          <p:cNvSpPr txBox="1"/>
          <p:nvPr/>
        </p:nvSpPr>
        <p:spPr>
          <a:xfrm>
            <a:off x="5120640" y="1600200"/>
            <a:ext cx="6492240" cy="1737360"/>
          </a:xfrm>
          <a:prstGeom prst="rect">
            <a:avLst/>
          </a:prstGeom>
          <a:noFill/>
          <a:ln/>
        </p:spPr>
        <p:txBody>
          <a:bodyPr wrap="square" lIns="50800" tIns="50800" rIns="50800" bIns="50800" rtlCol="0" anchor="b"/>
          <a:lstStyle/>
          <a:p>
            <a:pPr rtl="1" algn="r" indent="0" marL="0">
              <a:buNone/>
            </a:pPr>
            <a:r>
              <a:rPr lang="he-IL" altLang="en-US" sz="4400" b="1" dirty="0">
                <a:solidFill>
                  <a:schemeClr val="bg1"/>
                </a:solidFill>
                <a:latin typeface="Arial" pitchFamily="34" charset="0"/>
                <a:ea typeface="Arial" pitchFamily="34" charset="-122"/>
                <a:cs typeface="Arial" pitchFamily="34" charset="-120"/>
              </a:rPr>
              <a:t>הקורס המלווה</a:t>
            </a:r>
            <a:endParaRPr lang="he-IL" sz="4400" dirty="0"/>
          </a:p>
          <a:p>
            <a:pPr rtl="1" algn="r" indent="0" marL="0">
              <a:buNone/>
            </a:pPr>
            <a:r>
              <a:rPr lang="he-IL" altLang="en-US" sz="4400" b="1" dirty="0">
                <a:solidFill>
                  <a:schemeClr val="bg1"/>
                </a:solidFill>
                <a:latin typeface="Arial" pitchFamily="34" charset="0"/>
                <a:ea typeface="Arial" pitchFamily="34" charset="-122"/>
                <a:cs typeface="Arial" pitchFamily="34" charset="-120"/>
              </a:rPr>
              <a:t>בבריאות הציבור</a:t>
            </a:r>
            <a:endParaRPr lang="he-IL" sz="4400" dirty="0"/>
          </a:p>
        </p:txBody>
      </p:sp>
      <p:sp>
        <p:nvSpPr>
          <p:cNvPr id="17" name="Text 11"/>
          <p:cNvSpPr/>
          <p:nvPr/>
        </p:nvSpPr>
        <p:spPr>
          <a:xfrm>
            <a:off x="9966960" y="3520440"/>
            <a:ext cx="1645920" cy="548640"/>
          </a:xfrm>
          <a:prstGeom prst="roundRect">
            <a:avLst>
              <a:gd name="adj" fmla="val 41667"/>
            </a:avLst>
          </a:prstGeom>
          <a:solidFill>
            <a:schemeClr val="accent3"/>
          </a:solidFill>
          <a:ln/>
        </p:spPr>
        <p:txBody>
          <a:bodyPr wrap="square" lIns="0" tIns="0" rIns="0" bIns="0" rtlCol="0" anchor="ctr"/>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שיעור 1</a:t>
            </a:r>
            <a:endParaRPr lang="he-IL" sz="2200" dirty="0"/>
          </a:p>
        </p:txBody>
      </p:sp>
      <p:sp>
        <p:nvSpPr>
          <p:cNvPr id="18" name="Text 12"/>
          <p:cNvSpPr txBox="1"/>
          <p:nvPr/>
        </p:nvSpPr>
        <p:spPr>
          <a:xfrm>
            <a:off x="5120640" y="4434840"/>
            <a:ext cx="6492240" cy="502920"/>
          </a:xfrm>
          <a:prstGeom prst="rect">
            <a:avLst/>
          </a:prstGeom>
          <a:noFill/>
          <a:ln/>
        </p:spPr>
        <p:txBody>
          <a:bodyPr wrap="square" lIns="50800" tIns="50800" rIns="50800" bIns="50800" rtlCol="0" anchor="t"/>
          <a:lstStyle/>
          <a:p>
            <a:pPr rtl="1" algn="r" indent="0" marL="0">
              <a:buNone/>
            </a:pPr>
            <a:r>
              <a:rPr lang="he-IL" altLang="en-US" sz="2400" b="1" dirty="0">
                <a:solidFill>
                  <a:schemeClr val="bg1"/>
                </a:solidFill>
                <a:latin typeface="Arial" pitchFamily="34" charset="0"/>
                <a:ea typeface="Arial" pitchFamily="34" charset="-122"/>
                <a:cs typeface="Arial" pitchFamily="34" charset="-120"/>
              </a:rPr>
              <a:t>אורית הלר</a:t>
            </a:r>
            <a:endParaRPr lang="he-IL" sz="2400" dirty="0"/>
          </a:p>
        </p:txBody>
      </p:sp>
      <p:sp>
        <p:nvSpPr>
          <p:cNvPr id="19" name="Text 13"/>
          <p:cNvSpPr txBox="1"/>
          <p:nvPr/>
        </p:nvSpPr>
        <p:spPr>
          <a:xfrm>
            <a:off x="5120640" y="4937760"/>
            <a:ext cx="6492240" cy="457200"/>
          </a:xfrm>
          <a:prstGeom prst="rect">
            <a:avLst/>
          </a:prstGeom>
          <a:noFill/>
          <a:ln/>
        </p:spPr>
        <p:txBody>
          <a:bodyPr wrap="square" lIns="50800" tIns="50800" rIns="50800" bIns="50800" rtlCol="0" anchor="t"/>
          <a:lstStyle/>
          <a:p>
            <a:pPr rtl="1" algn="r" indent="0" marL="0">
              <a:buNone/>
            </a:pPr>
            <a:r>
              <a:rPr lang="he-IL" altLang="en-US" sz="2000" dirty="0">
                <a:solidFill>
                  <a:schemeClr val="bg2"/>
                </a:solidFill>
                <a:latin typeface="Arial" pitchFamily="34" charset="0"/>
                <a:ea typeface="Arial" pitchFamily="34" charset="-122"/>
                <a:cs typeface="Arial" pitchFamily="34" charset="-120"/>
              </a:rPr>
              <a:t>מכללת אשקלון</a:t>
            </a:r>
            <a:endParaRPr lang="he-IL" sz="20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Arial"/>
                <a:ea typeface="Arial"/>
                <a:cs typeface="Arial"/>
              </a:defRPr>
            </a:lvl1pPr>
          </a:lstStyle>
          <a:p>
            <a:pPr rtl="1"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מה נלמד היום?</a:t>
            </a:r>
            <a:endParaRPr lang="he-IL" sz="3000" dirty="0"/>
          </a:p>
        </p:txBody>
      </p:sp>
      <p:sp>
        <p:nvSpPr>
          <p:cNvPr id="3" name="Text 1"/>
          <p:cNvSpPr txBox="1"/>
          <p:nvPr/>
        </p:nvSpPr>
        <p:spPr>
          <a:xfrm>
            <a:off x="1280160" y="1170432"/>
            <a:ext cx="10360152" cy="365760"/>
          </a:xfrm>
          <a:prstGeom prst="rect">
            <a:avLst/>
          </a:prstGeom>
          <a:noFill/>
          <a:ln/>
        </p:spPr>
        <p:txBody>
          <a:bodyPr wrap="square" lIns="0" tIns="0" rIns="0" bIns="0" rtlCol="0" anchor="t"/>
          <a:lstStyle/>
          <a:p>
            <a:pPr rtl="1" algn="r" indent="0" marL="0">
              <a:buNone/>
            </a:pPr>
            <a:r>
              <a:rPr lang="he-IL" altLang="en-US" sz="1600" b="1" dirty="0">
                <a:solidFill>
                  <a:schemeClr val="accent1"/>
                </a:solidFill>
                <a:latin typeface="Arial" pitchFamily="34" charset="0"/>
                <a:ea typeface="Arial" pitchFamily="34" charset="-122"/>
                <a:cs typeface="Arial" pitchFamily="34" charset="-120"/>
              </a:rPr>
              <a:t>שיעור 1: פתיחה ומעבר מחשיבה קלינית לחשיבה של בריאות הציבור</a:t>
            </a:r>
            <a:endParaRPr lang="he-IL" sz="1600" dirty="0"/>
          </a:p>
        </p:txBody>
      </p:sp>
      <p:sp>
        <p:nvSpPr>
          <p:cNvPr id="4" name="Text 2"/>
          <p:cNvSpPr txBox="1"/>
          <p:nvPr/>
        </p:nvSpPr>
        <p:spPr>
          <a:xfrm>
            <a:off x="1280160" y="1554480"/>
            <a:ext cx="10360152" cy="365760"/>
          </a:xfrm>
          <a:prstGeom prst="rect">
            <a:avLst/>
          </a:prstGeom>
          <a:noFill/>
          <a:ln/>
        </p:spPr>
        <p:txBody>
          <a:bodyPr wrap="square" lIns="0" tIns="0" rIns="0" bIns="0" rtlCol="0" anchor="t"/>
          <a:lstStyle/>
          <a:p>
            <a:pPr rtl="1" algn="r" indent="0" marL="0">
              <a:buNone/>
            </a:pPr>
            <a:r>
              <a:rPr lang="he-IL" altLang="en-US" sz="1600" dirty="0">
                <a:solidFill>
                  <a:schemeClr val="tx1"/>
                </a:solidFill>
                <a:latin typeface="Arial" pitchFamily="34" charset="0"/>
                <a:ea typeface="Arial" pitchFamily="34" charset="-122"/>
                <a:cs typeface="Arial" pitchFamily="34" charset="-120"/>
              </a:rPr>
              <a:t>בסיום השיעור תוכלו:</a:t>
            </a:r>
            <a:endParaRPr lang="he-IL" sz="1600" dirty="0"/>
          </a:p>
        </p:txBody>
      </p:sp>
      <p:sp>
        <p:nvSpPr>
          <p:cNvPr id="5" name="Shape 3"/>
          <p:cNvSpPr/>
          <p:nvPr/>
        </p:nvSpPr>
        <p:spPr>
          <a:xfrm>
            <a:off x="8122615" y="2057400"/>
            <a:ext cx="3520440" cy="2011680"/>
          </a:xfrm>
          <a:prstGeom prst="roundRect">
            <a:avLst>
              <a:gd name="adj" fmla="val 5455"/>
            </a:avLst>
          </a:prstGeom>
          <a:solidFill>
            <a:schemeClr val="bg2"/>
          </a:solidFill>
          <a:ln w="12700">
            <a:solidFill>
              <a:schemeClr val="bg2"/>
            </a:solidFill>
            <a:prstDash val="solid"/>
          </a:ln>
        </p:spPr>
      </p:sp>
      <p:sp>
        <p:nvSpPr>
          <p:cNvPr id="6" name="Shape 4"/>
          <p:cNvSpPr/>
          <p:nvPr/>
        </p:nvSpPr>
        <p:spPr>
          <a:xfrm>
            <a:off x="10774375" y="2286000"/>
            <a:ext cx="640080" cy="6400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10940796" y="2452421"/>
            <a:ext cx="307238" cy="307238"/>
          </a:xfrm>
          <a:prstGeom prst="rect">
            <a:avLst/>
          </a:prstGeom>
        </p:spPr>
      </p:pic>
      <p:sp>
        <p:nvSpPr>
          <p:cNvPr id="8" name="Text 5"/>
          <p:cNvSpPr/>
          <p:nvPr/>
        </p:nvSpPr>
        <p:spPr>
          <a:xfrm>
            <a:off x="8351215" y="2404872"/>
            <a:ext cx="411480" cy="411480"/>
          </a:xfrm>
          <a:prstGeom prst="ellipse">
            <a:avLst/>
          </a:prstGeom>
          <a:solidFill>
            <a:schemeClr val="bg1"/>
          </a:solidFill>
          <a:ln>
            <a:solidFill>
              <a:schemeClr val="bg1"/>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9" name="Text 6"/>
          <p:cNvSpPr txBox="1"/>
          <p:nvPr/>
        </p:nvSpPr>
        <p:spPr>
          <a:xfrm>
            <a:off x="8305495" y="3017520"/>
            <a:ext cx="3154680" cy="960120"/>
          </a:xfrm>
          <a:prstGeom prst="rect">
            <a:avLst/>
          </a:prstGeom>
          <a:noFill/>
          <a:ln/>
        </p:spPr>
        <p:txBody>
          <a:bodyPr wrap="square" lIns="50800" tIns="50800" rIns="50800" bIns="50800" rtlCol="0" anchor="t"/>
          <a:lstStyle/>
          <a:p>
            <a:pPr rtl="1" algn="r" indent="0" marL="0">
              <a:buNone/>
            </a:pPr>
            <a:r>
              <a:rPr lang="he-IL" altLang="en-US" sz="1500" dirty="0">
                <a:solidFill>
                  <a:schemeClr val="tx1"/>
                </a:solidFill>
                <a:latin typeface="Arial" pitchFamily="34" charset="0"/>
                <a:ea typeface="Arial" pitchFamily="34" charset="-122"/>
                <a:cs typeface="Arial" pitchFamily="34" charset="-120"/>
              </a:rPr>
              <a:t>להבחין בין חשיבה קלינית, הממוקדת במטופל, לבין חשיבה של בריאות הציבור, הממוקדת באוכלוסייה</a:t>
            </a:r>
            <a:endParaRPr lang="he-IL" sz="1500" dirty="0"/>
          </a:p>
        </p:txBody>
      </p:sp>
      <p:sp>
        <p:nvSpPr>
          <p:cNvPr id="10" name="Shape 7"/>
          <p:cNvSpPr/>
          <p:nvPr/>
        </p:nvSpPr>
        <p:spPr>
          <a:xfrm>
            <a:off x="4327855" y="2057400"/>
            <a:ext cx="3520440" cy="2011680"/>
          </a:xfrm>
          <a:prstGeom prst="roundRect">
            <a:avLst>
              <a:gd name="adj" fmla="val 5455"/>
            </a:avLst>
          </a:prstGeom>
          <a:solidFill>
            <a:schemeClr val="bg2"/>
          </a:solidFill>
          <a:ln w="12700">
            <a:solidFill>
              <a:schemeClr val="bg2"/>
            </a:solidFill>
            <a:prstDash val="solid"/>
          </a:ln>
        </p:spPr>
      </p:sp>
      <p:sp>
        <p:nvSpPr>
          <p:cNvPr id="11" name="Shape 8"/>
          <p:cNvSpPr/>
          <p:nvPr/>
        </p:nvSpPr>
        <p:spPr>
          <a:xfrm>
            <a:off x="6979615" y="2286000"/>
            <a:ext cx="640080" cy="640080"/>
          </a:xfrm>
          <a:prstGeom prst="ellipse">
            <a:avLst/>
          </a:prstGeom>
          <a:solidFill>
            <a:schemeClr val="accent2"/>
          </a:solidFill>
          <a:ln w="12700">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7146036" y="2452421"/>
            <a:ext cx="307238" cy="307238"/>
          </a:xfrm>
          <a:prstGeom prst="rect">
            <a:avLst/>
          </a:prstGeom>
        </p:spPr>
      </p:pic>
      <p:sp>
        <p:nvSpPr>
          <p:cNvPr id="13" name="Text 9"/>
          <p:cNvSpPr/>
          <p:nvPr/>
        </p:nvSpPr>
        <p:spPr>
          <a:xfrm>
            <a:off x="4556455" y="2404872"/>
            <a:ext cx="411480" cy="411480"/>
          </a:xfrm>
          <a:prstGeom prst="ellipse">
            <a:avLst/>
          </a:prstGeom>
          <a:solidFill>
            <a:schemeClr val="bg1"/>
          </a:solidFill>
          <a:ln>
            <a:solidFill>
              <a:schemeClr val="bg1"/>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14" name="Text 10"/>
          <p:cNvSpPr txBox="1"/>
          <p:nvPr/>
        </p:nvSpPr>
        <p:spPr>
          <a:xfrm>
            <a:off x="4510735" y="3017520"/>
            <a:ext cx="3154680" cy="960120"/>
          </a:xfrm>
          <a:prstGeom prst="rect">
            <a:avLst/>
          </a:prstGeom>
          <a:noFill/>
          <a:ln/>
        </p:spPr>
        <p:txBody>
          <a:bodyPr wrap="square" lIns="50800" tIns="50800" rIns="50800" bIns="50800" rtlCol="0" anchor="t"/>
          <a:lstStyle/>
          <a:p>
            <a:pPr rtl="1" algn="r" indent="0" marL="0">
              <a:buNone/>
            </a:pPr>
            <a:r>
              <a:rPr lang="he-IL" altLang="en-US" sz="1500" dirty="0">
                <a:solidFill>
                  <a:schemeClr val="tx1"/>
                </a:solidFill>
                <a:latin typeface="Arial" pitchFamily="34" charset="0"/>
                <a:ea typeface="Arial" pitchFamily="34" charset="-122"/>
                <a:cs typeface="Arial" pitchFamily="34" charset="-120"/>
              </a:rPr>
              <a:t>להסביר את הפער בין המלצה לפרט לבין שינוי בסביבה או במערכת</a:t>
            </a:r>
            <a:endParaRPr lang="he-IL" sz="1500" dirty="0"/>
          </a:p>
        </p:txBody>
      </p:sp>
      <p:sp>
        <p:nvSpPr>
          <p:cNvPr id="15" name="Shape 11"/>
          <p:cNvSpPr/>
          <p:nvPr/>
        </p:nvSpPr>
        <p:spPr>
          <a:xfrm>
            <a:off x="533095" y="2057400"/>
            <a:ext cx="3520440" cy="2011680"/>
          </a:xfrm>
          <a:prstGeom prst="roundRect">
            <a:avLst>
              <a:gd name="adj" fmla="val 5455"/>
            </a:avLst>
          </a:prstGeom>
          <a:solidFill>
            <a:schemeClr val="bg2"/>
          </a:solidFill>
          <a:ln w="12700">
            <a:solidFill>
              <a:schemeClr val="bg2"/>
            </a:solidFill>
            <a:prstDash val="solid"/>
          </a:ln>
        </p:spPr>
      </p:sp>
      <p:sp>
        <p:nvSpPr>
          <p:cNvPr id="16" name="Shape 12"/>
          <p:cNvSpPr/>
          <p:nvPr/>
        </p:nvSpPr>
        <p:spPr>
          <a:xfrm>
            <a:off x="3184855" y="2286000"/>
            <a:ext cx="640080" cy="640080"/>
          </a:xfrm>
          <a:prstGeom prst="ellipse">
            <a:avLst/>
          </a:prstGeom>
          <a:solidFill>
            <a:schemeClr val="accent3"/>
          </a:solidFill>
          <a:ln w="12700">
            <a:solidFill>
              <a:schemeClr val="accent3"/>
            </a:solidFill>
            <a:prstDash val="solid"/>
          </a:ln>
        </p:spPr>
      </p:sp>
      <p:pic>
        <p:nvPicPr>
          <p:cNvPr id="17" name="Image 2" descr="preencoded.png">    </p:cNvPr>
          <p:cNvPicPr>
            <a:picLocks noChangeAspect="1"/>
          </p:cNvPicPr>
          <p:nvPr/>
        </p:nvPicPr>
        <p:blipFill>
          <a:blip r:embed="rId3"/>
          <a:stretch>
            <a:fillRect/>
          </a:stretch>
        </p:blipFill>
        <p:spPr>
          <a:xfrm>
            <a:off x="3351276" y="2452421"/>
            <a:ext cx="307238" cy="307238"/>
          </a:xfrm>
          <a:prstGeom prst="rect">
            <a:avLst/>
          </a:prstGeom>
        </p:spPr>
      </p:pic>
      <p:sp>
        <p:nvSpPr>
          <p:cNvPr id="18" name="Text 13"/>
          <p:cNvSpPr/>
          <p:nvPr/>
        </p:nvSpPr>
        <p:spPr>
          <a:xfrm>
            <a:off x="761695" y="2404872"/>
            <a:ext cx="411480" cy="411480"/>
          </a:xfrm>
          <a:prstGeom prst="ellipse">
            <a:avLst/>
          </a:prstGeom>
          <a:solidFill>
            <a:schemeClr val="bg1"/>
          </a:solidFill>
          <a:ln>
            <a:solidFill>
              <a:schemeClr val="bg1"/>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19" name="Text 14"/>
          <p:cNvSpPr txBox="1"/>
          <p:nvPr/>
        </p:nvSpPr>
        <p:spPr>
          <a:xfrm>
            <a:off x="715975" y="3017520"/>
            <a:ext cx="3154680" cy="960120"/>
          </a:xfrm>
          <a:prstGeom prst="rect">
            <a:avLst/>
          </a:prstGeom>
          <a:noFill/>
          <a:ln/>
        </p:spPr>
        <p:txBody>
          <a:bodyPr wrap="square" lIns="50800" tIns="50800" rIns="50800" bIns="50800" rtlCol="0" anchor="t"/>
          <a:lstStyle/>
          <a:p>
            <a:pPr rtl="1" algn="r" indent="0" marL="0">
              <a:buNone/>
            </a:pPr>
            <a:r>
              <a:rPr lang="he-IL" altLang="en-US" sz="1500" dirty="0">
                <a:solidFill>
                  <a:schemeClr val="tx1"/>
                </a:solidFill>
                <a:latin typeface="Arial" pitchFamily="34" charset="0"/>
                <a:ea typeface="Arial" pitchFamily="34" charset="-122"/>
                <a:cs typeface="Arial" pitchFamily="34" charset="-120"/>
              </a:rPr>
              <a:t>להכיר מושגי יסוד: בריאות הציבור, אבחון קהילתי וקידום בריאות על פי אמנת אוטווה</a:t>
            </a:r>
            <a:endParaRPr lang="he-IL" sz="1500" dirty="0"/>
          </a:p>
        </p:txBody>
      </p:sp>
      <p:sp>
        <p:nvSpPr>
          <p:cNvPr id="20" name="Shape 15"/>
          <p:cNvSpPr/>
          <p:nvPr/>
        </p:nvSpPr>
        <p:spPr>
          <a:xfrm>
            <a:off x="8122615" y="4343400"/>
            <a:ext cx="3520440" cy="2011680"/>
          </a:xfrm>
          <a:prstGeom prst="roundRect">
            <a:avLst>
              <a:gd name="adj" fmla="val 5455"/>
            </a:avLst>
          </a:prstGeom>
          <a:solidFill>
            <a:schemeClr val="bg2"/>
          </a:solidFill>
          <a:ln w="12700">
            <a:solidFill>
              <a:schemeClr val="bg2"/>
            </a:solidFill>
            <a:prstDash val="solid"/>
          </a:ln>
        </p:spPr>
      </p:sp>
      <p:sp>
        <p:nvSpPr>
          <p:cNvPr id="21" name="Shape 16"/>
          <p:cNvSpPr/>
          <p:nvPr/>
        </p:nvSpPr>
        <p:spPr>
          <a:xfrm>
            <a:off x="10774375" y="4572000"/>
            <a:ext cx="640080" cy="640080"/>
          </a:xfrm>
          <a:prstGeom prst="ellipse">
            <a:avLst/>
          </a:prstGeom>
          <a:solidFill>
            <a:schemeClr val="accent4"/>
          </a:solidFill>
          <a:ln w="12700">
            <a:solidFill>
              <a:schemeClr val="accent4"/>
            </a:solidFill>
            <a:prstDash val="solid"/>
          </a:ln>
        </p:spPr>
      </p:sp>
      <p:pic>
        <p:nvPicPr>
          <p:cNvPr id="22" name="Image 3" descr="preencoded.png">    </p:cNvPr>
          <p:cNvPicPr>
            <a:picLocks noChangeAspect="1"/>
          </p:cNvPicPr>
          <p:nvPr/>
        </p:nvPicPr>
        <p:blipFill>
          <a:blip r:embed="rId4"/>
          <a:stretch>
            <a:fillRect/>
          </a:stretch>
        </p:blipFill>
        <p:spPr>
          <a:xfrm>
            <a:off x="10940796" y="4738421"/>
            <a:ext cx="307238" cy="307238"/>
          </a:xfrm>
          <a:prstGeom prst="rect">
            <a:avLst/>
          </a:prstGeom>
        </p:spPr>
      </p:pic>
      <p:sp>
        <p:nvSpPr>
          <p:cNvPr id="23" name="Text 17"/>
          <p:cNvSpPr/>
          <p:nvPr/>
        </p:nvSpPr>
        <p:spPr>
          <a:xfrm>
            <a:off x="8351215" y="4690872"/>
            <a:ext cx="411480" cy="411480"/>
          </a:xfrm>
          <a:prstGeom prst="ellipse">
            <a:avLst/>
          </a:prstGeom>
          <a:solidFill>
            <a:schemeClr val="bg1"/>
          </a:solidFill>
          <a:ln>
            <a:solidFill>
              <a:schemeClr val="bg1"/>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24" name="Text 18"/>
          <p:cNvSpPr txBox="1"/>
          <p:nvPr/>
        </p:nvSpPr>
        <p:spPr>
          <a:xfrm>
            <a:off x="8305495" y="5303520"/>
            <a:ext cx="3154680" cy="960120"/>
          </a:xfrm>
          <a:prstGeom prst="rect">
            <a:avLst/>
          </a:prstGeom>
          <a:noFill/>
          <a:ln/>
        </p:spPr>
        <p:txBody>
          <a:bodyPr wrap="square" lIns="50800" tIns="50800" rIns="50800" bIns="50800" rtlCol="0" anchor="t"/>
          <a:lstStyle/>
          <a:p>
            <a:pPr rtl="1" algn="r" indent="0" marL="0">
              <a:buNone/>
            </a:pPr>
            <a:r>
              <a:rPr lang="he-IL" altLang="en-US" sz="1500" dirty="0">
                <a:solidFill>
                  <a:schemeClr val="tx1"/>
                </a:solidFill>
                <a:latin typeface="Arial" pitchFamily="34" charset="0"/>
                <a:ea typeface="Arial" pitchFamily="34" charset="-122"/>
                <a:cs typeface="Arial" pitchFamily="34" charset="-120"/>
              </a:rPr>
              <a:t>לזהות את תפקידי התזונאית בבריאות הציבור, את המסגרות שבהן היא פועלת ואת השותפים לעבודתה</a:t>
            </a:r>
            <a:endParaRPr lang="he-IL" sz="1500" dirty="0"/>
          </a:p>
        </p:txBody>
      </p:sp>
      <p:sp>
        <p:nvSpPr>
          <p:cNvPr id="25" name="Shape 19"/>
          <p:cNvSpPr/>
          <p:nvPr/>
        </p:nvSpPr>
        <p:spPr>
          <a:xfrm>
            <a:off x="4327855" y="4343400"/>
            <a:ext cx="3520440" cy="2011680"/>
          </a:xfrm>
          <a:prstGeom prst="roundRect">
            <a:avLst>
              <a:gd name="adj" fmla="val 5455"/>
            </a:avLst>
          </a:prstGeom>
          <a:solidFill>
            <a:schemeClr val="bg2"/>
          </a:solidFill>
          <a:ln w="12700">
            <a:solidFill>
              <a:schemeClr val="bg2"/>
            </a:solidFill>
            <a:prstDash val="solid"/>
          </a:ln>
        </p:spPr>
      </p:sp>
      <p:sp>
        <p:nvSpPr>
          <p:cNvPr id="26" name="Shape 20"/>
          <p:cNvSpPr/>
          <p:nvPr/>
        </p:nvSpPr>
        <p:spPr>
          <a:xfrm>
            <a:off x="6979615" y="4572000"/>
            <a:ext cx="640080" cy="640080"/>
          </a:xfrm>
          <a:prstGeom prst="ellipse">
            <a:avLst/>
          </a:prstGeom>
          <a:solidFill>
            <a:schemeClr val="accent6"/>
          </a:solidFill>
          <a:ln w="12700">
            <a:solidFill>
              <a:schemeClr val="accent6"/>
            </a:solidFill>
            <a:prstDash val="solid"/>
          </a:ln>
        </p:spPr>
      </p:sp>
      <p:pic>
        <p:nvPicPr>
          <p:cNvPr id="27" name="Image 4" descr="preencoded.png">    </p:cNvPr>
          <p:cNvPicPr>
            <a:picLocks noChangeAspect="1"/>
          </p:cNvPicPr>
          <p:nvPr/>
        </p:nvPicPr>
        <p:blipFill>
          <a:blip r:embed="rId5"/>
          <a:stretch>
            <a:fillRect/>
          </a:stretch>
        </p:blipFill>
        <p:spPr>
          <a:xfrm>
            <a:off x="7146036" y="4738421"/>
            <a:ext cx="307238" cy="307238"/>
          </a:xfrm>
          <a:prstGeom prst="rect">
            <a:avLst/>
          </a:prstGeom>
        </p:spPr>
      </p:pic>
      <p:sp>
        <p:nvSpPr>
          <p:cNvPr id="28" name="Text 21"/>
          <p:cNvSpPr/>
          <p:nvPr/>
        </p:nvSpPr>
        <p:spPr>
          <a:xfrm>
            <a:off x="4556455" y="4690872"/>
            <a:ext cx="411480" cy="411480"/>
          </a:xfrm>
          <a:prstGeom prst="ellipse">
            <a:avLst/>
          </a:prstGeom>
          <a:solidFill>
            <a:schemeClr val="bg1"/>
          </a:solidFill>
          <a:ln>
            <a:solidFill>
              <a:schemeClr val="bg1"/>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29" name="Text 22"/>
          <p:cNvSpPr txBox="1"/>
          <p:nvPr/>
        </p:nvSpPr>
        <p:spPr>
          <a:xfrm>
            <a:off x="4510735" y="5303520"/>
            <a:ext cx="3154680" cy="960120"/>
          </a:xfrm>
          <a:prstGeom prst="rect">
            <a:avLst/>
          </a:prstGeom>
          <a:noFill/>
          <a:ln/>
        </p:spPr>
        <p:txBody>
          <a:bodyPr wrap="square" lIns="50800" tIns="50800" rIns="50800" bIns="50800" rtlCol="0" anchor="t"/>
          <a:lstStyle/>
          <a:p>
            <a:pPr rtl="1" algn="r" indent="0" marL="0">
              <a:buNone/>
            </a:pPr>
            <a:r>
              <a:rPr lang="he-IL" altLang="en-US" sz="1500" dirty="0">
                <a:solidFill>
                  <a:schemeClr val="tx1"/>
                </a:solidFill>
                <a:latin typeface="Arial" pitchFamily="34" charset="0"/>
                <a:ea typeface="Arial" pitchFamily="34" charset="-122"/>
                <a:cs typeface="Arial" pitchFamily="34" charset="-120"/>
              </a:rPr>
              <a:t>להכיר את שדות ההתנסות, את דרישות הקורס ואת שלבי הפרויקט</a:t>
            </a:r>
            <a:endParaRPr lang="he-IL" sz="1500" dirty="0"/>
          </a:p>
        </p:txBody>
      </p:sp>
      <p:sp>
        <p:nvSpPr>
          <p:cNvPr id="30" name="Shape 23"/>
          <p:cNvSpPr/>
          <p:nvPr/>
        </p:nvSpPr>
        <p:spPr>
          <a:xfrm>
            <a:off x="533095" y="4343400"/>
            <a:ext cx="3520440" cy="2011680"/>
          </a:xfrm>
          <a:prstGeom prst="roundRect">
            <a:avLst>
              <a:gd name="adj" fmla="val 5455"/>
            </a:avLst>
          </a:prstGeom>
          <a:solidFill>
            <a:schemeClr val="bg2"/>
          </a:solidFill>
          <a:ln w="12700">
            <a:solidFill>
              <a:schemeClr val="bg2"/>
            </a:solidFill>
            <a:prstDash val="solid"/>
          </a:ln>
        </p:spPr>
      </p:sp>
      <p:sp>
        <p:nvSpPr>
          <p:cNvPr id="31" name="Shape 24"/>
          <p:cNvSpPr/>
          <p:nvPr/>
        </p:nvSpPr>
        <p:spPr>
          <a:xfrm>
            <a:off x="3184855" y="4572000"/>
            <a:ext cx="640080" cy="640080"/>
          </a:xfrm>
          <a:prstGeom prst="ellipse">
            <a:avLst/>
          </a:prstGeom>
          <a:solidFill>
            <a:schemeClr val="accent5"/>
          </a:solidFill>
          <a:ln w="12700">
            <a:solidFill>
              <a:schemeClr val="accent5"/>
            </a:solidFill>
            <a:prstDash val="solid"/>
          </a:ln>
        </p:spPr>
      </p:sp>
      <p:pic>
        <p:nvPicPr>
          <p:cNvPr id="32" name="Image 5" descr="preencoded.png">    </p:cNvPr>
          <p:cNvPicPr>
            <a:picLocks noChangeAspect="1"/>
          </p:cNvPicPr>
          <p:nvPr/>
        </p:nvPicPr>
        <p:blipFill>
          <a:blip r:embed="rId6"/>
          <a:stretch>
            <a:fillRect/>
          </a:stretch>
        </p:blipFill>
        <p:spPr>
          <a:xfrm>
            <a:off x="3351276" y="4738421"/>
            <a:ext cx="307238" cy="307238"/>
          </a:xfrm>
          <a:prstGeom prst="rect">
            <a:avLst/>
          </a:prstGeom>
        </p:spPr>
      </p:pic>
      <p:sp>
        <p:nvSpPr>
          <p:cNvPr id="33" name="Text 25"/>
          <p:cNvSpPr/>
          <p:nvPr/>
        </p:nvSpPr>
        <p:spPr>
          <a:xfrm>
            <a:off x="761695" y="4690872"/>
            <a:ext cx="411480" cy="411480"/>
          </a:xfrm>
          <a:prstGeom prst="ellipse">
            <a:avLst/>
          </a:prstGeom>
          <a:solidFill>
            <a:schemeClr val="bg1"/>
          </a:solidFill>
          <a:ln>
            <a:solidFill>
              <a:schemeClr val="bg1"/>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6</a:t>
            </a:r>
            <a:endParaRPr lang="en-US" sz="1400" dirty="0"/>
          </a:p>
        </p:txBody>
      </p:sp>
      <p:sp>
        <p:nvSpPr>
          <p:cNvPr id="34" name="Text 26"/>
          <p:cNvSpPr txBox="1"/>
          <p:nvPr/>
        </p:nvSpPr>
        <p:spPr>
          <a:xfrm>
            <a:off x="715975" y="5303520"/>
            <a:ext cx="3154680" cy="960120"/>
          </a:xfrm>
          <a:prstGeom prst="rect">
            <a:avLst/>
          </a:prstGeom>
          <a:noFill/>
          <a:ln/>
        </p:spPr>
        <p:txBody>
          <a:bodyPr wrap="square" lIns="50800" tIns="50800" rIns="50800" bIns="50800" rtlCol="0" anchor="t"/>
          <a:lstStyle/>
          <a:p>
            <a:pPr rtl="1" algn="r" indent="0" marL="0">
              <a:buNone/>
            </a:pPr>
            <a:r>
              <a:rPr lang="he-IL" altLang="en-US" sz="1500" dirty="0">
                <a:solidFill>
                  <a:schemeClr val="tx1"/>
                </a:solidFill>
                <a:latin typeface="Arial" pitchFamily="34" charset="0"/>
                <a:ea typeface="Arial" pitchFamily="34" charset="-122"/>
                <a:cs typeface="Arial" pitchFamily="34" charset="-120"/>
              </a:rPr>
              <a:t>להציג בצוות, במשפטים קצרים, את שדה ההתנסות, אוכלוסיית היעד והבעיה המשוערת</a:t>
            </a:r>
            <a:endParaRPr lang="he-IL" sz="15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7863840" y="914400"/>
            <a:ext cx="5303520" cy="5303520"/>
          </a:xfrm>
          <a:prstGeom prst="ellipse">
            <a:avLst/>
          </a:prstGeom>
          <a:solidFill>
            <a:schemeClr val="accent1">
              <a:alpha val="18000"/>
            </a:schemeClr>
          </a:solidFill>
          <a:ln/>
        </p:spPr>
      </p:sp>
      <p:sp>
        <p:nvSpPr>
          <p:cNvPr id="3" name="Shape 1"/>
          <p:cNvSpPr/>
          <p:nvPr/>
        </p:nvSpPr>
        <p:spPr>
          <a:xfrm>
            <a:off x="9692640" y="3840480"/>
            <a:ext cx="3108960" cy="3108960"/>
          </a:xfrm>
          <a:prstGeom prst="ellipse">
            <a:avLst/>
          </a:prstGeom>
          <a:solidFill>
            <a:schemeClr val="accent2">
              <a:alpha val="25000"/>
            </a:schemeClr>
          </a:solidFill>
          <a:ln/>
        </p:spPr>
      </p:sp>
      <p:pic>
        <p:nvPicPr>
          <p:cNvPr id="4" name="Image 0" descr="איור צלחת וסכו&quot;ם">    </p:cNvPr>
          <p:cNvPicPr>
            <a:picLocks noChangeAspect="1"/>
          </p:cNvPicPr>
          <p:nvPr/>
        </p:nvPicPr>
        <p:blipFill>
          <a:blip r:embed="rId1"/>
          <a:stretch>
            <a:fillRect/>
          </a:stretch>
        </p:blipFill>
        <p:spPr>
          <a:xfrm>
            <a:off x="9006840" y="2240280"/>
            <a:ext cx="2651760" cy="2651760"/>
          </a:xfrm>
          <a:prstGeom prst="rect">
            <a:avLst/>
          </a:prstGeom>
        </p:spPr>
      </p:pic>
      <p:sp>
        <p:nvSpPr>
          <p:cNvPr id="5" name="Text 2"/>
          <p:cNvSpPr txBox="1"/>
          <p:nvPr/>
        </p:nvSpPr>
        <p:spPr>
          <a:xfrm>
            <a:off x="1097280" y="1828800"/>
            <a:ext cx="6949440" cy="1097280"/>
          </a:xfrm>
          <a:prstGeom prst="rect">
            <a:avLst/>
          </a:prstGeom>
          <a:noFill/>
          <a:ln/>
        </p:spPr>
        <p:txBody>
          <a:bodyPr wrap="square" lIns="50800" tIns="50800" rIns="50800" bIns="50800" rtlCol="0" anchor="b"/>
          <a:lstStyle/>
          <a:p>
            <a:pPr rtl="1" algn="r" indent="0" marL="0">
              <a:buNone/>
            </a:pPr>
            <a:r>
              <a:rPr lang="he-IL" altLang="en-US" sz="4800" b="1" dirty="0">
                <a:solidFill>
                  <a:schemeClr val="tx2"/>
                </a:solidFill>
                <a:latin typeface="Arial" pitchFamily="34" charset="0"/>
                <a:ea typeface="Arial" pitchFamily="34" charset="-122"/>
                <a:cs typeface="Arial" pitchFamily="34" charset="-120"/>
              </a:rPr>
              <a:t>תזונה בבריאות הציבור</a:t>
            </a:r>
            <a:endParaRPr lang="he-IL" sz="4800" dirty="0"/>
          </a:p>
        </p:txBody>
      </p:sp>
      <p:sp>
        <p:nvSpPr>
          <p:cNvPr id="6" name="Text 3"/>
          <p:cNvSpPr txBox="1"/>
          <p:nvPr/>
        </p:nvSpPr>
        <p:spPr>
          <a:xfrm>
            <a:off x="1097280" y="3154680"/>
            <a:ext cx="6949440" cy="1280160"/>
          </a:xfrm>
          <a:prstGeom prst="rect">
            <a:avLst/>
          </a:prstGeom>
          <a:noFill/>
          <a:ln/>
        </p:spPr>
        <p:txBody>
          <a:bodyPr wrap="square" lIns="50800" tIns="50800" rIns="50800" bIns="50800" rtlCol="0" anchor="t"/>
          <a:lstStyle/>
          <a:p>
            <a:pPr rtl="1" algn="r" indent="0" marL="0">
              <a:spcAft>
                <a:spcPts val="400"/>
              </a:spcAft>
              <a:buNone/>
            </a:pPr>
            <a:r>
              <a:rPr lang="he-IL" altLang="en-US" sz="2000" dirty="0">
                <a:solidFill>
                  <a:schemeClr val="tx1"/>
                </a:solidFill>
                <a:latin typeface="Arial" pitchFamily="34" charset="0"/>
                <a:ea typeface="Arial" pitchFamily="34" charset="-122"/>
                <a:cs typeface="Arial" pitchFamily="34" charset="-120"/>
              </a:rPr>
              <a:t>הכשרת מנחות הכשרה מקצועית בבריאות הציבור</a:t>
            </a:r>
            <a:endParaRPr lang="he-IL" sz="2000" dirty="0"/>
          </a:p>
          <a:p>
            <a:pPr rtl="1" algn="r" indent="0" marL="0">
              <a:spcAft>
                <a:spcPts val="400"/>
              </a:spcAft>
              <a:buNone/>
            </a:pPr>
            <a:r>
              <a:rPr lang="he-IL" altLang="en-US" sz="2000" dirty="0">
                <a:solidFill>
                  <a:schemeClr val="tx1"/>
                </a:solidFill>
                <a:latin typeface="Arial" pitchFamily="34" charset="0"/>
                <a:ea typeface="Arial" pitchFamily="34" charset="-122"/>
                <a:cs typeface="Arial" pitchFamily="34" charset="-120"/>
              </a:rPr>
              <a:t>האגף לתזונה והתזונאיות המחוזיות - משרד הבריאות</a:t>
            </a:r>
            <a:endParaRPr lang="he-IL" sz="2000" dirty="0"/>
          </a:p>
          <a:p>
            <a:pPr rtl="1" algn="r" indent="0" marL="0">
              <a:spcAft>
                <a:spcPts val="400"/>
              </a:spcAft>
              <a:buNone/>
            </a:pPr>
            <a:r>
              <a:rPr lang="he-IL" altLang="en-US" sz="2000" dirty="0">
                <a:solidFill>
                  <a:schemeClr val="tx1"/>
                </a:solidFill>
                <a:latin typeface="Arial" pitchFamily="34" charset="0"/>
                <a:ea typeface="Arial" pitchFamily="34" charset="-122"/>
                <a:cs typeface="Arial" pitchFamily="34" charset="-120"/>
              </a:rPr>
              <a:t>יולי 2026</a:t>
            </a:r>
            <a:endParaRPr lang="he-IL" sz="2000" dirty="0"/>
          </a:p>
        </p:txBody>
      </p:sp>
      <p:pic>
        <p:nvPicPr>
          <p:cNvPr id="7" name="Image 1" descr="לוגו משרד הבריאות">    </p:cNvPr>
          <p:cNvPicPr>
            <a:picLocks noChangeAspect="1"/>
          </p:cNvPicPr>
          <p:nvPr/>
        </p:nvPicPr>
        <p:blipFill>
          <a:blip r:embed="rId2"/>
          <a:stretch>
            <a:fillRect/>
          </a:stretch>
        </p:blipFill>
        <p:spPr>
          <a:xfrm>
            <a:off x="6035040" y="4892040"/>
            <a:ext cx="2011680" cy="934560"/>
          </a:xfrm>
          <a:prstGeom prst="rect">
            <a:avLst/>
          </a:prstGeom>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סדר יום:</a:t>
            </a:r>
            <a:endParaRPr lang="he-IL" sz="3000" dirty="0"/>
          </a:p>
        </p:txBody>
      </p:sp>
      <p:sp>
        <p:nvSpPr>
          <p:cNvPr id="3" name="Shape 1"/>
          <p:cNvSpPr/>
          <p:nvPr/>
        </p:nvSpPr>
        <p:spPr>
          <a:xfrm>
            <a:off x="2926080" y="1508760"/>
            <a:ext cx="8714232" cy="777240"/>
          </a:xfrm>
          <a:prstGeom prst="roundRect">
            <a:avLst>
              <a:gd name="adj" fmla="val 14118"/>
            </a:avLst>
          </a:prstGeom>
          <a:solidFill>
            <a:schemeClr val="bg2"/>
          </a:solidFill>
          <a:ln w="12700">
            <a:solidFill>
              <a:schemeClr val="bg2"/>
            </a:solidFill>
            <a:prstDash val="solid"/>
          </a:ln>
        </p:spPr>
      </p:sp>
      <p:sp>
        <p:nvSpPr>
          <p:cNvPr id="4" name="Text 2"/>
          <p:cNvSpPr/>
          <p:nvPr/>
        </p:nvSpPr>
        <p:spPr>
          <a:xfrm>
            <a:off x="10927080" y="1636776"/>
            <a:ext cx="521208" cy="521208"/>
          </a:xfrm>
          <a:prstGeom prst="ellipse">
            <a:avLst/>
          </a:prstGeom>
          <a:solidFill>
            <a:schemeClr val="accent1"/>
          </a:solidFill>
          <a:ln>
            <a:solidFill>
              <a:schemeClr val="accent1"/>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3931920" y="1508760"/>
            <a:ext cx="6858000" cy="77724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טיפול קליני מול בריאות הציבור – מצאו את ההבדלים</a:t>
            </a:r>
            <a:endParaRPr lang="he-IL" sz="2200" dirty="0"/>
          </a:p>
        </p:txBody>
      </p:sp>
      <p:sp>
        <p:nvSpPr>
          <p:cNvPr id="6" name="Shape 4"/>
          <p:cNvSpPr/>
          <p:nvPr/>
        </p:nvSpPr>
        <p:spPr>
          <a:xfrm>
            <a:off x="3127248" y="1636776"/>
            <a:ext cx="521208" cy="521208"/>
          </a:xfrm>
          <a:prstGeom prst="ellipse">
            <a:avLst/>
          </a:prstGeom>
          <a:solidFill>
            <a:schemeClr val="bg1"/>
          </a:solidFill>
          <a:ln w="1905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3262762" y="1772290"/>
            <a:ext cx="250180" cy="250180"/>
          </a:xfrm>
          <a:prstGeom prst="rect">
            <a:avLst/>
          </a:prstGeom>
        </p:spPr>
      </p:pic>
      <p:sp>
        <p:nvSpPr>
          <p:cNvPr id="8" name="Shape 5"/>
          <p:cNvSpPr/>
          <p:nvPr/>
        </p:nvSpPr>
        <p:spPr>
          <a:xfrm>
            <a:off x="2926080" y="2450592"/>
            <a:ext cx="8714232" cy="777240"/>
          </a:xfrm>
          <a:prstGeom prst="roundRect">
            <a:avLst>
              <a:gd name="adj" fmla="val 14118"/>
            </a:avLst>
          </a:prstGeom>
          <a:solidFill>
            <a:schemeClr val="bg1"/>
          </a:solidFill>
          <a:ln w="12700">
            <a:solidFill>
              <a:schemeClr val="bg2"/>
            </a:solidFill>
            <a:prstDash val="solid"/>
          </a:ln>
        </p:spPr>
      </p:sp>
      <p:sp>
        <p:nvSpPr>
          <p:cNvPr id="9" name="Text 6"/>
          <p:cNvSpPr/>
          <p:nvPr/>
        </p:nvSpPr>
        <p:spPr>
          <a:xfrm>
            <a:off x="10927080" y="2578608"/>
            <a:ext cx="521208" cy="521208"/>
          </a:xfrm>
          <a:prstGeom prst="ellipse">
            <a:avLst/>
          </a:prstGeom>
          <a:solidFill>
            <a:schemeClr val="accent2"/>
          </a:solidFill>
          <a:ln>
            <a:solidFill>
              <a:schemeClr val="accent2"/>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10" name="Text 7"/>
          <p:cNvSpPr txBox="1"/>
          <p:nvPr/>
        </p:nvSpPr>
        <p:spPr>
          <a:xfrm>
            <a:off x="3931920" y="2450592"/>
            <a:ext cx="6858000" cy="77724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אבחון קהילתי על קצה המזלג</a:t>
            </a:r>
            <a:endParaRPr lang="he-IL" sz="2200" dirty="0"/>
          </a:p>
        </p:txBody>
      </p:sp>
      <p:sp>
        <p:nvSpPr>
          <p:cNvPr id="11" name="Shape 8"/>
          <p:cNvSpPr/>
          <p:nvPr/>
        </p:nvSpPr>
        <p:spPr>
          <a:xfrm>
            <a:off x="3127248" y="2578608"/>
            <a:ext cx="521208" cy="521208"/>
          </a:xfrm>
          <a:prstGeom prst="ellipse">
            <a:avLst/>
          </a:prstGeom>
          <a:solidFill>
            <a:schemeClr val="bg1"/>
          </a:solidFill>
          <a:ln w="19050">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3262762" y="2714122"/>
            <a:ext cx="250180" cy="250180"/>
          </a:xfrm>
          <a:prstGeom prst="rect">
            <a:avLst/>
          </a:prstGeom>
        </p:spPr>
      </p:pic>
      <p:sp>
        <p:nvSpPr>
          <p:cNvPr id="13" name="Shape 9"/>
          <p:cNvSpPr/>
          <p:nvPr/>
        </p:nvSpPr>
        <p:spPr>
          <a:xfrm>
            <a:off x="2926080" y="3392424"/>
            <a:ext cx="8714232" cy="777240"/>
          </a:xfrm>
          <a:prstGeom prst="roundRect">
            <a:avLst>
              <a:gd name="adj" fmla="val 14118"/>
            </a:avLst>
          </a:prstGeom>
          <a:solidFill>
            <a:schemeClr val="bg2"/>
          </a:solidFill>
          <a:ln w="12700">
            <a:solidFill>
              <a:schemeClr val="bg2"/>
            </a:solidFill>
            <a:prstDash val="solid"/>
          </a:ln>
        </p:spPr>
      </p:sp>
      <p:sp>
        <p:nvSpPr>
          <p:cNvPr id="14" name="Text 10"/>
          <p:cNvSpPr/>
          <p:nvPr/>
        </p:nvSpPr>
        <p:spPr>
          <a:xfrm>
            <a:off x="10927080" y="3520440"/>
            <a:ext cx="521208" cy="521208"/>
          </a:xfrm>
          <a:prstGeom prst="ellipse">
            <a:avLst/>
          </a:prstGeom>
          <a:solidFill>
            <a:schemeClr val="accent3"/>
          </a:solidFill>
          <a:ln>
            <a:solidFill>
              <a:schemeClr val="accent3"/>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15" name="Text 11"/>
          <p:cNvSpPr txBox="1"/>
          <p:nvPr/>
        </p:nvSpPr>
        <p:spPr>
          <a:xfrm>
            <a:off x="3931920" y="3392424"/>
            <a:ext cx="6858000" cy="77724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קידום בריאות, מתאוריה למעשה</a:t>
            </a:r>
            <a:endParaRPr lang="he-IL" sz="2200" dirty="0"/>
          </a:p>
        </p:txBody>
      </p:sp>
      <p:sp>
        <p:nvSpPr>
          <p:cNvPr id="16" name="Shape 12"/>
          <p:cNvSpPr/>
          <p:nvPr/>
        </p:nvSpPr>
        <p:spPr>
          <a:xfrm>
            <a:off x="3127248" y="3520440"/>
            <a:ext cx="521208" cy="521208"/>
          </a:xfrm>
          <a:prstGeom prst="ellipse">
            <a:avLst/>
          </a:prstGeom>
          <a:solidFill>
            <a:schemeClr val="bg1"/>
          </a:solidFill>
          <a:ln w="19050">
            <a:solidFill>
              <a:schemeClr val="accent3"/>
            </a:solidFill>
            <a:prstDash val="solid"/>
          </a:ln>
        </p:spPr>
      </p:sp>
      <p:pic>
        <p:nvPicPr>
          <p:cNvPr id="17" name="Image 2" descr="preencoded.png">    </p:cNvPr>
          <p:cNvPicPr>
            <a:picLocks noChangeAspect="1"/>
          </p:cNvPicPr>
          <p:nvPr/>
        </p:nvPicPr>
        <p:blipFill>
          <a:blip r:embed="rId3"/>
          <a:stretch>
            <a:fillRect/>
          </a:stretch>
        </p:blipFill>
        <p:spPr>
          <a:xfrm>
            <a:off x="3262762" y="3655954"/>
            <a:ext cx="250180" cy="250180"/>
          </a:xfrm>
          <a:prstGeom prst="rect">
            <a:avLst/>
          </a:prstGeom>
        </p:spPr>
      </p:pic>
      <p:sp>
        <p:nvSpPr>
          <p:cNvPr id="18" name="Shape 13"/>
          <p:cNvSpPr/>
          <p:nvPr/>
        </p:nvSpPr>
        <p:spPr>
          <a:xfrm>
            <a:off x="2926080" y="4334256"/>
            <a:ext cx="8714232" cy="777240"/>
          </a:xfrm>
          <a:prstGeom prst="roundRect">
            <a:avLst>
              <a:gd name="adj" fmla="val 14118"/>
            </a:avLst>
          </a:prstGeom>
          <a:solidFill>
            <a:schemeClr val="bg1"/>
          </a:solidFill>
          <a:ln w="12700">
            <a:solidFill>
              <a:schemeClr val="bg2"/>
            </a:solidFill>
            <a:prstDash val="solid"/>
          </a:ln>
        </p:spPr>
      </p:sp>
      <p:sp>
        <p:nvSpPr>
          <p:cNvPr id="19" name="Text 14"/>
          <p:cNvSpPr/>
          <p:nvPr/>
        </p:nvSpPr>
        <p:spPr>
          <a:xfrm>
            <a:off x="10927080" y="4462272"/>
            <a:ext cx="521208" cy="521208"/>
          </a:xfrm>
          <a:prstGeom prst="ellipse">
            <a:avLst/>
          </a:prstGeom>
          <a:solidFill>
            <a:schemeClr val="accent4"/>
          </a:solidFill>
          <a:ln>
            <a:solidFill>
              <a:schemeClr val="accent4"/>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4</a:t>
            </a:r>
            <a:endParaRPr lang="en-US" sz="1800" dirty="0"/>
          </a:p>
        </p:txBody>
      </p:sp>
      <p:sp>
        <p:nvSpPr>
          <p:cNvPr id="20" name="Text 15"/>
          <p:cNvSpPr txBox="1"/>
          <p:nvPr/>
        </p:nvSpPr>
        <p:spPr>
          <a:xfrm>
            <a:off x="3931920" y="4334256"/>
            <a:ext cx="6858000" cy="77724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תזונה בבריאות הציבור, מה זה אומר?</a:t>
            </a:r>
            <a:endParaRPr lang="he-IL" sz="2200" dirty="0"/>
          </a:p>
        </p:txBody>
      </p:sp>
      <p:sp>
        <p:nvSpPr>
          <p:cNvPr id="21" name="Shape 16"/>
          <p:cNvSpPr/>
          <p:nvPr/>
        </p:nvSpPr>
        <p:spPr>
          <a:xfrm>
            <a:off x="3127248" y="4462272"/>
            <a:ext cx="521208" cy="521208"/>
          </a:xfrm>
          <a:prstGeom prst="ellipse">
            <a:avLst/>
          </a:prstGeom>
          <a:solidFill>
            <a:schemeClr val="bg1"/>
          </a:solidFill>
          <a:ln w="19050">
            <a:solidFill>
              <a:schemeClr val="accent4"/>
            </a:solidFill>
            <a:prstDash val="solid"/>
          </a:ln>
        </p:spPr>
      </p:sp>
      <p:pic>
        <p:nvPicPr>
          <p:cNvPr id="22" name="Image 3" descr="preencoded.png">    </p:cNvPr>
          <p:cNvPicPr>
            <a:picLocks noChangeAspect="1"/>
          </p:cNvPicPr>
          <p:nvPr/>
        </p:nvPicPr>
        <p:blipFill>
          <a:blip r:embed="rId4"/>
          <a:stretch>
            <a:fillRect/>
          </a:stretch>
        </p:blipFill>
        <p:spPr>
          <a:xfrm>
            <a:off x="3262762" y="4597786"/>
            <a:ext cx="250180" cy="250180"/>
          </a:xfrm>
          <a:prstGeom prst="rect">
            <a:avLst/>
          </a:prstGeom>
        </p:spPr>
      </p:pic>
      <p:sp>
        <p:nvSpPr>
          <p:cNvPr id="23" name="Shape 17"/>
          <p:cNvSpPr/>
          <p:nvPr/>
        </p:nvSpPr>
        <p:spPr>
          <a:xfrm>
            <a:off x="2926080" y="5276088"/>
            <a:ext cx="8714232" cy="777240"/>
          </a:xfrm>
          <a:prstGeom prst="roundRect">
            <a:avLst>
              <a:gd name="adj" fmla="val 14118"/>
            </a:avLst>
          </a:prstGeom>
          <a:solidFill>
            <a:schemeClr val="bg2"/>
          </a:solidFill>
          <a:ln w="12700">
            <a:solidFill>
              <a:schemeClr val="bg2"/>
            </a:solidFill>
            <a:prstDash val="solid"/>
          </a:ln>
        </p:spPr>
      </p:sp>
      <p:sp>
        <p:nvSpPr>
          <p:cNvPr id="24" name="Text 18"/>
          <p:cNvSpPr/>
          <p:nvPr/>
        </p:nvSpPr>
        <p:spPr>
          <a:xfrm>
            <a:off x="10927080" y="5404104"/>
            <a:ext cx="521208" cy="521208"/>
          </a:xfrm>
          <a:prstGeom prst="ellipse">
            <a:avLst/>
          </a:prstGeom>
          <a:solidFill>
            <a:schemeClr val="accent6"/>
          </a:solidFill>
          <a:ln>
            <a:solidFill>
              <a:schemeClr val="accent6"/>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5</a:t>
            </a:r>
            <a:endParaRPr lang="en-US" sz="1800" dirty="0"/>
          </a:p>
        </p:txBody>
      </p:sp>
      <p:sp>
        <p:nvSpPr>
          <p:cNvPr id="25" name="Text 19"/>
          <p:cNvSpPr txBox="1"/>
          <p:nvPr/>
        </p:nvSpPr>
        <p:spPr>
          <a:xfrm>
            <a:off x="3931920" y="5276088"/>
            <a:ext cx="6858000" cy="77724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מתכוננים למפגש הבא...</a:t>
            </a:r>
            <a:endParaRPr lang="he-IL" sz="2200" dirty="0"/>
          </a:p>
        </p:txBody>
      </p:sp>
      <p:sp>
        <p:nvSpPr>
          <p:cNvPr id="26" name="Shape 20"/>
          <p:cNvSpPr/>
          <p:nvPr/>
        </p:nvSpPr>
        <p:spPr>
          <a:xfrm>
            <a:off x="3127248" y="5404104"/>
            <a:ext cx="521208" cy="521208"/>
          </a:xfrm>
          <a:prstGeom prst="ellipse">
            <a:avLst/>
          </a:prstGeom>
          <a:solidFill>
            <a:schemeClr val="bg1"/>
          </a:solidFill>
          <a:ln w="19050">
            <a:solidFill>
              <a:schemeClr val="accent6"/>
            </a:solidFill>
            <a:prstDash val="solid"/>
          </a:ln>
        </p:spPr>
      </p:sp>
      <p:pic>
        <p:nvPicPr>
          <p:cNvPr id="27" name="Image 4" descr="preencoded.png">    </p:cNvPr>
          <p:cNvPicPr>
            <a:picLocks noChangeAspect="1"/>
          </p:cNvPicPr>
          <p:nvPr/>
        </p:nvPicPr>
        <p:blipFill>
          <a:blip r:embed="rId5"/>
          <a:stretch>
            <a:fillRect/>
          </a:stretch>
        </p:blipFill>
        <p:spPr>
          <a:xfrm>
            <a:off x="3262762" y="5539618"/>
            <a:ext cx="250180" cy="250180"/>
          </a:xfrm>
          <a:prstGeom prst="rect">
            <a:avLst/>
          </a:prstGeom>
        </p:spPr>
      </p:pic>
      <p:sp>
        <p:nvSpPr>
          <p:cNvPr id="28" name="Shape 21"/>
          <p:cNvSpPr/>
          <p:nvPr/>
        </p:nvSpPr>
        <p:spPr>
          <a:xfrm>
            <a:off x="868680" y="2377440"/>
            <a:ext cx="1463040" cy="1463040"/>
          </a:xfrm>
          <a:prstGeom prst="ellipse">
            <a:avLst/>
          </a:prstGeom>
          <a:solidFill>
            <a:schemeClr val="bg2"/>
          </a:solidFill>
          <a:ln w="12700">
            <a:solidFill>
              <a:schemeClr val="bg2"/>
            </a:solidFill>
            <a:prstDash val="solid"/>
          </a:ln>
        </p:spPr>
      </p:sp>
      <p:pic>
        <p:nvPicPr>
          <p:cNvPr id="29" name="Image 5" descr="preencoded.png">    </p:cNvPr>
          <p:cNvPicPr>
            <a:picLocks noChangeAspect="1"/>
          </p:cNvPicPr>
          <p:nvPr/>
        </p:nvPicPr>
        <p:blipFill>
          <a:blip r:embed="rId6"/>
          <a:stretch>
            <a:fillRect/>
          </a:stretch>
        </p:blipFill>
        <p:spPr>
          <a:xfrm>
            <a:off x="1249070" y="2757830"/>
            <a:ext cx="702259" cy="702259"/>
          </a:xfrm>
          <a:prstGeom prst="rect">
            <a:avLst/>
          </a:prstGeom>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תרגיל קצר</a:t>
            </a:r>
            <a:endParaRPr lang="he-IL" sz="3000" dirty="0"/>
          </a:p>
        </p:txBody>
      </p:sp>
      <p:pic>
        <p:nvPicPr>
          <p:cNvPr id="3" name="Image 0" descr="יד כותבת על דף">    </p:cNvPr>
          <p:cNvPicPr>
            <a:picLocks noChangeAspect="1"/>
          </p:cNvPicPr>
          <p:nvPr/>
        </p:nvPicPr>
        <p:blipFill>
          <a:blip r:embed="rId1"/>
          <a:srcRect l="0" r="0" t="0" b="0"/>
          <a:stretch/>
        </p:blipFill>
        <p:spPr>
          <a:xfrm>
            <a:off x="548640" y="1417320"/>
            <a:ext cx="3566160" cy="4892040"/>
          </a:xfrm>
          <a:prstGeom prst="rect">
            <a:avLst/>
          </a:prstGeom>
        </p:spPr>
      </p:pic>
      <p:sp>
        <p:nvSpPr>
          <p:cNvPr id="4" name="Shape 1"/>
          <p:cNvSpPr/>
          <p:nvPr/>
        </p:nvSpPr>
        <p:spPr>
          <a:xfrm>
            <a:off x="4434840" y="1417320"/>
            <a:ext cx="7205472" cy="2240280"/>
          </a:xfrm>
          <a:prstGeom prst="roundRect">
            <a:avLst>
              <a:gd name="adj" fmla="val 4898"/>
            </a:avLst>
          </a:prstGeom>
          <a:solidFill>
            <a:schemeClr val="bg2"/>
          </a:solidFill>
          <a:ln w="12700">
            <a:solidFill>
              <a:schemeClr val="bg2"/>
            </a:solidFill>
            <a:prstDash val="solid"/>
          </a:ln>
        </p:spPr>
      </p:sp>
      <p:sp>
        <p:nvSpPr>
          <p:cNvPr id="5" name="Shape 2"/>
          <p:cNvSpPr/>
          <p:nvPr/>
        </p:nvSpPr>
        <p:spPr>
          <a:xfrm>
            <a:off x="10744200" y="1645920"/>
            <a:ext cx="685800" cy="685800"/>
          </a:xfrm>
          <a:prstGeom prst="ellipse">
            <a:avLst/>
          </a:prstGeom>
          <a:solidFill>
            <a:schemeClr val="accent3"/>
          </a:solidFill>
          <a:ln w="12700">
            <a:solidFill>
              <a:schemeClr val="accent3"/>
            </a:solidFill>
            <a:prstDash val="solid"/>
          </a:ln>
        </p:spPr>
      </p:sp>
      <p:pic>
        <p:nvPicPr>
          <p:cNvPr id="6" name="Image 1" descr="preencoded.png">    </p:cNvPr>
          <p:cNvPicPr>
            <a:picLocks noChangeAspect="1"/>
          </p:cNvPicPr>
          <p:nvPr/>
        </p:nvPicPr>
        <p:blipFill>
          <a:blip r:embed="rId2"/>
          <a:stretch>
            <a:fillRect/>
          </a:stretch>
        </p:blipFill>
        <p:spPr>
          <a:xfrm>
            <a:off x="10922508" y="1824228"/>
            <a:ext cx="329184" cy="329184"/>
          </a:xfrm>
          <a:prstGeom prst="rect">
            <a:avLst/>
          </a:prstGeom>
        </p:spPr>
      </p:pic>
      <p:sp>
        <p:nvSpPr>
          <p:cNvPr id="7" name="Text 3"/>
          <p:cNvSpPr txBox="1"/>
          <p:nvPr/>
        </p:nvSpPr>
        <p:spPr>
          <a:xfrm>
            <a:off x="4663440" y="1554480"/>
            <a:ext cx="5943600" cy="2011680"/>
          </a:xfrm>
          <a:prstGeom prst="rect">
            <a:avLst/>
          </a:prstGeom>
          <a:noFill/>
          <a:ln/>
        </p:spPr>
        <p:txBody>
          <a:bodyPr wrap="square" lIns="50800" tIns="50800" rIns="50800" bIns="50800" rtlCol="0" anchor="ctr"/>
          <a:lstStyle/>
          <a:p>
            <a:pPr rtl="1" algn="r" indent="0" marL="0">
              <a:spcAft>
                <a:spcPts val="300"/>
              </a:spcAft>
              <a:buNone/>
            </a:pPr>
            <a:r>
              <a:rPr lang="he-IL" altLang="en-US" sz="1800" dirty="0">
                <a:solidFill>
                  <a:schemeClr val="tx1"/>
                </a:solidFill>
                <a:latin typeface="Arial" pitchFamily="34" charset="0"/>
                <a:ea typeface="Arial" pitchFamily="34" charset="-122"/>
                <a:cs typeface="Arial" pitchFamily="34" charset="-120"/>
              </a:rPr>
              <a:t>אתן תזונאיות שעובדות במשרד הבריאות במחוז מרכז,</a:t>
            </a:r>
            <a:endParaRPr lang="he-IL" sz="1800" dirty="0"/>
          </a:p>
          <a:p>
            <a:pPr rtl="1" algn="r" indent="0" marL="0">
              <a:spcAft>
                <a:spcPts val="300"/>
              </a:spcAft>
              <a:buNone/>
            </a:pPr>
            <a:r>
              <a:rPr lang="he-IL" altLang="en-US" sz="1800" dirty="0">
                <a:solidFill>
                  <a:schemeClr val="tx1"/>
                </a:solidFill>
                <a:latin typeface="Arial" pitchFamily="34" charset="0"/>
                <a:ea typeface="Arial" pitchFamily="34" charset="-122"/>
                <a:cs typeface="Arial" pitchFamily="34" charset="-120"/>
              </a:rPr>
              <a:t>לפי הנתונים האחרונים שקיבלתן,</a:t>
            </a:r>
            <a:endParaRPr lang="he-IL" sz="1800" dirty="0"/>
          </a:p>
          <a:p>
            <a:pPr rtl="1" algn="r" indent="0" marL="0">
              <a:spcAft>
                <a:spcPts val="300"/>
              </a:spcAft>
              <a:buNone/>
            </a:pPr>
            <a:r>
              <a:rPr lang="he-IL" altLang="en-US" sz="1800" dirty="0">
                <a:solidFill>
                  <a:schemeClr val="tx1"/>
                </a:solidFill>
                <a:latin typeface="Arial" pitchFamily="34" charset="0"/>
                <a:ea typeface="Arial" pitchFamily="34" charset="-122"/>
                <a:cs typeface="Arial" pitchFamily="34" charset="-120"/>
              </a:rPr>
              <a:t>קיימת מגמת עליה חדה במספר הילדים הסובלים מהשמנת יתר במחוז.</a:t>
            </a:r>
            <a:endParaRPr lang="he-IL" sz="1800" dirty="0"/>
          </a:p>
          <a:p>
            <a:pPr rtl="1" algn="r" indent="0" marL="0">
              <a:spcAft>
                <a:spcPts val="300"/>
              </a:spcAft>
              <a:buNone/>
            </a:pPr>
            <a:r>
              <a:rPr lang="he-IL" altLang="en-US" sz="1800" b="1" dirty="0">
                <a:solidFill>
                  <a:schemeClr val="tx2"/>
                </a:solidFill>
                <a:latin typeface="Arial" pitchFamily="34" charset="0"/>
                <a:ea typeface="Arial" pitchFamily="34" charset="-122"/>
                <a:cs typeface="Arial" pitchFamily="34" charset="-120"/>
              </a:rPr>
              <a:t>באיזה מכיווני הפעולה הבאים תבחרו לנקוט?</a:t>
            </a:r>
            <a:endParaRPr lang="he-IL" sz="1800" dirty="0"/>
          </a:p>
        </p:txBody>
      </p:sp>
      <p:sp>
        <p:nvSpPr>
          <p:cNvPr id="8" name="Shape 4"/>
          <p:cNvSpPr/>
          <p:nvPr/>
        </p:nvSpPr>
        <p:spPr>
          <a:xfrm>
            <a:off x="8138160" y="3886200"/>
            <a:ext cx="3502152" cy="1325880"/>
          </a:xfrm>
          <a:prstGeom prst="roundRect">
            <a:avLst>
              <a:gd name="adj" fmla="val 8276"/>
            </a:avLst>
          </a:prstGeom>
          <a:solidFill>
            <a:schemeClr val="bg1"/>
          </a:solidFill>
          <a:ln w="19050">
            <a:solidFill>
              <a:schemeClr val="accent1"/>
            </a:solidFill>
            <a:prstDash val="solid"/>
          </a:ln>
          <a:effectLst>
            <a:outerShdw sx="100000" sy="100000" kx="0" ky="0" algn="bl" rotWithShape="0" blurRad="101600" dist="25400" dir="5400000">
              <a:srgbClr val="0F4C5C">
                <a:alpha val="14000"/>
              </a:srgbClr>
            </a:outerShdw>
          </a:effectLst>
        </p:spPr>
      </p:sp>
      <p:sp>
        <p:nvSpPr>
          <p:cNvPr id="9" name="Shape 5"/>
          <p:cNvSpPr/>
          <p:nvPr/>
        </p:nvSpPr>
        <p:spPr>
          <a:xfrm>
            <a:off x="10954512" y="4041648"/>
            <a:ext cx="502920" cy="502920"/>
          </a:xfrm>
          <a:prstGeom prst="ellipse">
            <a:avLst/>
          </a:prstGeom>
          <a:solidFill>
            <a:schemeClr val="accent1"/>
          </a:solidFill>
          <a:ln w="12700">
            <a:solidFill>
              <a:schemeClr val="accent1"/>
            </a:solidFill>
            <a:prstDash val="solid"/>
          </a:ln>
        </p:spPr>
      </p:sp>
      <p:pic>
        <p:nvPicPr>
          <p:cNvPr id="10" name="Image 2" descr="preencoded.png">    </p:cNvPr>
          <p:cNvPicPr>
            <a:picLocks noChangeAspect="1"/>
          </p:cNvPicPr>
          <p:nvPr/>
        </p:nvPicPr>
        <p:blipFill>
          <a:blip r:embed="rId3"/>
          <a:stretch>
            <a:fillRect/>
          </a:stretch>
        </p:blipFill>
        <p:spPr>
          <a:xfrm>
            <a:off x="11085271" y="4172407"/>
            <a:ext cx="241402" cy="241402"/>
          </a:xfrm>
          <a:prstGeom prst="rect">
            <a:avLst/>
          </a:prstGeom>
        </p:spPr>
      </p:pic>
      <p:sp>
        <p:nvSpPr>
          <p:cNvPr id="11" name="Text 6"/>
          <p:cNvSpPr txBox="1"/>
          <p:nvPr/>
        </p:nvSpPr>
        <p:spPr>
          <a:xfrm>
            <a:off x="8275320" y="3977640"/>
            <a:ext cx="2697480" cy="1143000"/>
          </a:xfrm>
          <a:prstGeom prst="rect">
            <a:avLst/>
          </a:prstGeom>
          <a:noFill/>
          <a:ln/>
        </p:spPr>
        <p:txBody>
          <a:bodyPr wrap="square" lIns="50800" tIns="50800" rIns="50800" bIns="50800" rtlCol="0" anchor="ctr"/>
          <a:lstStyle/>
          <a:p>
            <a:pPr rtl="1" algn="r" indent="0" marL="0">
              <a:buNone/>
            </a:pPr>
            <a:r>
              <a:rPr lang="he-IL" altLang="en-US" sz="1600" b="1" dirty="0">
                <a:solidFill>
                  <a:schemeClr val="accent1"/>
                </a:solidFill>
                <a:latin typeface="Arial" pitchFamily="34" charset="0"/>
                <a:ea typeface="Arial" pitchFamily="34" charset="-122"/>
                <a:cs typeface="Arial" pitchFamily="34" charset="-120"/>
              </a:rPr>
              <a:t>א. </a:t>
            </a:r>
            <a:pPr rtl="1" algn="r" indent="0" marL="0">
              <a:buNone/>
            </a:pPr>
            <a:r>
              <a:rPr lang="he-IL" altLang="en-US" sz="1600" dirty="0">
                <a:solidFill>
                  <a:schemeClr val="tx1"/>
                </a:solidFill>
                <a:latin typeface="Arial" pitchFamily="34" charset="0"/>
                <a:ea typeface="Arial" pitchFamily="34" charset="-122"/>
                <a:cs typeface="Arial" pitchFamily="34" charset="-120"/>
              </a:rPr>
              <a:t>לפנות לקופות החולים לפתיחת 5 מרפאות לטיפול בהשמנה בקהילה.</a:t>
            </a:r>
            <a:endParaRPr lang="he-IL" sz="1600" dirty="0"/>
          </a:p>
        </p:txBody>
      </p:sp>
      <p:sp>
        <p:nvSpPr>
          <p:cNvPr id="12" name="Shape 7"/>
          <p:cNvSpPr/>
          <p:nvPr/>
        </p:nvSpPr>
        <p:spPr>
          <a:xfrm>
            <a:off x="4434840" y="3886200"/>
            <a:ext cx="3502152" cy="1325880"/>
          </a:xfrm>
          <a:prstGeom prst="roundRect">
            <a:avLst>
              <a:gd name="adj" fmla="val 8276"/>
            </a:avLst>
          </a:prstGeom>
          <a:solidFill>
            <a:schemeClr val="bg1"/>
          </a:solidFill>
          <a:ln w="19050">
            <a:solidFill>
              <a:schemeClr val="accent2"/>
            </a:solidFill>
            <a:prstDash val="solid"/>
          </a:ln>
          <a:effectLst>
            <a:outerShdw sx="100000" sy="100000" kx="0" ky="0" algn="bl" rotWithShape="0" blurRad="101600" dist="25400" dir="5400000">
              <a:srgbClr val="0F4C5C">
                <a:alpha val="14000"/>
              </a:srgbClr>
            </a:outerShdw>
          </a:effectLst>
        </p:spPr>
      </p:sp>
      <p:sp>
        <p:nvSpPr>
          <p:cNvPr id="13" name="Shape 8"/>
          <p:cNvSpPr/>
          <p:nvPr/>
        </p:nvSpPr>
        <p:spPr>
          <a:xfrm>
            <a:off x="7251192" y="4041648"/>
            <a:ext cx="502920" cy="502920"/>
          </a:xfrm>
          <a:prstGeom prst="ellipse">
            <a:avLst/>
          </a:prstGeom>
          <a:solidFill>
            <a:schemeClr val="accent2"/>
          </a:solidFill>
          <a:ln w="12700">
            <a:solidFill>
              <a:schemeClr val="accent2"/>
            </a:solidFill>
            <a:prstDash val="solid"/>
          </a:ln>
        </p:spPr>
      </p:sp>
      <p:pic>
        <p:nvPicPr>
          <p:cNvPr id="14" name="Image 3" descr="preencoded.png">    </p:cNvPr>
          <p:cNvPicPr>
            <a:picLocks noChangeAspect="1"/>
          </p:cNvPicPr>
          <p:nvPr/>
        </p:nvPicPr>
        <p:blipFill>
          <a:blip r:embed="rId4"/>
          <a:stretch>
            <a:fillRect/>
          </a:stretch>
        </p:blipFill>
        <p:spPr>
          <a:xfrm>
            <a:off x="7381951" y="4172407"/>
            <a:ext cx="241402" cy="241402"/>
          </a:xfrm>
          <a:prstGeom prst="rect">
            <a:avLst/>
          </a:prstGeom>
        </p:spPr>
      </p:pic>
      <p:sp>
        <p:nvSpPr>
          <p:cNvPr id="15" name="Text 9"/>
          <p:cNvSpPr txBox="1"/>
          <p:nvPr/>
        </p:nvSpPr>
        <p:spPr>
          <a:xfrm>
            <a:off x="4572000" y="3977640"/>
            <a:ext cx="2697480" cy="1143000"/>
          </a:xfrm>
          <a:prstGeom prst="rect">
            <a:avLst/>
          </a:prstGeom>
          <a:noFill/>
          <a:ln/>
        </p:spPr>
        <p:txBody>
          <a:bodyPr wrap="square" lIns="50800" tIns="50800" rIns="50800" bIns="50800" rtlCol="0" anchor="ctr"/>
          <a:lstStyle/>
          <a:p>
            <a:pPr rtl="1" algn="r" indent="0" marL="0">
              <a:buNone/>
            </a:pPr>
            <a:r>
              <a:rPr lang="he-IL" altLang="en-US" sz="1600" b="1" dirty="0">
                <a:solidFill>
                  <a:schemeClr val="accent2"/>
                </a:solidFill>
                <a:latin typeface="Arial" pitchFamily="34" charset="0"/>
                <a:ea typeface="Arial" pitchFamily="34" charset="-122"/>
                <a:cs typeface="Arial" pitchFamily="34" charset="-120"/>
              </a:rPr>
              <a:t>ב. </a:t>
            </a:r>
            <a:pPr rtl="1" algn="r" indent="0" marL="0">
              <a:buNone/>
            </a:pPr>
            <a:r>
              <a:rPr lang="he-IL" altLang="en-US" sz="1600" dirty="0">
                <a:solidFill>
                  <a:schemeClr val="tx1"/>
                </a:solidFill>
                <a:latin typeface="Arial" pitchFamily="34" charset="0"/>
                <a:ea typeface="Arial" pitchFamily="34" charset="-122"/>
                <a:cs typeface="Arial" pitchFamily="34" charset="-120"/>
              </a:rPr>
              <a:t>לשנות את הרכב ארוחת הצהריים בצהרונים במחוז.</a:t>
            </a:r>
            <a:endParaRPr lang="he-IL" sz="1600" dirty="0"/>
          </a:p>
        </p:txBody>
      </p:sp>
      <p:pic>
        <p:nvPicPr>
          <p:cNvPr id="16" name="Image 4" descr="סרגל Teams – כפתור Raise">    </p:cNvPr>
          <p:cNvPicPr>
            <a:picLocks noChangeAspect="1"/>
          </p:cNvPicPr>
          <p:nvPr/>
        </p:nvPicPr>
        <p:blipFill>
          <a:blip r:embed="rId5"/>
          <a:stretch>
            <a:fillRect/>
          </a:stretch>
        </p:blipFill>
        <p:spPr>
          <a:xfrm>
            <a:off x="5669280" y="5440680"/>
            <a:ext cx="3017520" cy="879864"/>
          </a:xfrm>
          <a:prstGeom prst="rect">
            <a:avLst/>
          </a:prstGeom>
        </p:spPr>
      </p:pic>
      <p:sp>
        <p:nvSpPr>
          <p:cNvPr id="17" name="Shape 10"/>
          <p:cNvSpPr/>
          <p:nvPr/>
        </p:nvSpPr>
        <p:spPr>
          <a:xfrm>
            <a:off x="6644030" y="5413248"/>
            <a:ext cx="585216" cy="868680"/>
          </a:xfrm>
          <a:prstGeom prst="ellipse">
            <a:avLst/>
          </a:prstGeom>
          <a:ln w="25400">
            <a:solidFill>
              <a:srgbClr val="E53935"/>
            </a:solidFill>
            <a:prstDash val="solid"/>
          </a:ln>
        </p:spPr>
      </p:sp>
      <p:sp>
        <p:nvSpPr>
          <p:cNvPr id="18" name="Shape 11"/>
          <p:cNvSpPr/>
          <p:nvPr/>
        </p:nvSpPr>
        <p:spPr>
          <a:xfrm flipV="1">
            <a:off x="4572000" y="5989320"/>
            <a:ext cx="1371600" cy="228600"/>
          </a:xfrm>
          <a:prstGeom prst="line">
            <a:avLst/>
          </a:prstGeom>
          <a:noFill/>
          <a:ln w="38100">
            <a:solidFill>
              <a:srgbClr val="E53935"/>
            </a:solidFill>
            <a:prstDash val="solid"/>
            <a:tailEnd type="triangle"/>
          </a:ln>
        </p:spPr>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הגדרה: בריאות הציבור - מהי?</a:t>
            </a:r>
            <a:endParaRPr lang="he-IL" sz="3000" dirty="0"/>
          </a:p>
        </p:txBody>
      </p:sp>
      <p:sp>
        <p:nvSpPr>
          <p:cNvPr id="3" name="Shape 1"/>
          <p:cNvSpPr/>
          <p:nvPr/>
        </p:nvSpPr>
        <p:spPr>
          <a:xfrm>
            <a:off x="548640" y="1463040"/>
            <a:ext cx="11091672" cy="4663440"/>
          </a:xfrm>
          <a:prstGeom prst="roundRect">
            <a:avLst>
              <a:gd name="adj" fmla="val 2353"/>
            </a:avLst>
          </a:prstGeom>
          <a:solidFill>
            <a:schemeClr val="bg2"/>
          </a:solidFill>
          <a:ln w="12700">
            <a:solidFill>
              <a:schemeClr val="bg2"/>
            </a:solidFill>
            <a:prstDash val="solid"/>
          </a:ln>
        </p:spPr>
      </p:sp>
      <p:sp>
        <p:nvSpPr>
          <p:cNvPr id="4" name="Shape 2"/>
          <p:cNvSpPr/>
          <p:nvPr/>
        </p:nvSpPr>
        <p:spPr>
          <a:xfrm>
            <a:off x="10607040" y="1691640"/>
            <a:ext cx="777240" cy="7772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809122" y="1893722"/>
            <a:ext cx="373075" cy="373075"/>
          </a:xfrm>
          <a:prstGeom prst="rect">
            <a:avLst/>
          </a:prstGeom>
        </p:spPr>
      </p:pic>
      <p:sp>
        <p:nvSpPr>
          <p:cNvPr id="6" name="Text 3"/>
          <p:cNvSpPr/>
          <p:nvPr/>
        </p:nvSpPr>
        <p:spPr>
          <a:xfrm>
            <a:off x="6949440" y="1828800"/>
            <a:ext cx="3429000" cy="502920"/>
          </a:xfrm>
          <a:prstGeom prst="roundRect">
            <a:avLst>
              <a:gd name="adj" fmla="val 36364"/>
            </a:avLst>
          </a:prstGeom>
          <a:solidFill>
            <a:schemeClr val="tx2"/>
          </a:solidFill>
          <a:ln/>
        </p:spPr>
        <p:txBody>
          <a:bodyPr wrap="square" lIns="0" tIns="0" rIns="0" bIns="0" rtlCol="0" anchor="ctr"/>
          <a:lstStyle/>
          <a:p>
            <a:pPr rtl="1" algn="ctr" indent="0" marL="0">
              <a:buNone/>
            </a:pPr>
            <a:r>
              <a:rPr lang="he-IL" altLang="en-US" sz="1800" b="1" dirty="0">
                <a:solidFill>
                  <a:schemeClr val="bg1"/>
                </a:solidFill>
                <a:latin typeface="Arial" pitchFamily="34" charset="0"/>
                <a:ea typeface="Arial" pitchFamily="34" charset="-122"/>
                <a:cs typeface="Arial" pitchFamily="34" charset="-120"/>
              </a:rPr>
              <a:t>ארגון הבריאות העולמי 1952:</a:t>
            </a:r>
            <a:endParaRPr lang="he-IL" sz="1800" dirty="0"/>
          </a:p>
        </p:txBody>
      </p:sp>
      <p:sp>
        <p:nvSpPr>
          <p:cNvPr id="7" name="Text 4"/>
          <p:cNvSpPr txBox="1"/>
          <p:nvPr/>
        </p:nvSpPr>
        <p:spPr>
          <a:xfrm>
            <a:off x="1005840" y="2606040"/>
            <a:ext cx="10241280" cy="3291840"/>
          </a:xfrm>
          <a:prstGeom prst="rect">
            <a:avLst/>
          </a:prstGeom>
          <a:noFill/>
          <a:ln/>
        </p:spPr>
        <p:txBody>
          <a:bodyPr wrap="square" lIns="50800" tIns="50800" rIns="50800" bIns="50800" rtlCol="0" anchor="t"/>
          <a:lstStyle/>
          <a:p>
            <a:pPr rtl="1" algn="r" indent="0" marL="0">
              <a:lnSpc>
                <a:spcPct val="125000"/>
              </a:lnSpc>
              <a:buNone/>
            </a:pPr>
            <a:r>
              <a:rPr lang="he-IL" altLang="en-US" sz="2100" dirty="0">
                <a:solidFill>
                  <a:schemeClr val="tx1"/>
                </a:solidFill>
                <a:latin typeface="Arial" pitchFamily="34" charset="0"/>
                <a:ea typeface="Arial" pitchFamily="34" charset="-122"/>
                <a:cs typeface="Arial" pitchFamily="34" charset="-120"/>
              </a:rPr>
              <a:t>"בריאות הציבור היא המדע והאומנות של מניעת מחלה, הארכת חיים וקידום בריאות גופנית ונפשית באופן יעיל על ידי מאמצים משותפים של הקהילה, תברואה של הסביבה, פיקוח על מחלות זיהומיות, חינוך הפרט, טיפול מוקדם במחלות, פיתוח מנגנון חברתי שיבטיח לכל פרט את אותם סטנדרטים של חיים המתאימים לבריאות, ובכך לממש את זכותו הטבעית של כל אזרח לבריאות ואריכות ימים".</a:t>
            </a:r>
            <a:endParaRPr lang="he-IL" sz="21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4 עמודי התווך של בריאות הציבור:</a:t>
            </a:r>
            <a:endParaRPr lang="he-IL" sz="3000" dirty="0"/>
          </a:p>
        </p:txBody>
      </p:sp>
      <p:sp>
        <p:nvSpPr>
          <p:cNvPr id="3" name="Shape 1"/>
          <p:cNvSpPr/>
          <p:nvPr/>
        </p:nvSpPr>
        <p:spPr>
          <a:xfrm>
            <a:off x="6248095" y="1463040"/>
            <a:ext cx="5394960" cy="2240280"/>
          </a:xfrm>
          <a:prstGeom prst="roundRect">
            <a:avLst>
              <a:gd name="adj" fmla="val 4898"/>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4" name="Shape 2"/>
          <p:cNvSpPr/>
          <p:nvPr/>
        </p:nvSpPr>
        <p:spPr>
          <a:xfrm>
            <a:off x="10682935" y="1737360"/>
            <a:ext cx="731520" cy="7315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873130" y="1927555"/>
            <a:ext cx="351130" cy="351130"/>
          </a:xfrm>
          <a:prstGeom prst="rect">
            <a:avLst/>
          </a:prstGeom>
        </p:spPr>
      </p:pic>
      <p:sp>
        <p:nvSpPr>
          <p:cNvPr id="6" name="Text 3"/>
          <p:cNvSpPr/>
          <p:nvPr/>
        </p:nvSpPr>
        <p:spPr>
          <a:xfrm>
            <a:off x="11140135" y="2560320"/>
            <a:ext cx="365760" cy="365760"/>
          </a:xfrm>
          <a:prstGeom prst="ellipse">
            <a:avLst/>
          </a:prstGeom>
          <a:solidFill>
            <a:schemeClr val="tx2"/>
          </a:solidFill>
          <a:ln>
            <a:solidFill>
              <a:schemeClr val="tx2"/>
            </a:solidFill>
          </a:ln>
        </p:spPr>
        <p:txBody>
          <a:bodyPr wrap="square" lIns="0" tIns="0" rIns="0" bIns="0" rtlCol="0" anchor="ctr"/>
          <a:lstStyle/>
          <a:p>
            <a:pPr rtl="1" algn="ctr" indent="0" marL="0">
              <a:buNone/>
            </a:pPr>
            <a:r>
              <a:rPr lang="en-US" sz="1300" b="1" dirty="0">
                <a:solidFill>
                  <a:schemeClr val="bg1"/>
                </a:solidFill>
                <a:latin typeface="Arial" pitchFamily="34" charset="0"/>
                <a:ea typeface="Arial" pitchFamily="34" charset="-122"/>
                <a:cs typeface="Arial" pitchFamily="34" charset="-120"/>
              </a:rPr>
              <a:t>1</a:t>
            </a:r>
            <a:endParaRPr lang="en-US" sz="1300" dirty="0"/>
          </a:p>
        </p:txBody>
      </p:sp>
      <p:sp>
        <p:nvSpPr>
          <p:cNvPr id="7" name="Text 4"/>
          <p:cNvSpPr txBox="1"/>
          <p:nvPr/>
        </p:nvSpPr>
        <p:spPr>
          <a:xfrm>
            <a:off x="6430975" y="1691640"/>
            <a:ext cx="4206240" cy="1828800"/>
          </a:xfrm>
          <a:prstGeom prst="rect">
            <a:avLst/>
          </a:prstGeom>
          <a:noFill/>
          <a:ln/>
        </p:spPr>
        <p:txBody>
          <a:bodyPr wrap="square" lIns="50800" tIns="50800" rIns="50800" bIns="50800" rtlCol="0" anchor="ctr"/>
          <a:lstStyle/>
          <a:p>
            <a:pPr rtl="1" algn="r" indent="0" marL="0">
              <a:lnSpc>
                <a:spcPct val="110000"/>
              </a:lnSpc>
              <a:buNone/>
            </a:pPr>
            <a:r>
              <a:rPr lang="he-IL" altLang="en-US" sz="1900" b="1" dirty="0">
                <a:solidFill>
                  <a:schemeClr val="tx2"/>
                </a:solidFill>
                <a:latin typeface="Arial" pitchFamily="34" charset="0"/>
                <a:ea typeface="Arial" pitchFamily="34" charset="-122"/>
                <a:cs typeface="Arial" pitchFamily="34" charset="-120"/>
              </a:rPr>
              <a:t>שמירת הבריאות</a:t>
            </a:r>
            <a:pPr rtl="1" algn="r" indent="0" marL="0">
              <a:lnSpc>
                <a:spcPct val="110000"/>
              </a:lnSpc>
              <a:buNone/>
            </a:pPr>
            <a:r>
              <a:rPr lang="he-IL" altLang="en-US" sz="1400" b="1" dirty="0">
                <a:solidFill>
                  <a:schemeClr val="accent1"/>
                </a:solidFill>
                <a:latin typeface="Arial" pitchFamily="34" charset="0"/>
                <a:ea typeface="Arial" pitchFamily="34" charset="-122"/>
                <a:cs typeface="Arial" pitchFamily="34" charset="-120"/>
              </a:rPr>
              <a:t> או HEALTH PROTECTION -</a:t>
            </a:r>
            <a:endParaRPr lang="he-IL" sz="1700" dirty="0"/>
          </a:p>
          <a:p>
            <a:pPr rtl="1" algn="r" indent="0" marL="0">
              <a:lnSpc>
                <a:spcPct val="110000"/>
              </a:lnSpc>
              <a:buNone/>
            </a:pPr>
            <a:r>
              <a:rPr lang="he-IL" altLang="en-US" sz="1700" dirty="0">
                <a:solidFill>
                  <a:schemeClr val="tx1"/>
                </a:solidFill>
                <a:latin typeface="Arial" pitchFamily="34" charset="0"/>
                <a:ea typeface="Arial" pitchFamily="34" charset="-122"/>
                <a:cs typeface="Arial" pitchFamily="34" charset="-120"/>
              </a:rPr>
              <a:t>חוקים, תקנות, חוזרים ונהלים שמתפקידם לקדם את בריאות הציבור.</a:t>
            </a:r>
            <a:endParaRPr lang="he-IL" sz="1700" dirty="0"/>
          </a:p>
        </p:txBody>
      </p:sp>
      <p:sp>
        <p:nvSpPr>
          <p:cNvPr id="8" name="Shape 5"/>
          <p:cNvSpPr/>
          <p:nvPr/>
        </p:nvSpPr>
        <p:spPr>
          <a:xfrm>
            <a:off x="551383" y="1463040"/>
            <a:ext cx="5394960" cy="2240280"/>
          </a:xfrm>
          <a:prstGeom prst="roundRect">
            <a:avLst>
              <a:gd name="adj" fmla="val 4898"/>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9" name="Shape 6"/>
          <p:cNvSpPr/>
          <p:nvPr/>
        </p:nvSpPr>
        <p:spPr>
          <a:xfrm>
            <a:off x="4986223" y="1737360"/>
            <a:ext cx="731520" cy="731520"/>
          </a:xfrm>
          <a:prstGeom prst="ellipse">
            <a:avLst/>
          </a:prstGeom>
          <a:solidFill>
            <a:schemeClr val="accent6"/>
          </a:solidFill>
          <a:ln w="12700">
            <a:solidFill>
              <a:schemeClr val="accent6"/>
            </a:solidFill>
            <a:prstDash val="solid"/>
          </a:ln>
        </p:spPr>
      </p:sp>
      <p:pic>
        <p:nvPicPr>
          <p:cNvPr id="10" name="Image 1" descr="preencoded.png">    </p:cNvPr>
          <p:cNvPicPr>
            <a:picLocks noChangeAspect="1"/>
          </p:cNvPicPr>
          <p:nvPr/>
        </p:nvPicPr>
        <p:blipFill>
          <a:blip r:embed="rId2"/>
          <a:stretch>
            <a:fillRect/>
          </a:stretch>
        </p:blipFill>
        <p:spPr>
          <a:xfrm>
            <a:off x="5176418" y="1927555"/>
            <a:ext cx="351130" cy="351130"/>
          </a:xfrm>
          <a:prstGeom prst="rect">
            <a:avLst/>
          </a:prstGeom>
        </p:spPr>
      </p:pic>
      <p:sp>
        <p:nvSpPr>
          <p:cNvPr id="11" name="Text 7"/>
          <p:cNvSpPr/>
          <p:nvPr/>
        </p:nvSpPr>
        <p:spPr>
          <a:xfrm>
            <a:off x="5443423" y="2560320"/>
            <a:ext cx="365760" cy="365760"/>
          </a:xfrm>
          <a:prstGeom prst="ellipse">
            <a:avLst/>
          </a:prstGeom>
          <a:solidFill>
            <a:schemeClr val="tx2"/>
          </a:solidFill>
          <a:ln>
            <a:solidFill>
              <a:schemeClr val="tx2"/>
            </a:solidFill>
          </a:ln>
        </p:spPr>
        <p:txBody>
          <a:bodyPr wrap="square" lIns="0" tIns="0" rIns="0" bIns="0" rtlCol="0" anchor="ctr"/>
          <a:lstStyle/>
          <a:p>
            <a:pPr rtl="1" algn="ctr" indent="0" marL="0">
              <a:buNone/>
            </a:pPr>
            <a:r>
              <a:rPr lang="en-US" sz="1300" b="1" dirty="0">
                <a:solidFill>
                  <a:schemeClr val="bg1"/>
                </a:solidFill>
                <a:latin typeface="Arial" pitchFamily="34" charset="0"/>
                <a:ea typeface="Arial" pitchFamily="34" charset="-122"/>
                <a:cs typeface="Arial" pitchFamily="34" charset="-120"/>
              </a:rPr>
              <a:t>2</a:t>
            </a:r>
            <a:endParaRPr lang="en-US" sz="1300" dirty="0"/>
          </a:p>
        </p:txBody>
      </p:sp>
      <p:sp>
        <p:nvSpPr>
          <p:cNvPr id="12" name="Text 8"/>
          <p:cNvSpPr txBox="1"/>
          <p:nvPr/>
        </p:nvSpPr>
        <p:spPr>
          <a:xfrm>
            <a:off x="734263" y="1691640"/>
            <a:ext cx="4206240" cy="1828800"/>
          </a:xfrm>
          <a:prstGeom prst="rect">
            <a:avLst/>
          </a:prstGeom>
          <a:noFill/>
          <a:ln/>
        </p:spPr>
        <p:txBody>
          <a:bodyPr wrap="square" lIns="50800" tIns="50800" rIns="50800" bIns="50800" rtlCol="0" anchor="ctr"/>
          <a:lstStyle/>
          <a:p>
            <a:pPr rtl="1" algn="r" indent="0" marL="0">
              <a:lnSpc>
                <a:spcPct val="110000"/>
              </a:lnSpc>
              <a:buNone/>
            </a:pPr>
            <a:r>
              <a:rPr lang="he-IL" altLang="en-US" sz="1900" b="1" dirty="0">
                <a:solidFill>
                  <a:schemeClr val="tx2"/>
                </a:solidFill>
                <a:latin typeface="Arial" pitchFamily="34" charset="0"/>
                <a:ea typeface="Arial" pitchFamily="34" charset="-122"/>
                <a:cs typeface="Arial" pitchFamily="34" charset="-120"/>
              </a:rPr>
              <a:t>רפואה מונעת</a:t>
            </a:r>
            <a:pPr rtl="1" algn="r" indent="0" marL="0">
              <a:lnSpc>
                <a:spcPct val="110000"/>
              </a:lnSpc>
              <a:buNone/>
            </a:pPr>
            <a:r>
              <a:rPr lang="he-IL" altLang="en-US" sz="1400" b="1" dirty="0">
                <a:solidFill>
                  <a:schemeClr val="accent1"/>
                </a:solidFill>
                <a:latin typeface="Arial" pitchFamily="34" charset="0"/>
                <a:ea typeface="Arial" pitchFamily="34" charset="-122"/>
                <a:cs typeface="Arial" pitchFamily="34" charset="-120"/>
              </a:rPr>
              <a:t> או REVENTIVE MEDICINE-</a:t>
            </a:r>
            <a:endParaRPr lang="he-IL" sz="1700" dirty="0"/>
          </a:p>
          <a:p>
            <a:pPr rtl="1" algn="r" indent="0" marL="0">
              <a:lnSpc>
                <a:spcPct val="110000"/>
              </a:lnSpc>
              <a:buNone/>
            </a:pPr>
            <a:r>
              <a:rPr lang="he-IL" altLang="en-US" sz="1700" dirty="0">
                <a:solidFill>
                  <a:schemeClr val="tx1"/>
                </a:solidFill>
                <a:latin typeface="Arial" pitchFamily="34" charset="0"/>
                <a:ea typeface="Arial" pitchFamily="34" charset="-122"/>
                <a:cs typeface="Arial" pitchFamily="34" charset="-120"/>
              </a:rPr>
              <a:t>עיקרה במניעת המחלות כמו עיסוק בתחום החיסונים ובמבחני סריקה.</a:t>
            </a:r>
            <a:endParaRPr lang="he-IL" sz="1700" dirty="0"/>
          </a:p>
        </p:txBody>
      </p:sp>
      <p:sp>
        <p:nvSpPr>
          <p:cNvPr id="13" name="Shape 9"/>
          <p:cNvSpPr/>
          <p:nvPr/>
        </p:nvSpPr>
        <p:spPr>
          <a:xfrm>
            <a:off x="6248095" y="3977640"/>
            <a:ext cx="5394960" cy="2240280"/>
          </a:xfrm>
          <a:prstGeom prst="roundRect">
            <a:avLst>
              <a:gd name="adj" fmla="val 4898"/>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14" name="Shape 10"/>
          <p:cNvSpPr/>
          <p:nvPr/>
        </p:nvSpPr>
        <p:spPr>
          <a:xfrm>
            <a:off x="10682935" y="4251960"/>
            <a:ext cx="731520" cy="731520"/>
          </a:xfrm>
          <a:prstGeom prst="ellipse">
            <a:avLst/>
          </a:prstGeom>
          <a:solidFill>
            <a:schemeClr val="accent3"/>
          </a:solidFill>
          <a:ln w="12700">
            <a:solidFill>
              <a:schemeClr val="accent3"/>
            </a:solidFill>
            <a:prstDash val="solid"/>
          </a:ln>
        </p:spPr>
      </p:sp>
      <p:pic>
        <p:nvPicPr>
          <p:cNvPr id="15" name="Image 2" descr="preencoded.png">    </p:cNvPr>
          <p:cNvPicPr>
            <a:picLocks noChangeAspect="1"/>
          </p:cNvPicPr>
          <p:nvPr/>
        </p:nvPicPr>
        <p:blipFill>
          <a:blip r:embed="rId3"/>
          <a:stretch>
            <a:fillRect/>
          </a:stretch>
        </p:blipFill>
        <p:spPr>
          <a:xfrm>
            <a:off x="10873130" y="4442155"/>
            <a:ext cx="351130" cy="351130"/>
          </a:xfrm>
          <a:prstGeom prst="rect">
            <a:avLst/>
          </a:prstGeom>
        </p:spPr>
      </p:pic>
      <p:sp>
        <p:nvSpPr>
          <p:cNvPr id="16" name="Text 11"/>
          <p:cNvSpPr/>
          <p:nvPr/>
        </p:nvSpPr>
        <p:spPr>
          <a:xfrm>
            <a:off x="11140135" y="5074920"/>
            <a:ext cx="365760" cy="365760"/>
          </a:xfrm>
          <a:prstGeom prst="ellipse">
            <a:avLst/>
          </a:prstGeom>
          <a:solidFill>
            <a:schemeClr val="tx2"/>
          </a:solidFill>
          <a:ln>
            <a:solidFill>
              <a:schemeClr val="tx2"/>
            </a:solidFill>
          </a:ln>
        </p:spPr>
        <p:txBody>
          <a:bodyPr wrap="square" lIns="0" tIns="0" rIns="0" bIns="0" rtlCol="0" anchor="ctr"/>
          <a:lstStyle/>
          <a:p>
            <a:pPr rtl="1" algn="ctr" indent="0" marL="0">
              <a:buNone/>
            </a:pPr>
            <a:r>
              <a:rPr lang="en-US" sz="1300" b="1" dirty="0">
                <a:solidFill>
                  <a:schemeClr val="bg1"/>
                </a:solidFill>
                <a:latin typeface="Arial" pitchFamily="34" charset="0"/>
                <a:ea typeface="Arial" pitchFamily="34" charset="-122"/>
                <a:cs typeface="Arial" pitchFamily="34" charset="-120"/>
              </a:rPr>
              <a:t>3</a:t>
            </a:r>
            <a:endParaRPr lang="en-US" sz="1300" dirty="0"/>
          </a:p>
        </p:txBody>
      </p:sp>
      <p:sp>
        <p:nvSpPr>
          <p:cNvPr id="17" name="Text 12"/>
          <p:cNvSpPr txBox="1"/>
          <p:nvPr/>
        </p:nvSpPr>
        <p:spPr>
          <a:xfrm>
            <a:off x="6430975" y="4206240"/>
            <a:ext cx="4206240" cy="1828800"/>
          </a:xfrm>
          <a:prstGeom prst="rect">
            <a:avLst/>
          </a:prstGeom>
          <a:noFill/>
          <a:ln/>
        </p:spPr>
        <p:txBody>
          <a:bodyPr wrap="square" lIns="50800" tIns="50800" rIns="50800" bIns="50800" rtlCol="0" anchor="ctr"/>
          <a:lstStyle/>
          <a:p>
            <a:pPr rtl="1" algn="r" indent="0" marL="0">
              <a:lnSpc>
                <a:spcPct val="110000"/>
              </a:lnSpc>
              <a:buNone/>
            </a:pPr>
            <a:r>
              <a:rPr lang="he-IL" altLang="en-US" sz="1900" b="1" dirty="0">
                <a:solidFill>
                  <a:schemeClr val="tx2"/>
                </a:solidFill>
                <a:latin typeface="Arial" pitchFamily="34" charset="0"/>
                <a:ea typeface="Arial" pitchFamily="34" charset="-122"/>
                <a:cs typeface="Arial" pitchFamily="34" charset="-120"/>
              </a:rPr>
              <a:t>חינוך לבריאות</a:t>
            </a:r>
            <a:pPr rtl="1" algn="r" indent="0" marL="0">
              <a:lnSpc>
                <a:spcPct val="110000"/>
              </a:lnSpc>
              <a:buNone/>
            </a:pPr>
            <a:r>
              <a:rPr lang="he-IL" altLang="en-US" sz="1700" dirty="0">
                <a:solidFill>
                  <a:schemeClr val="tx1"/>
                </a:solidFill>
                <a:latin typeface="Arial" pitchFamily="34" charset="0"/>
                <a:ea typeface="Arial" pitchFamily="34" charset="-122"/>
                <a:cs typeface="Arial" pitchFamily="34" charset="-120"/>
              </a:rPr>
              <a:t> או HEALTH EDUCATION</a:t>
            </a:r>
            <a:endParaRPr lang="he-IL" sz="1700" dirty="0"/>
          </a:p>
        </p:txBody>
      </p:sp>
      <p:sp>
        <p:nvSpPr>
          <p:cNvPr id="18" name="Shape 13"/>
          <p:cNvSpPr/>
          <p:nvPr/>
        </p:nvSpPr>
        <p:spPr>
          <a:xfrm>
            <a:off x="551383" y="3977640"/>
            <a:ext cx="5394960" cy="2240280"/>
          </a:xfrm>
          <a:prstGeom prst="roundRect">
            <a:avLst>
              <a:gd name="adj" fmla="val 4898"/>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19" name="Shape 14"/>
          <p:cNvSpPr/>
          <p:nvPr/>
        </p:nvSpPr>
        <p:spPr>
          <a:xfrm>
            <a:off x="4986223" y="4251960"/>
            <a:ext cx="731520" cy="731520"/>
          </a:xfrm>
          <a:prstGeom prst="ellipse">
            <a:avLst/>
          </a:prstGeom>
          <a:solidFill>
            <a:schemeClr val="accent2"/>
          </a:solidFill>
          <a:ln w="12700">
            <a:solidFill>
              <a:schemeClr val="accent2"/>
            </a:solidFill>
            <a:prstDash val="solid"/>
          </a:ln>
        </p:spPr>
      </p:sp>
      <p:pic>
        <p:nvPicPr>
          <p:cNvPr id="20" name="Image 3" descr="preencoded.png">    </p:cNvPr>
          <p:cNvPicPr>
            <a:picLocks noChangeAspect="1"/>
          </p:cNvPicPr>
          <p:nvPr/>
        </p:nvPicPr>
        <p:blipFill>
          <a:blip r:embed="rId4"/>
          <a:stretch>
            <a:fillRect/>
          </a:stretch>
        </p:blipFill>
        <p:spPr>
          <a:xfrm>
            <a:off x="5176418" y="4442155"/>
            <a:ext cx="351130" cy="351130"/>
          </a:xfrm>
          <a:prstGeom prst="rect">
            <a:avLst/>
          </a:prstGeom>
        </p:spPr>
      </p:pic>
      <p:sp>
        <p:nvSpPr>
          <p:cNvPr id="21" name="Text 15"/>
          <p:cNvSpPr/>
          <p:nvPr/>
        </p:nvSpPr>
        <p:spPr>
          <a:xfrm>
            <a:off x="5443423" y="5074920"/>
            <a:ext cx="365760" cy="365760"/>
          </a:xfrm>
          <a:prstGeom prst="ellipse">
            <a:avLst/>
          </a:prstGeom>
          <a:solidFill>
            <a:schemeClr val="tx2"/>
          </a:solidFill>
          <a:ln>
            <a:solidFill>
              <a:schemeClr val="tx2"/>
            </a:solidFill>
          </a:ln>
        </p:spPr>
        <p:txBody>
          <a:bodyPr wrap="square" lIns="0" tIns="0" rIns="0" bIns="0" rtlCol="0" anchor="ctr"/>
          <a:lstStyle/>
          <a:p>
            <a:pPr rtl="1" algn="ctr" indent="0" marL="0">
              <a:buNone/>
            </a:pPr>
            <a:r>
              <a:rPr lang="en-US" sz="1300" b="1" dirty="0">
                <a:solidFill>
                  <a:schemeClr val="bg1"/>
                </a:solidFill>
                <a:latin typeface="Arial" pitchFamily="34" charset="0"/>
                <a:ea typeface="Arial" pitchFamily="34" charset="-122"/>
                <a:cs typeface="Arial" pitchFamily="34" charset="-120"/>
              </a:rPr>
              <a:t>4</a:t>
            </a:r>
            <a:endParaRPr lang="en-US" sz="1300" dirty="0"/>
          </a:p>
        </p:txBody>
      </p:sp>
      <p:sp>
        <p:nvSpPr>
          <p:cNvPr id="22" name="Text 16"/>
          <p:cNvSpPr txBox="1"/>
          <p:nvPr/>
        </p:nvSpPr>
        <p:spPr>
          <a:xfrm>
            <a:off x="734263" y="4206240"/>
            <a:ext cx="4206240" cy="1828800"/>
          </a:xfrm>
          <a:prstGeom prst="rect">
            <a:avLst/>
          </a:prstGeom>
          <a:noFill/>
          <a:ln/>
        </p:spPr>
        <p:txBody>
          <a:bodyPr wrap="square" lIns="50800" tIns="50800" rIns="50800" bIns="50800" rtlCol="0" anchor="ctr"/>
          <a:lstStyle/>
          <a:p>
            <a:pPr rtl="1" algn="r" indent="0" marL="0">
              <a:lnSpc>
                <a:spcPct val="110000"/>
              </a:lnSpc>
              <a:buNone/>
            </a:pPr>
            <a:r>
              <a:rPr lang="he-IL" altLang="en-US" sz="1900" b="1" dirty="0">
                <a:solidFill>
                  <a:schemeClr val="tx2"/>
                </a:solidFill>
                <a:latin typeface="Arial" pitchFamily="34" charset="0"/>
                <a:ea typeface="Arial" pitchFamily="34" charset="-122"/>
                <a:cs typeface="Arial" pitchFamily="34" charset="-120"/>
              </a:rPr>
              <a:t>קידום הבריאות</a:t>
            </a:r>
            <a:pPr rtl="1" algn="r" indent="0" marL="0">
              <a:lnSpc>
                <a:spcPct val="110000"/>
              </a:lnSpc>
              <a:buNone/>
            </a:pPr>
            <a:r>
              <a:rPr lang="he-IL" altLang="en-US" sz="1400" b="1" dirty="0">
                <a:solidFill>
                  <a:schemeClr val="accent1"/>
                </a:solidFill>
                <a:latin typeface="Arial" pitchFamily="34" charset="0"/>
                <a:ea typeface="Arial" pitchFamily="34" charset="-122"/>
                <a:cs typeface="Arial" pitchFamily="34" charset="-120"/>
              </a:rPr>
              <a:t> או HEALTH PROMOTION -</a:t>
            </a:r>
            <a:endParaRPr lang="he-IL" sz="1700" dirty="0"/>
          </a:p>
          <a:p>
            <a:pPr rtl="1" algn="r" indent="0" marL="0">
              <a:lnSpc>
                <a:spcPct val="110000"/>
              </a:lnSpc>
              <a:buNone/>
            </a:pPr>
            <a:r>
              <a:rPr lang="he-IL" altLang="en-US" sz="1700" dirty="0">
                <a:solidFill>
                  <a:schemeClr val="tx1"/>
                </a:solidFill>
                <a:latin typeface="Arial" pitchFamily="34" charset="0"/>
                <a:ea typeface="Arial" pitchFamily="34" charset="-122"/>
                <a:cs typeface="Arial" pitchFamily="34" charset="-120"/>
              </a:rPr>
              <a:t>תהליך המאפשר לבני האדם להגביר את בקרתם על בריאותם ואף לשפרה.</a:t>
            </a:r>
            <a:endParaRPr lang="he-IL" sz="17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תרגיל טבלת השוואה קליניקה מול בריאות הציבור</a:t>
            </a:r>
            <a:endParaRPr lang="he-IL"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4480560"/>
                <a:gridCol w="4480560"/>
                <a:gridCol w="2130552"/>
              </a:tblGrid>
              <a:tr h="438912">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בריאות הציבור</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טיפול קליני</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רכיב</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r>
              <a:tr h="438912">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ראשונית</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שניונית ושלישונית</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2"/>
                          </a:solidFill>
                          <a:latin typeface="Arial" pitchFamily="34" charset="0"/>
                          <a:ea typeface="Arial" pitchFamily="34" charset="-122"/>
                          <a:cs typeface="Arial" pitchFamily="34" charset="-120"/>
                        </a:rPr>
                        <a:t>רמת המניעה</a:t>
                      </a:r>
                      <a:endParaRPr lang="en-US" sz="15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438912">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האוכלוסייה</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המטופל</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2"/>
                          </a:solidFill>
                          <a:latin typeface="Arial" pitchFamily="34" charset="0"/>
                          <a:ea typeface="Arial" pitchFamily="34" charset="-122"/>
                          <a:cs typeface="Arial" pitchFamily="34" charset="-120"/>
                        </a:rPr>
                        <a:t>קהל היעד</a:t>
                      </a:r>
                      <a:endParaRPr lang="en-US" sz="15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548640">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מניעה, שינוי סביבתי לקידום בריאות</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לתת כלים כדי להגיע לשיפור, איזון, ריפוי</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2"/>
                          </a:solidFill>
                          <a:latin typeface="Arial" pitchFamily="34" charset="0"/>
                          <a:ea typeface="Arial" pitchFamily="34" charset="-122"/>
                          <a:cs typeface="Arial" pitchFamily="34" charset="-120"/>
                        </a:rPr>
                        <a:t>מיקוד הפעולה</a:t>
                      </a:r>
                      <a:endParaRPr lang="en-US" sz="15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438912">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בכל מקום</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קליניקה, בית המטופל, מוסד רפואי</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2"/>
                          </a:solidFill>
                          <a:latin typeface="Arial" pitchFamily="34" charset="0"/>
                          <a:ea typeface="Arial" pitchFamily="34" charset="-122"/>
                          <a:cs typeface="Arial" pitchFamily="34" charset="-120"/>
                        </a:rPr>
                        <a:t>מקום הפעילות</a:t>
                      </a:r>
                      <a:endParaRPr lang="en-US" sz="15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960120">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סקרים, שאלונים, מיפוי קב סיכון, סימון תזונתי, שינוי תקנות ונהלים, בקרות, הדרכות, מיסוי, הגבלת קטגוריות , שינוי תפריט מוסדי</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אנמנזה, בדיקות..., אבחנה, מדידות, תפריט, הנחיות, שאלון הרגלים, הדרכה אישית</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2"/>
                          </a:solidFill>
                          <a:latin typeface="Arial" pitchFamily="34" charset="0"/>
                          <a:ea typeface="Arial" pitchFamily="34" charset="-122"/>
                          <a:cs typeface="Arial" pitchFamily="34" charset="-120"/>
                        </a:rPr>
                        <a:t>כלים</a:t>
                      </a:r>
                      <a:endParaRPr lang="en-US" sz="15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1234440">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עבודת צוות, יצירתיות, אורך רוח, יכולת ניתוח נתונים, תיווך, בניית תהליכים והנעה, התמקדות בכלל, תכלול, ראייה רחבה, גיוס שותפים,</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latin typeface="Arial" pitchFamily="34" charset="0"/>
                          <a:ea typeface="Arial" pitchFamily="34" charset="-122"/>
                          <a:cs typeface="Arial" pitchFamily="34" charset="-120"/>
                        </a:rPr>
                        <a:t>שאילת שאלות, אמפטיה, הקשבה, תקשורת בין אישית,</a:t>
                      </a:r>
                      <a:endParaRPr lang="en-US" sz="1400" dirty="0">
                        <a:latin typeface="Arial" charset="0"/>
                        <a:ea typeface="Arial" charset="0"/>
                        <a:cs typeface="Arial" charset="0"/>
                      </a:endParaRPr>
                    </a:p>
                    <a:p>
                      <a:pPr rtl="1" algn="r" indent="0" marL="0">
                        <a:buNone/>
                      </a:pPr>
                      <a:r>
                        <a:rPr lang="en-US" sz="1400" dirty="0">
                          <a:solidFill>
                            <a:schemeClr val="tx1"/>
                          </a:solidFill>
                          <a:latin typeface="Arial" pitchFamily="34" charset="0"/>
                          <a:ea typeface="Arial" pitchFamily="34" charset="-122"/>
                          <a:cs typeface="Arial" pitchFamily="34" charset="-120"/>
                        </a:rPr>
                        <a:t>ראיית תמונה רחבה, ראיון מוטיבציוני, הנעה לפעולה</a:t>
                      </a:r>
                      <a:endParaRPr lang="en-US" sz="1400" dirty="0">
                        <a:latin typeface="Arial" charset="0"/>
                        <a:ea typeface="Arial" charset="0"/>
                        <a:cs typeface="Arial" charset="0"/>
                      </a:endParaRPr>
                    </a:p>
                    <a:p>
                      <a:pPr rtl="1" algn="r" indent="0" marL="0">
                        <a:buNone/>
                      </a:pPr>
                      <a:r>
                        <a:rPr lang="en-US" sz="1400" dirty="0">
                          <a:solidFill>
                            <a:schemeClr val="tx1"/>
                          </a:solidFill>
                          <a:latin typeface="Arial" pitchFamily="34" charset="0"/>
                          <a:ea typeface="Arial" pitchFamily="34" charset="-122"/>
                          <a:cs typeface="Arial" pitchFamily="34" charset="-120"/>
                        </a:rPr>
                        <a:t>מיומויות קליניות, תשאול, מעקב...עבודת צוות</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500" b="1" dirty="0">
                          <a:solidFill>
                            <a:schemeClr val="tx2"/>
                          </a:solidFill>
                          <a:latin typeface="Arial" pitchFamily="34" charset="0"/>
                          <a:ea typeface="Arial" pitchFamily="34" charset="-122"/>
                          <a:cs typeface="Arial" pitchFamily="34" charset="-120"/>
                        </a:rPr>
                        <a:t>מיומנויות נדרשות</a:t>
                      </a:r>
                      <a:endParaRPr lang="en-US" sz="15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תרגיל טבלת השוואה קליניקה מול בריאות הציבור</a:t>
            </a:r>
            <a:endParaRPr lang="he-IL"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4480560"/>
                <a:gridCol w="4480560"/>
                <a:gridCol w="2130552"/>
              </a:tblGrid>
              <a:tr h="502920">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בריאות הציבור</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טיפול קליני</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רכיב</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r>
              <a:tr h="731520">
                <a:tc>
                  <a:txBody>
                    <a:bodyPr/>
                    <a:lstStyle/>
                    <a:p>
                      <a:pPr rtl="1" algn="r" indent="0" marL="0">
                        <a:buNone/>
                      </a:pPr>
                      <a:r>
                        <a:rPr lang="en-US" sz="1700" dirty="0">
                          <a:solidFill>
                            <a:schemeClr val="tx1"/>
                          </a:solidFill>
                          <a:latin typeface="Arial" pitchFamily="34" charset="0"/>
                          <a:ea typeface="Arial" pitchFamily="34" charset="-122"/>
                          <a:cs typeface="Arial" pitchFamily="34" charset="-120"/>
                        </a:rPr>
                        <a:t>ראשונית</a:t>
                      </a:r>
                      <a:endParaRPr lang="en-US" sz="17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700" dirty="0">
                          <a:solidFill>
                            <a:schemeClr val="tx1"/>
                          </a:solidFill>
                          <a:latin typeface="Arial" pitchFamily="34" charset="0"/>
                          <a:ea typeface="Arial" pitchFamily="34" charset="-122"/>
                          <a:cs typeface="Arial" pitchFamily="34" charset="-120"/>
                        </a:rPr>
                        <a:t>שניונית, שלישונית</a:t>
                      </a:r>
                      <a:endParaRPr lang="en-US" sz="17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800" b="1" dirty="0">
                          <a:solidFill>
                            <a:schemeClr val="tx2"/>
                          </a:solidFill>
                          <a:latin typeface="Arial" pitchFamily="34" charset="0"/>
                          <a:ea typeface="Arial" pitchFamily="34" charset="-122"/>
                          <a:cs typeface="Arial" pitchFamily="34" charset="-120"/>
                        </a:rPr>
                        <a:t>רמת המניעה</a:t>
                      </a:r>
                      <a:endParaRPr lang="en-US" sz="18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731520">
                <a:tc>
                  <a:txBody>
                    <a:bodyPr/>
                    <a:lstStyle/>
                    <a:p>
                      <a:pPr rtl="1" algn="r" indent="0" marL="0">
                        <a:buNone/>
                      </a:pPr>
                      <a:r>
                        <a:rPr lang="en-US" sz="1700" dirty="0">
                          <a:solidFill>
                            <a:schemeClr val="tx1"/>
                          </a:solidFill>
                          <a:latin typeface="Arial" pitchFamily="34" charset="0"/>
                          <a:ea typeface="Arial" pitchFamily="34" charset="-122"/>
                          <a:cs typeface="Arial" pitchFamily="34" charset="-120"/>
                        </a:rPr>
                        <a:t>קהילה</a:t>
                      </a:r>
                      <a:endParaRPr lang="en-US" sz="17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700" dirty="0">
                          <a:solidFill>
                            <a:schemeClr val="tx1"/>
                          </a:solidFill>
                          <a:latin typeface="Arial" pitchFamily="34" charset="0"/>
                          <a:ea typeface="Arial" pitchFamily="34" charset="-122"/>
                          <a:cs typeface="Arial" pitchFamily="34" charset="-120"/>
                        </a:rPr>
                        <a:t>מטופל</a:t>
                      </a:r>
                      <a:endParaRPr lang="en-US" sz="17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800" b="1" dirty="0">
                          <a:solidFill>
                            <a:schemeClr val="tx2"/>
                          </a:solidFill>
                          <a:latin typeface="Arial" pitchFamily="34" charset="0"/>
                          <a:ea typeface="Arial" pitchFamily="34" charset="-122"/>
                          <a:cs typeface="Arial" pitchFamily="34" charset="-120"/>
                        </a:rPr>
                        <a:t>קהל היעד</a:t>
                      </a:r>
                      <a:endParaRPr lang="en-US" sz="18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731520">
                <a:tc>
                  <a:txBody>
                    <a:bodyPr/>
                    <a:lstStyle/>
                    <a:p>
                      <a:pPr rtl="1" algn="r" indent="0" marL="0">
                        <a:buNone/>
                      </a:pPr>
                      <a:r>
                        <a:rPr lang="en-US" sz="1700" dirty="0">
                          <a:solidFill>
                            <a:schemeClr val="tx1"/>
                          </a:solidFill>
                          <a:latin typeface="Arial" pitchFamily="34" charset="0"/>
                          <a:ea typeface="Arial" pitchFamily="34" charset="-122"/>
                          <a:cs typeface="Arial" pitchFamily="34" charset="-120"/>
                        </a:rPr>
                        <a:t>מניעה וקידום בריאות</a:t>
                      </a:r>
                      <a:endParaRPr lang="en-US" sz="17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700" dirty="0">
                          <a:solidFill>
                            <a:schemeClr val="tx1"/>
                          </a:solidFill>
                          <a:latin typeface="Arial" pitchFamily="34" charset="0"/>
                          <a:ea typeface="Arial" pitchFamily="34" charset="-122"/>
                          <a:cs typeface="Arial" pitchFamily="34" charset="-120"/>
                        </a:rPr>
                        <a:t>ריפוי, איזון</a:t>
                      </a:r>
                      <a:endParaRPr lang="en-US" sz="17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800" b="1" dirty="0">
                          <a:solidFill>
                            <a:schemeClr val="tx2"/>
                          </a:solidFill>
                          <a:latin typeface="Arial" pitchFamily="34" charset="0"/>
                          <a:ea typeface="Arial" pitchFamily="34" charset="-122"/>
                          <a:cs typeface="Arial" pitchFamily="34" charset="-120"/>
                        </a:rPr>
                        <a:t>מיקוד הפעולה</a:t>
                      </a:r>
                      <a:endParaRPr lang="en-US" sz="18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1005840">
                <a:tc>
                  <a:txBody>
                    <a:bodyPr/>
                    <a:lstStyle/>
                    <a:p>
                      <a:pPr rtl="1" algn="r" indent="0" marL="0">
                        <a:buNone/>
                      </a:pPr>
                      <a:r>
                        <a:rPr lang="en-US" sz="1700" dirty="0">
                          <a:solidFill>
                            <a:schemeClr val="tx1"/>
                          </a:solidFill>
                          <a:latin typeface="Arial" pitchFamily="34" charset="0"/>
                          <a:ea typeface="Arial" pitchFamily="34" charset="-122"/>
                          <a:cs typeface="Arial" pitchFamily="34" charset="-120"/>
                        </a:rPr>
                        <a:t>מסגרות שונות: בתי ספר, מקומות עבודה, רשויות מקומיות, משרדי ממשלה ועוד..</a:t>
                      </a:r>
                      <a:endParaRPr lang="en-US" sz="17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700" dirty="0">
                          <a:solidFill>
                            <a:schemeClr val="tx1"/>
                          </a:solidFill>
                          <a:latin typeface="Arial" pitchFamily="34" charset="0"/>
                          <a:ea typeface="Arial" pitchFamily="34" charset="-122"/>
                          <a:cs typeface="Arial" pitchFamily="34" charset="-120"/>
                        </a:rPr>
                        <a:t>קליניקה, בית חולים, מרכז רפואי</a:t>
                      </a:r>
                      <a:endParaRPr lang="en-US" sz="17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800" b="1" dirty="0">
                          <a:solidFill>
                            <a:schemeClr val="tx2"/>
                          </a:solidFill>
                          <a:latin typeface="Arial" pitchFamily="34" charset="0"/>
                          <a:ea typeface="Arial" pitchFamily="34" charset="-122"/>
                          <a:cs typeface="Arial" pitchFamily="34" charset="-120"/>
                        </a:rPr>
                        <a:t>מקום הפעילות</a:t>
                      </a:r>
                      <a:endParaRPr lang="en-US" sz="18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9692640" y="5989320"/>
            <a:ext cx="1947672" cy="320040"/>
          </a:xfrm>
          <a:prstGeom prst="rect">
            <a:avLst/>
          </a:prstGeom>
          <a:noFill/>
          <a:ln/>
        </p:spPr>
        <p:txBody>
          <a:bodyPr wrap="square" lIns="50800" tIns="50800" rIns="50800" bIns="50800" rtlCol="0" anchor="t"/>
          <a:lstStyle/>
          <a:p>
            <a:pPr rtl="1" algn="r" indent="0" marL="0">
              <a:buNone/>
            </a:pPr>
            <a:r>
              <a:rPr lang="he-IL" altLang="en-US" sz="1200" dirty="0">
                <a:solidFill>
                  <a:schemeClr val="accent1"/>
                </a:solidFill>
                <a:latin typeface="Arial" pitchFamily="34" charset="0"/>
                <a:ea typeface="Arial" pitchFamily="34" charset="-122"/>
                <a:cs typeface="Arial" pitchFamily="34" charset="-120"/>
              </a:rPr>
              <a:t>(1/2)</a:t>
            </a:r>
            <a:endParaRPr lang="he-IL" sz="12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תרגיל טבלת השוואה קליניקה מול בריאות הציבור</a:t>
            </a:r>
            <a:endParaRPr lang="he-IL"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480560"/>
                <a:gridCol w="4480560"/>
                <a:gridCol w="2130552"/>
              </a:tblGrid>
              <a:tr h="411480">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בריאות הציבור</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טיפול קליני</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c>
                  <a:txBody>
                    <a:bodyPr/>
                    <a:lstStyle/>
                    <a:p>
                      <a:pPr rtl="1" algn="r" indent="0" marL="0">
                        <a:buNone/>
                      </a:pPr>
                      <a:r>
                        <a:rPr lang="en-US" sz="1600" b="1" dirty="0">
                          <a:solidFill>
                            <a:schemeClr val="bg1"/>
                          </a:solidFill>
                          <a:latin typeface="Arial" pitchFamily="34" charset="0"/>
                          <a:ea typeface="Arial" pitchFamily="34" charset="-122"/>
                          <a:cs typeface="Arial" pitchFamily="34" charset="-120"/>
                        </a:rPr>
                        <a:t>רכיב</a:t>
                      </a:r>
                      <a:endParaRPr lang="en-US" sz="16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tx2"/>
                    </a:solidFill>
                  </a:tcPr>
                </a:tc>
              </a:tr>
              <a:tr h="1828800">
                <a:tc>
                  <a:txBody>
                    <a:bodyPr/>
                    <a:lstStyle/>
                    <a:p>
                      <a:pPr rtl="1" algn="r" indent="0" marL="0">
                        <a:buNone/>
                      </a:pPr>
                      <a:r>
                        <a:rPr lang="en-US" sz="1300" dirty="0">
                          <a:solidFill>
                            <a:schemeClr val="tx1"/>
                          </a:solidFill>
                          <a:latin typeface="Arial" pitchFamily="34" charset="0"/>
                          <a:ea typeface="Arial" pitchFamily="34" charset="-122"/>
                          <a:cs typeface="Arial" pitchFamily="34" charset="-120"/>
                        </a:rPr>
                        <a:t>אבחון תזונתי קהילה:</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איסוף נתונים, זיהוי גורמים משפיעים, איסוף נתונים ע"י: תצפית, שאלונים, קבוצות מיקוד, סקרים, רתימה לשיתופי פעולה, זיהוי אוכלוסיות היעד, שינוי נורמה חברתית להתמודד עם התנגדויות מצד הצוות, או מצד ההורים.</a:t>
                      </a:r>
                      <a:endParaRPr lang="en-US" sz="13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300" dirty="0">
                          <a:solidFill>
                            <a:schemeClr val="tx1"/>
                          </a:solidFill>
                          <a:latin typeface="Arial" pitchFamily="34" charset="0"/>
                          <a:ea typeface="Arial" pitchFamily="34" charset="-122"/>
                          <a:cs typeface="Arial" pitchFamily="34" charset="-120"/>
                        </a:rPr>
                        <a:t>אנמנזה ואבחון תזונתי פרטני:</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תיק רפואי</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בדיקות דם</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היסטוריה רפואית</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היסטוריה תזונתית</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אנמנזה תזונתית</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הנחיות תזונתיות כתובות</a:t>
                      </a:r>
                      <a:endParaRPr lang="en-US" sz="13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b="1" dirty="0">
                          <a:solidFill>
                            <a:schemeClr val="tx2"/>
                          </a:solidFill>
                          <a:latin typeface="Arial" pitchFamily="34" charset="0"/>
                          <a:ea typeface="Arial" pitchFamily="34" charset="-122"/>
                          <a:cs typeface="Arial" pitchFamily="34" charset="-120"/>
                        </a:rPr>
                        <a:t>כלים</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960120">
                <a:tc>
                  <a:txBody>
                    <a:bodyPr/>
                    <a:lstStyle/>
                    <a:p>
                      <a:pPr rtl="1" algn="r" indent="0" marL="0">
                        <a:buNone/>
                      </a:pPr>
                      <a:r>
                        <a:rPr lang="en-US" sz="1300" dirty="0">
                          <a:solidFill>
                            <a:schemeClr val="tx1"/>
                          </a:solidFill>
                          <a:latin typeface="Arial" pitchFamily="34" charset="0"/>
                          <a:ea typeface="Arial" pitchFamily="34" charset="-122"/>
                          <a:cs typeface="Arial" pitchFamily="34" charset="-120"/>
                        </a:rPr>
                        <a:t>שינוי בידע ועמדות</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שינוי במגמות תחלואה</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שינוי מדיניות</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אחוז החשיפה לתוכנית</a:t>
                      </a:r>
                      <a:endParaRPr lang="en-US" sz="13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300" dirty="0">
                          <a:solidFill>
                            <a:schemeClr val="tx1"/>
                          </a:solidFill>
                          <a:latin typeface="Arial" pitchFamily="34" charset="0"/>
                          <a:ea typeface="Arial" pitchFamily="34" charset="-122"/>
                          <a:cs typeface="Arial" pitchFamily="34" charset="-120"/>
                        </a:rPr>
                        <a:t>שינוי במדדי בדיקות דם,</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שינוי במשקל,</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תהליך שיפור בהתייחסות לאוכל ואכילה</a:t>
                      </a:r>
                      <a:endParaRPr lang="en-US" sz="13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b="1" dirty="0">
                          <a:solidFill>
                            <a:schemeClr val="tx2"/>
                          </a:solidFill>
                          <a:latin typeface="Arial" pitchFamily="34" charset="0"/>
                          <a:ea typeface="Arial" pitchFamily="34" charset="-122"/>
                          <a:cs typeface="Arial" pitchFamily="34" charset="-120"/>
                        </a:rPr>
                        <a:t>מדדי הצלחה</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r h="1417320">
                <a:tc>
                  <a:txBody>
                    <a:bodyPr/>
                    <a:lstStyle/>
                    <a:p>
                      <a:pPr rtl="1" algn="r" indent="0" marL="0">
                        <a:buNone/>
                      </a:pPr>
                      <a:r>
                        <a:rPr lang="en-US" sz="1300" dirty="0">
                          <a:solidFill>
                            <a:schemeClr val="tx1"/>
                          </a:solidFill>
                          <a:latin typeface="Arial" pitchFamily="34" charset="0"/>
                          <a:ea typeface="Arial" pitchFamily="34" charset="-122"/>
                          <a:cs typeface="Arial" pitchFamily="34" charset="-120"/>
                        </a:rPr>
                        <a:t>יכולת גיוס ושכנוע</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סינגור</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אפשור</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גישור</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הנחיית קבוצות</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יצירתיות</a:t>
                      </a:r>
                      <a:endParaRPr lang="en-US" sz="13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300" dirty="0">
                          <a:solidFill>
                            <a:schemeClr val="tx1"/>
                          </a:solidFill>
                          <a:latin typeface="Arial" pitchFamily="34" charset="0"/>
                          <a:ea typeface="Arial" pitchFamily="34" charset="-122"/>
                          <a:cs typeface="Arial" pitchFamily="34" charset="-120"/>
                        </a:rPr>
                        <a:t>מיומנויות תשאול</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ייעוץ</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מעקב</a:t>
                      </a:r>
                      <a:endParaRPr lang="en-US" sz="1300" dirty="0">
                        <a:latin typeface="Arial" charset="0"/>
                        <a:ea typeface="Arial" charset="0"/>
                        <a:cs typeface="Arial" charset="0"/>
                      </a:endParaRPr>
                    </a:p>
                    <a:p>
                      <a:pPr rtl="1" algn="r" indent="0" marL="0">
                        <a:buNone/>
                      </a:pPr>
                      <a:r>
                        <a:rPr lang="en-US" sz="1300" dirty="0">
                          <a:solidFill>
                            <a:schemeClr val="tx1"/>
                          </a:solidFill>
                          <a:latin typeface="Arial" pitchFamily="34" charset="0"/>
                          <a:ea typeface="Arial" pitchFamily="34" charset="-122"/>
                          <a:cs typeface="Arial" pitchFamily="34" charset="-120"/>
                        </a:rPr>
                        <a:t>הדרכה פרטנית</a:t>
                      </a:r>
                      <a:endParaRPr lang="en-US" sz="13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1"/>
                    </a:solidFill>
                  </a:tcPr>
                </a:tc>
                <a:tc>
                  <a:txBody>
                    <a:bodyPr/>
                    <a:lstStyle/>
                    <a:p>
                      <a:pPr rtl="1" algn="r" indent="0" marL="0">
                        <a:buNone/>
                      </a:pPr>
                      <a:r>
                        <a:rPr lang="en-US" sz="1400" b="1" dirty="0">
                          <a:solidFill>
                            <a:schemeClr val="tx2"/>
                          </a:solidFill>
                          <a:latin typeface="Arial" pitchFamily="34" charset="0"/>
                          <a:ea typeface="Arial" pitchFamily="34" charset="-122"/>
                          <a:cs typeface="Arial" pitchFamily="34" charset="-120"/>
                        </a:rPr>
                        <a:t>מיומנויות נדרשות</a:t>
                      </a:r>
                      <a:endParaRPr lang="en-US" sz="1400" dirty="0">
                        <a:latin typeface="Arial" charset="0"/>
                        <a:ea typeface="Arial" charset="0"/>
                        <a:cs typeface="Arial" charset="0"/>
                      </a:endParaRPr>
                    </a:p>
                  </a:txBody>
                  <a:tcPr marL="73152" marR="73152" marT="73152" marB="73152" anchor="ctr">
                    <a:lnL w="9525" cap="flat" cmpd="sng" algn="ctr">
                      <a:solidFill>
                        <a:srgbClr val="C9DED7"/>
                      </a:solidFill>
                      <a:prstDash val="solid"/>
                      <a:round/>
                      <a:headEnd type="none" w="med" len="med"/>
                      <a:tailEnd type="none" w="med" len="med"/>
                    </a:lnL>
                    <a:lnR w="9525" cap="flat" cmpd="sng" algn="ctr">
                      <a:solidFill>
                        <a:srgbClr val="C9DED7"/>
                      </a:solidFill>
                      <a:prstDash val="solid"/>
                      <a:round/>
                      <a:headEnd type="none" w="med" len="med"/>
                      <a:tailEnd type="none" w="med" len="med"/>
                    </a:lnR>
                    <a:lnT w="9525" cap="flat" cmpd="sng" algn="ctr">
                      <a:solidFill>
                        <a:srgbClr val="C9DED7"/>
                      </a:solidFill>
                      <a:prstDash val="solid"/>
                      <a:round/>
                      <a:headEnd type="none" w="med" len="med"/>
                      <a:tailEnd type="none" w="med" len="med"/>
                    </a:lnT>
                    <a:lnB w="9525" cap="flat" cmpd="sng" algn="ctr">
                      <a:solidFill>
                        <a:srgbClr val="C9DED7"/>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9692640" y="6355080"/>
            <a:ext cx="1947672" cy="320040"/>
          </a:xfrm>
          <a:prstGeom prst="rect">
            <a:avLst/>
          </a:prstGeom>
          <a:noFill/>
          <a:ln/>
        </p:spPr>
        <p:txBody>
          <a:bodyPr wrap="square" lIns="50800" tIns="50800" rIns="50800" bIns="50800" rtlCol="0" anchor="t"/>
          <a:lstStyle/>
          <a:p>
            <a:pPr rtl="1" algn="r" indent="0" marL="0">
              <a:buNone/>
            </a:pPr>
            <a:r>
              <a:rPr lang="he-IL" altLang="en-US" sz="1200" dirty="0">
                <a:solidFill>
                  <a:schemeClr val="accent1"/>
                </a:solidFill>
                <a:latin typeface="Arial" pitchFamily="34" charset="0"/>
                <a:ea typeface="Arial" pitchFamily="34" charset="-122"/>
                <a:cs typeface="Arial" pitchFamily="34" charset="-120"/>
              </a:rPr>
              <a:t>(2/2)</a:t>
            </a:r>
            <a:endParaRPr lang="he-IL" sz="12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אבחון קהילתי</a:t>
            </a:r>
            <a:endParaRPr lang="he-IL" sz="3000" dirty="0"/>
          </a:p>
        </p:txBody>
      </p:sp>
      <p:pic>
        <p:nvPicPr>
          <p:cNvPr id="3" name="Image 0" descr="קבוצת אנשים סביב שולחן עבודה">    </p:cNvPr>
          <p:cNvPicPr>
            <a:picLocks noChangeAspect="1"/>
          </p:cNvPicPr>
          <p:nvPr/>
        </p:nvPicPr>
        <p:blipFill>
          <a:blip r:embed="rId1"/>
          <a:stretch>
            <a:fillRect/>
          </a:stretch>
        </p:blipFill>
        <p:spPr>
          <a:xfrm>
            <a:off x="548640" y="1737360"/>
            <a:ext cx="3931920" cy="2744074"/>
          </a:xfrm>
          <a:prstGeom prst="rect">
            <a:avLst/>
          </a:prstGeom>
        </p:spPr>
      </p:pic>
      <p:sp>
        <p:nvSpPr>
          <p:cNvPr id="4" name="Shape 1"/>
          <p:cNvSpPr/>
          <p:nvPr/>
        </p:nvSpPr>
        <p:spPr>
          <a:xfrm>
            <a:off x="4846320" y="1417320"/>
            <a:ext cx="6793992" cy="960120"/>
          </a:xfrm>
          <a:prstGeom prst="roundRect">
            <a:avLst>
              <a:gd name="adj" fmla="val 11429"/>
            </a:avLst>
          </a:prstGeom>
          <a:solidFill>
            <a:schemeClr val="bg2"/>
          </a:solidFill>
          <a:ln w="12700">
            <a:solidFill>
              <a:schemeClr val="bg2"/>
            </a:solidFill>
            <a:prstDash val="solid"/>
          </a:ln>
        </p:spPr>
      </p:sp>
      <p:sp>
        <p:nvSpPr>
          <p:cNvPr id="5" name="Text 2"/>
          <p:cNvSpPr txBox="1"/>
          <p:nvPr/>
        </p:nvSpPr>
        <p:spPr>
          <a:xfrm>
            <a:off x="5029200" y="1463040"/>
            <a:ext cx="6446520" cy="868680"/>
          </a:xfrm>
          <a:prstGeom prst="rect">
            <a:avLst/>
          </a:prstGeom>
          <a:noFill/>
          <a:ln/>
        </p:spPr>
        <p:txBody>
          <a:bodyPr wrap="square" lIns="50800" tIns="50800" rIns="50800" bIns="50800" rtlCol="0" anchor="ctr"/>
          <a:lstStyle/>
          <a:p>
            <a:pPr rtl="1" algn="r" indent="0" marL="0">
              <a:buNone/>
            </a:pPr>
            <a:r>
              <a:rPr lang="he-IL" altLang="en-US" sz="1900" b="1" dirty="0">
                <a:solidFill>
                  <a:schemeClr val="tx2"/>
                </a:solidFill>
                <a:latin typeface="Arial" pitchFamily="34" charset="0"/>
                <a:ea typeface="Arial" pitchFamily="34" charset="-122"/>
                <a:cs typeface="Arial" pitchFamily="34" charset="-120"/>
              </a:rPr>
              <a:t>תהליך סדור של איתור ועיבוד מידע לצורך קבלת החלטות על התערבות קהילתית.</a:t>
            </a:r>
            <a:endParaRPr lang="he-IL" sz="1900" dirty="0"/>
          </a:p>
        </p:txBody>
      </p:sp>
      <p:sp>
        <p:nvSpPr>
          <p:cNvPr id="6" name="Text 3"/>
          <p:cNvSpPr txBox="1"/>
          <p:nvPr/>
        </p:nvSpPr>
        <p:spPr>
          <a:xfrm>
            <a:off x="5029200" y="2560320"/>
            <a:ext cx="6446520" cy="411480"/>
          </a:xfrm>
          <a:prstGeom prst="rect">
            <a:avLst/>
          </a:prstGeom>
          <a:noFill/>
          <a:ln/>
        </p:spPr>
        <p:txBody>
          <a:bodyPr wrap="square" lIns="50800" tIns="50800" rIns="50800" bIns="50800" rtlCol="0" anchor="t"/>
          <a:lstStyle/>
          <a:p>
            <a:pPr rtl="1" algn="r" indent="0" marL="0">
              <a:buNone/>
            </a:pPr>
            <a:r>
              <a:rPr lang="he-IL" altLang="en-US" sz="1800" b="1" dirty="0">
                <a:solidFill>
                  <a:schemeClr val="accent1"/>
                </a:solidFill>
                <a:latin typeface="Arial" pitchFamily="34" charset="0"/>
                <a:ea typeface="Arial" pitchFamily="34" charset="-122"/>
                <a:cs typeface="Arial" pitchFamily="34" charset="-120"/>
              </a:rPr>
              <a:t>מטרותיו-</a:t>
            </a:r>
            <a:endParaRPr lang="he-IL" sz="1800" dirty="0"/>
          </a:p>
        </p:txBody>
      </p:sp>
      <p:sp>
        <p:nvSpPr>
          <p:cNvPr id="7" name="Text 4"/>
          <p:cNvSpPr/>
          <p:nvPr/>
        </p:nvSpPr>
        <p:spPr>
          <a:xfrm>
            <a:off x="11155680" y="3054096"/>
            <a:ext cx="411480" cy="411480"/>
          </a:xfrm>
          <a:prstGeom prst="ellipse">
            <a:avLst/>
          </a:prstGeom>
          <a:solidFill>
            <a:schemeClr val="accent2"/>
          </a:solidFill>
          <a:ln/>
        </p:spPr>
        <p:txBody>
          <a:bodyPr wrap="square" lIns="0" tIns="0" rIns="0" bIns="0" rtlCol="0" anchor="ctr"/>
          <a:lstStyle/>
          <a:p>
            <a:pPr rtl="1" algn="ctr" indent="0" marL="0">
              <a:buNone/>
            </a:pPr>
            <a:r>
              <a:rPr lang="en-US" sz="1400" b="1" dirty="0">
                <a:solidFill>
                  <a:schemeClr val="bg1"/>
                </a:solidFill>
                <a:latin typeface="Arial" pitchFamily="34" charset="0"/>
                <a:ea typeface="Arial" pitchFamily="34" charset="-122"/>
                <a:cs typeface="Arial" pitchFamily="34" charset="-120"/>
              </a:rPr>
              <a:t>א.</a:t>
            </a:r>
            <a:endParaRPr lang="en-US" sz="1400" dirty="0"/>
          </a:p>
        </p:txBody>
      </p:sp>
      <p:sp>
        <p:nvSpPr>
          <p:cNvPr id="8" name="Text 5"/>
          <p:cNvSpPr txBox="1"/>
          <p:nvPr/>
        </p:nvSpPr>
        <p:spPr>
          <a:xfrm>
            <a:off x="5029200" y="3017520"/>
            <a:ext cx="6035040" cy="502920"/>
          </a:xfrm>
          <a:prstGeom prst="rect">
            <a:avLst/>
          </a:prstGeom>
          <a:noFill/>
          <a:ln/>
        </p:spPr>
        <p:txBody>
          <a:bodyPr wrap="square" lIns="50800" tIns="50800" rIns="50800" bIns="50800" rtlCol="0" anchor="ctr"/>
          <a:lstStyle/>
          <a:p>
            <a:pPr rtl="1" algn="r" indent="0" marL="0">
              <a:buNone/>
            </a:pPr>
            <a:r>
              <a:rPr lang="he-IL" altLang="en-US" sz="1800" dirty="0">
                <a:solidFill>
                  <a:schemeClr val="tx1"/>
                </a:solidFill>
                <a:latin typeface="Arial" pitchFamily="34" charset="0"/>
                <a:ea typeface="Arial" pitchFamily="34" charset="-122"/>
                <a:cs typeface="Arial" pitchFamily="34" charset="-120"/>
              </a:rPr>
              <a:t>הרחבת בסיס המידע של 'בעלי העניין' ומקבלי החלטות.</a:t>
            </a:r>
            <a:endParaRPr lang="he-IL" sz="1800" dirty="0"/>
          </a:p>
        </p:txBody>
      </p:sp>
      <p:sp>
        <p:nvSpPr>
          <p:cNvPr id="9" name="Text 6"/>
          <p:cNvSpPr/>
          <p:nvPr/>
        </p:nvSpPr>
        <p:spPr>
          <a:xfrm>
            <a:off x="11155680" y="3621024"/>
            <a:ext cx="411480" cy="411480"/>
          </a:xfrm>
          <a:prstGeom prst="ellipse">
            <a:avLst/>
          </a:prstGeom>
          <a:solidFill>
            <a:schemeClr val="accent2"/>
          </a:solidFill>
          <a:ln/>
        </p:spPr>
        <p:txBody>
          <a:bodyPr wrap="square" lIns="0" tIns="0" rIns="0" bIns="0" rtlCol="0" anchor="ctr"/>
          <a:lstStyle/>
          <a:p>
            <a:pPr rtl="1" algn="ctr" indent="0" marL="0">
              <a:buNone/>
            </a:pPr>
            <a:r>
              <a:rPr lang="en-US" sz="1400" b="1" dirty="0">
                <a:solidFill>
                  <a:schemeClr val="bg1"/>
                </a:solidFill>
                <a:latin typeface="Arial" pitchFamily="34" charset="0"/>
                <a:ea typeface="Arial" pitchFamily="34" charset="-122"/>
                <a:cs typeface="Arial" pitchFamily="34" charset="-120"/>
              </a:rPr>
              <a:t>ב.</a:t>
            </a:r>
            <a:endParaRPr lang="en-US" sz="1400" dirty="0"/>
          </a:p>
        </p:txBody>
      </p:sp>
      <p:sp>
        <p:nvSpPr>
          <p:cNvPr id="10" name="Text 7"/>
          <p:cNvSpPr txBox="1"/>
          <p:nvPr/>
        </p:nvSpPr>
        <p:spPr>
          <a:xfrm>
            <a:off x="5029200" y="3584448"/>
            <a:ext cx="6035040" cy="502920"/>
          </a:xfrm>
          <a:prstGeom prst="rect">
            <a:avLst/>
          </a:prstGeom>
          <a:noFill/>
          <a:ln/>
        </p:spPr>
        <p:txBody>
          <a:bodyPr wrap="square" lIns="50800" tIns="50800" rIns="50800" bIns="50800" rtlCol="0" anchor="ctr"/>
          <a:lstStyle/>
          <a:p>
            <a:pPr rtl="1" algn="r" indent="0" marL="0">
              <a:buNone/>
            </a:pPr>
            <a:r>
              <a:rPr lang="he-IL" altLang="en-US" sz="1800" dirty="0">
                <a:solidFill>
                  <a:schemeClr val="tx1"/>
                </a:solidFill>
                <a:latin typeface="Arial" pitchFamily="34" charset="0"/>
                <a:ea typeface="Arial" pitchFamily="34" charset="-122"/>
                <a:cs typeface="Arial" pitchFamily="34" charset="-120"/>
              </a:rPr>
              <a:t>ריכוז מידע שימושי למבצעי תכניות קהילתיות.</a:t>
            </a:r>
            <a:endParaRPr lang="he-IL" sz="1800" dirty="0"/>
          </a:p>
        </p:txBody>
      </p:sp>
      <p:sp>
        <p:nvSpPr>
          <p:cNvPr id="11" name="Text 8"/>
          <p:cNvSpPr txBox="1"/>
          <p:nvPr/>
        </p:nvSpPr>
        <p:spPr>
          <a:xfrm>
            <a:off x="5029200" y="4251960"/>
            <a:ext cx="6583680" cy="731520"/>
          </a:xfrm>
          <a:prstGeom prst="rect">
            <a:avLst/>
          </a:prstGeom>
          <a:noFill/>
          <a:ln/>
        </p:spPr>
        <p:txBody>
          <a:bodyPr wrap="square" lIns="50800" tIns="50800" rIns="50800" bIns="50800" rtlCol="0" anchor="t"/>
          <a:lstStyle/>
          <a:p>
            <a:pPr rtl="1" algn="r" indent="0" marL="0">
              <a:buNone/>
            </a:pPr>
            <a:r>
              <a:rPr lang="he-IL" altLang="en-US" sz="1800" dirty="0">
                <a:solidFill>
                  <a:schemeClr val="tx1"/>
                </a:solidFill>
                <a:latin typeface="Arial" pitchFamily="34" charset="0"/>
                <a:ea typeface="Arial" pitchFamily="34" charset="-122"/>
                <a:cs typeface="Arial" pitchFamily="34" charset="-120"/>
              </a:rPr>
              <a:t>האבחון כשלעצמו מהוה חלק מתהליך התערבות ויוצר השפעה בקהילה.</a:t>
            </a:r>
            <a:endParaRPr lang="he-IL" sz="1800" dirty="0"/>
          </a:p>
        </p:txBody>
      </p:sp>
      <p:sp>
        <p:nvSpPr>
          <p:cNvPr id="12" name="Text 9"/>
          <p:cNvSpPr/>
          <p:nvPr/>
        </p:nvSpPr>
        <p:spPr>
          <a:xfrm>
            <a:off x="4846320" y="5166360"/>
            <a:ext cx="6793992" cy="685800"/>
          </a:xfrm>
          <a:prstGeom prst="roundRect">
            <a:avLst>
              <a:gd name="adj" fmla="val 20000"/>
            </a:avLst>
          </a:prstGeom>
          <a:solidFill>
            <a:schemeClr val="tx2"/>
          </a:solidFill>
          <a:ln/>
        </p:spPr>
        <p:txBody>
          <a:bodyPr wrap="square" lIns="127000" tIns="127000" rIns="127000" bIns="127000" rtlCol="0" anchor="ctr"/>
          <a:lstStyle/>
          <a:p>
            <a:pPr rtl="1" algn="r" indent="0" marL="0">
              <a:buNone/>
            </a:pPr>
            <a:r>
              <a:rPr lang="he-IL" altLang="en-US" sz="2000" b="1" dirty="0">
                <a:solidFill>
                  <a:schemeClr val="bg1"/>
                </a:solidFill>
                <a:latin typeface="Arial" pitchFamily="34" charset="0"/>
                <a:ea typeface="Arial" pitchFamily="34" charset="-122"/>
                <a:cs typeface="Arial" pitchFamily="34" charset="-120"/>
              </a:rPr>
              <a:t>שלב בסיסי בעבודת תזונאית בריאות הציבור.</a:t>
            </a:r>
            <a:endParaRPr lang="he-IL" sz="20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אבחון קהילתי</a:t>
            </a:r>
            <a:endParaRPr lang="he-IL" sz="3000" dirty="0"/>
          </a:p>
        </p:txBody>
      </p:sp>
      <p:pic>
        <p:nvPicPr>
          <p:cNvPr id="3" name="Image 0" descr="תצלום היסטורי של קבוצת חלוצים בשדה – מהי הקהילה?">    </p:cNvPr>
          <p:cNvPicPr>
            <a:picLocks noChangeAspect="1"/>
          </p:cNvPicPr>
          <p:nvPr/>
        </p:nvPicPr>
        <p:blipFill>
          <a:blip r:embed="rId1"/>
          <a:stretch>
            <a:fillRect/>
          </a:stretch>
        </p:blipFill>
        <p:spPr>
          <a:xfrm>
            <a:off x="2621128" y="1463040"/>
            <a:ext cx="6949440" cy="4338436"/>
          </a:xfrm>
          <a:prstGeom prst="rect">
            <a:avLst/>
          </a:prstGeom>
          <a:effectLst>
            <a:outerShdw sx="100000" sy="100000" kx="0" ky="0" algn="bl" rotWithShape="0" blurRad="101600" dist="25400" dir="5400000">
              <a:srgbClr val="0F4C5C">
                <a:alpha val="14000"/>
              </a:srgbClr>
            </a:outerShdw>
          </a:effectLst>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אבחון קהילתי</a:t>
            </a:r>
            <a:endParaRPr lang="he-IL" sz="3000" dirty="0"/>
          </a:p>
        </p:txBody>
      </p:sp>
      <p:sp>
        <p:nvSpPr>
          <p:cNvPr id="3" name="Shape 1"/>
          <p:cNvSpPr/>
          <p:nvPr/>
        </p:nvSpPr>
        <p:spPr>
          <a:xfrm>
            <a:off x="548640" y="1417320"/>
            <a:ext cx="11091672" cy="1508760"/>
          </a:xfrm>
          <a:prstGeom prst="roundRect">
            <a:avLst>
              <a:gd name="adj" fmla="val 7273"/>
            </a:avLst>
          </a:prstGeom>
          <a:solidFill>
            <a:schemeClr val="bg2"/>
          </a:solidFill>
          <a:ln w="12700">
            <a:solidFill>
              <a:schemeClr val="bg2"/>
            </a:solidFill>
            <a:prstDash val="solid"/>
          </a:ln>
        </p:spPr>
      </p:sp>
      <p:sp>
        <p:nvSpPr>
          <p:cNvPr id="4" name="Shape 2"/>
          <p:cNvSpPr/>
          <p:nvPr/>
        </p:nvSpPr>
        <p:spPr>
          <a:xfrm>
            <a:off x="10744200" y="1627632"/>
            <a:ext cx="685800" cy="6858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922508" y="1805940"/>
            <a:ext cx="329184" cy="329184"/>
          </a:xfrm>
          <a:prstGeom prst="rect">
            <a:avLst/>
          </a:prstGeom>
        </p:spPr>
      </p:pic>
      <p:sp>
        <p:nvSpPr>
          <p:cNvPr id="6" name="Text 3"/>
          <p:cNvSpPr txBox="1"/>
          <p:nvPr/>
        </p:nvSpPr>
        <p:spPr>
          <a:xfrm>
            <a:off x="822960" y="1508760"/>
            <a:ext cx="9738360" cy="1325880"/>
          </a:xfrm>
          <a:prstGeom prst="rect">
            <a:avLst/>
          </a:prstGeom>
          <a:noFill/>
          <a:ln/>
        </p:spPr>
        <p:txBody>
          <a:bodyPr wrap="square" lIns="50800" tIns="50800" rIns="50800" bIns="50800" rtlCol="0" anchor="ctr"/>
          <a:lstStyle/>
          <a:p>
            <a:pPr rtl="1" algn="r" indent="0" marL="0">
              <a:buNone/>
            </a:pPr>
            <a:r>
              <a:rPr lang="he-IL" altLang="en-US" sz="2000" b="1" dirty="0">
                <a:solidFill>
                  <a:schemeClr val="accent1"/>
                </a:solidFill>
                <a:latin typeface="Arial" pitchFamily="34" charset="0"/>
                <a:ea typeface="Arial" pitchFamily="34" charset="-122"/>
                <a:cs typeface="Arial" pitchFamily="34" charset="-120"/>
              </a:rPr>
              <a:t>מהי קהילה?</a:t>
            </a:r>
            <a:endParaRPr lang="he-IL" sz="2100" dirty="0"/>
          </a:p>
          <a:p>
            <a:pPr rtl="1" algn="r" indent="0" marL="0">
              <a:buNone/>
            </a:pPr>
            <a:r>
              <a:rPr lang="he-IL" altLang="en-US" sz="2100" b="1" dirty="0">
                <a:solidFill>
                  <a:schemeClr val="tx2"/>
                </a:solidFill>
                <a:latin typeface="Arial" pitchFamily="34" charset="0"/>
                <a:ea typeface="Arial" pitchFamily="34" charset="-122"/>
                <a:cs typeface="Arial" pitchFamily="34" charset="-120"/>
              </a:rPr>
              <a:t>קהילה היא שני אנשים ומעלה- קבוצה, ציבור או חברה של אנשים אשר לחבריה מאפיין משותף או מטרה משותפת.</a:t>
            </a:r>
            <a:endParaRPr lang="he-IL" sz="2100" dirty="0"/>
          </a:p>
        </p:txBody>
      </p:sp>
      <p:sp>
        <p:nvSpPr>
          <p:cNvPr id="7" name="Shape 4"/>
          <p:cNvSpPr/>
          <p:nvPr/>
        </p:nvSpPr>
        <p:spPr>
          <a:xfrm>
            <a:off x="8122615" y="3246120"/>
            <a:ext cx="3520440" cy="1325880"/>
          </a:xfrm>
          <a:prstGeom prst="roundRect">
            <a:avLst>
              <a:gd name="adj" fmla="val 8276"/>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8" name="Shape 5"/>
          <p:cNvSpPr/>
          <p:nvPr/>
        </p:nvSpPr>
        <p:spPr>
          <a:xfrm>
            <a:off x="10774375" y="3575304"/>
            <a:ext cx="658368" cy="658368"/>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10945551" y="3746480"/>
            <a:ext cx="316017" cy="316017"/>
          </a:xfrm>
          <a:prstGeom prst="rect">
            <a:avLst/>
          </a:prstGeom>
        </p:spPr>
      </p:pic>
      <p:sp>
        <p:nvSpPr>
          <p:cNvPr id="10" name="Text 6"/>
          <p:cNvSpPr txBox="1"/>
          <p:nvPr/>
        </p:nvSpPr>
        <p:spPr>
          <a:xfrm>
            <a:off x="8259775" y="3337560"/>
            <a:ext cx="2423160" cy="114300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מיקום גיאוגרפי</a:t>
            </a:r>
            <a:endParaRPr lang="he-IL" sz="1800" dirty="0"/>
          </a:p>
        </p:txBody>
      </p:sp>
      <p:sp>
        <p:nvSpPr>
          <p:cNvPr id="11" name="Shape 7"/>
          <p:cNvSpPr/>
          <p:nvPr/>
        </p:nvSpPr>
        <p:spPr>
          <a:xfrm>
            <a:off x="4336999" y="3246120"/>
            <a:ext cx="3520440" cy="1325880"/>
          </a:xfrm>
          <a:prstGeom prst="roundRect">
            <a:avLst>
              <a:gd name="adj" fmla="val 8276"/>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12" name="Shape 8"/>
          <p:cNvSpPr/>
          <p:nvPr/>
        </p:nvSpPr>
        <p:spPr>
          <a:xfrm>
            <a:off x="6988759" y="3575304"/>
            <a:ext cx="658368" cy="658368"/>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7159935" y="3746480"/>
            <a:ext cx="316017" cy="316017"/>
          </a:xfrm>
          <a:prstGeom prst="rect">
            <a:avLst/>
          </a:prstGeom>
        </p:spPr>
      </p:pic>
      <p:sp>
        <p:nvSpPr>
          <p:cNvPr id="14" name="Text 9"/>
          <p:cNvSpPr txBox="1"/>
          <p:nvPr/>
        </p:nvSpPr>
        <p:spPr>
          <a:xfrm>
            <a:off x="4474159" y="3337560"/>
            <a:ext cx="2423160" cy="114300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רקע אתני</a:t>
            </a:r>
            <a:endParaRPr lang="he-IL" sz="1800" dirty="0"/>
          </a:p>
        </p:txBody>
      </p:sp>
      <p:sp>
        <p:nvSpPr>
          <p:cNvPr id="15" name="Shape 10"/>
          <p:cNvSpPr/>
          <p:nvPr/>
        </p:nvSpPr>
        <p:spPr>
          <a:xfrm>
            <a:off x="551383" y="3246120"/>
            <a:ext cx="3520440" cy="1325880"/>
          </a:xfrm>
          <a:prstGeom prst="roundRect">
            <a:avLst>
              <a:gd name="adj" fmla="val 8276"/>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16" name="Shape 11"/>
          <p:cNvSpPr/>
          <p:nvPr/>
        </p:nvSpPr>
        <p:spPr>
          <a:xfrm>
            <a:off x="3203143" y="3575304"/>
            <a:ext cx="658368" cy="658368"/>
          </a:xfrm>
          <a:prstGeom prst="ellipse">
            <a:avLst/>
          </a:prstGeom>
          <a:solidFill>
            <a:schemeClr val="accent3"/>
          </a:solidFill>
          <a:ln w="12700">
            <a:solidFill>
              <a:schemeClr val="accent3"/>
            </a:solidFill>
            <a:prstDash val="solid"/>
          </a:ln>
        </p:spPr>
      </p:sp>
      <p:pic>
        <p:nvPicPr>
          <p:cNvPr id="17" name="Image 3" descr="preencoded.png">    </p:cNvPr>
          <p:cNvPicPr>
            <a:picLocks noChangeAspect="1"/>
          </p:cNvPicPr>
          <p:nvPr/>
        </p:nvPicPr>
        <p:blipFill>
          <a:blip r:embed="rId4"/>
          <a:stretch>
            <a:fillRect/>
          </a:stretch>
        </p:blipFill>
        <p:spPr>
          <a:xfrm>
            <a:off x="3374319" y="3746480"/>
            <a:ext cx="316017" cy="316017"/>
          </a:xfrm>
          <a:prstGeom prst="rect">
            <a:avLst/>
          </a:prstGeom>
        </p:spPr>
      </p:pic>
      <p:sp>
        <p:nvSpPr>
          <p:cNvPr id="18" name="Text 12"/>
          <p:cNvSpPr txBox="1"/>
          <p:nvPr/>
        </p:nvSpPr>
        <p:spPr>
          <a:xfrm>
            <a:off x="688543" y="3337560"/>
            <a:ext cx="2423160" cy="114300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סגנון חיים</a:t>
            </a:r>
            <a:endParaRPr lang="he-IL" sz="1800" dirty="0"/>
          </a:p>
        </p:txBody>
      </p:sp>
      <p:sp>
        <p:nvSpPr>
          <p:cNvPr id="19" name="Shape 13"/>
          <p:cNvSpPr/>
          <p:nvPr/>
        </p:nvSpPr>
        <p:spPr>
          <a:xfrm>
            <a:off x="8122615" y="4846320"/>
            <a:ext cx="3520440" cy="1325880"/>
          </a:xfrm>
          <a:prstGeom prst="roundRect">
            <a:avLst>
              <a:gd name="adj" fmla="val 8276"/>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20" name="Shape 14"/>
          <p:cNvSpPr/>
          <p:nvPr/>
        </p:nvSpPr>
        <p:spPr>
          <a:xfrm>
            <a:off x="10774375" y="5175504"/>
            <a:ext cx="658368" cy="658368"/>
          </a:xfrm>
          <a:prstGeom prst="ellipse">
            <a:avLst/>
          </a:prstGeom>
          <a:solidFill>
            <a:schemeClr val="accent4"/>
          </a:solidFill>
          <a:ln w="12700">
            <a:solidFill>
              <a:schemeClr val="accent4"/>
            </a:solidFill>
            <a:prstDash val="solid"/>
          </a:ln>
        </p:spPr>
      </p:sp>
      <p:pic>
        <p:nvPicPr>
          <p:cNvPr id="21" name="Image 4" descr="preencoded.png">    </p:cNvPr>
          <p:cNvPicPr>
            <a:picLocks noChangeAspect="1"/>
          </p:cNvPicPr>
          <p:nvPr/>
        </p:nvPicPr>
        <p:blipFill>
          <a:blip r:embed="rId5"/>
          <a:stretch>
            <a:fillRect/>
          </a:stretch>
        </p:blipFill>
        <p:spPr>
          <a:xfrm>
            <a:off x="10945551" y="5346680"/>
            <a:ext cx="316017" cy="316017"/>
          </a:xfrm>
          <a:prstGeom prst="rect">
            <a:avLst/>
          </a:prstGeom>
        </p:spPr>
      </p:pic>
      <p:sp>
        <p:nvSpPr>
          <p:cNvPr id="22" name="Text 15"/>
          <p:cNvSpPr txBox="1"/>
          <p:nvPr/>
        </p:nvSpPr>
        <p:spPr>
          <a:xfrm>
            <a:off x="8259775" y="4937760"/>
            <a:ext cx="2423160" cy="114300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הגדרה פונקציונאלית</a:t>
            </a:r>
            <a:endParaRPr lang="he-IL" sz="1800" dirty="0"/>
          </a:p>
        </p:txBody>
      </p:sp>
      <p:sp>
        <p:nvSpPr>
          <p:cNvPr id="23" name="Shape 16"/>
          <p:cNvSpPr/>
          <p:nvPr/>
        </p:nvSpPr>
        <p:spPr>
          <a:xfrm>
            <a:off x="4336999" y="4846320"/>
            <a:ext cx="3520440" cy="1325880"/>
          </a:xfrm>
          <a:prstGeom prst="roundRect">
            <a:avLst>
              <a:gd name="adj" fmla="val 8276"/>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24" name="Shape 17"/>
          <p:cNvSpPr/>
          <p:nvPr/>
        </p:nvSpPr>
        <p:spPr>
          <a:xfrm>
            <a:off x="6988759" y="5175504"/>
            <a:ext cx="658368" cy="658368"/>
          </a:xfrm>
          <a:prstGeom prst="ellipse">
            <a:avLst/>
          </a:prstGeom>
          <a:solidFill>
            <a:schemeClr val="accent6"/>
          </a:solidFill>
          <a:ln w="12700">
            <a:solidFill>
              <a:schemeClr val="accent6"/>
            </a:solidFill>
            <a:prstDash val="solid"/>
          </a:ln>
        </p:spPr>
      </p:sp>
      <p:pic>
        <p:nvPicPr>
          <p:cNvPr id="25" name="Image 5" descr="preencoded.png">    </p:cNvPr>
          <p:cNvPicPr>
            <a:picLocks noChangeAspect="1"/>
          </p:cNvPicPr>
          <p:nvPr/>
        </p:nvPicPr>
        <p:blipFill>
          <a:blip r:embed="rId6"/>
          <a:stretch>
            <a:fillRect/>
          </a:stretch>
        </p:blipFill>
        <p:spPr>
          <a:xfrm>
            <a:off x="7159935" y="5346680"/>
            <a:ext cx="316017" cy="316017"/>
          </a:xfrm>
          <a:prstGeom prst="rect">
            <a:avLst/>
          </a:prstGeom>
        </p:spPr>
      </p:pic>
      <p:sp>
        <p:nvSpPr>
          <p:cNvPr id="26" name="Text 18"/>
          <p:cNvSpPr txBox="1"/>
          <p:nvPr/>
        </p:nvSpPr>
        <p:spPr>
          <a:xfrm>
            <a:off x="4474159" y="4937760"/>
            <a:ext cx="2423160" cy="114300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מקום עבודה</a:t>
            </a:r>
            <a:endParaRPr lang="he-IL" sz="1800" dirty="0"/>
          </a:p>
        </p:txBody>
      </p:sp>
      <p:sp>
        <p:nvSpPr>
          <p:cNvPr id="27" name="Shape 19"/>
          <p:cNvSpPr/>
          <p:nvPr/>
        </p:nvSpPr>
        <p:spPr>
          <a:xfrm>
            <a:off x="551383" y="4846320"/>
            <a:ext cx="3520440" cy="1325880"/>
          </a:xfrm>
          <a:prstGeom prst="roundRect">
            <a:avLst>
              <a:gd name="adj" fmla="val 8276"/>
            </a:avLst>
          </a:prstGeom>
          <a:solidFill>
            <a:schemeClr val="bg1"/>
          </a:solidFill>
          <a:ln w="12700">
            <a:solidFill>
              <a:schemeClr val="bg2"/>
            </a:solidFill>
            <a:prstDash val="solid"/>
          </a:ln>
          <a:effectLst>
            <a:outerShdw sx="100000" sy="100000" kx="0" ky="0" algn="bl" rotWithShape="0" blurRad="101600" dist="25400" dir="5400000">
              <a:srgbClr val="0F4C5C">
                <a:alpha val="14000"/>
              </a:srgbClr>
            </a:outerShdw>
          </a:effectLst>
        </p:spPr>
      </p:sp>
      <p:sp>
        <p:nvSpPr>
          <p:cNvPr id="28" name="Shape 20"/>
          <p:cNvSpPr/>
          <p:nvPr/>
        </p:nvSpPr>
        <p:spPr>
          <a:xfrm>
            <a:off x="3203143" y="5175504"/>
            <a:ext cx="658368" cy="658368"/>
          </a:xfrm>
          <a:prstGeom prst="ellipse">
            <a:avLst/>
          </a:prstGeom>
          <a:solidFill>
            <a:schemeClr val="accent5"/>
          </a:solidFill>
          <a:ln w="12700">
            <a:solidFill>
              <a:schemeClr val="accent5"/>
            </a:solidFill>
            <a:prstDash val="solid"/>
          </a:ln>
        </p:spPr>
      </p:sp>
      <p:pic>
        <p:nvPicPr>
          <p:cNvPr id="29" name="Image 6" descr="preencoded.png">    </p:cNvPr>
          <p:cNvPicPr>
            <a:picLocks noChangeAspect="1"/>
          </p:cNvPicPr>
          <p:nvPr/>
        </p:nvPicPr>
        <p:blipFill>
          <a:blip r:embed="rId7"/>
          <a:stretch>
            <a:fillRect/>
          </a:stretch>
        </p:blipFill>
        <p:spPr>
          <a:xfrm>
            <a:off x="3374319" y="5346680"/>
            <a:ext cx="316017" cy="316017"/>
          </a:xfrm>
          <a:prstGeom prst="rect">
            <a:avLst/>
          </a:prstGeom>
        </p:spPr>
      </p:pic>
      <p:sp>
        <p:nvSpPr>
          <p:cNvPr id="30" name="Text 21"/>
          <p:cNvSpPr txBox="1"/>
          <p:nvPr/>
        </p:nvSpPr>
        <p:spPr>
          <a:xfrm>
            <a:off x="688543" y="4937760"/>
            <a:ext cx="2423160" cy="1143000"/>
          </a:xfrm>
          <a:prstGeom prst="rect">
            <a:avLst/>
          </a:prstGeom>
          <a:noFill/>
          <a:ln/>
        </p:spPr>
        <p:txBody>
          <a:bodyPr wrap="square" lIns="50800" tIns="50800" rIns="50800" bIns="50800" rtlCol="0" anchor="ctr"/>
          <a:lstStyle/>
          <a:p>
            <a:pPr rtl="1" algn="r" indent="0" marL="0">
              <a:buNone/>
            </a:pPr>
            <a:r>
              <a:rPr lang="he-IL" altLang="en-US" sz="1500" b="1" dirty="0">
                <a:solidFill>
                  <a:schemeClr val="tx1"/>
                </a:solidFill>
                <a:latin typeface="Arial" pitchFamily="34" charset="0"/>
                <a:ea typeface="Arial" pitchFamily="34" charset="-122"/>
                <a:cs typeface="Arial" pitchFamily="34" charset="-120"/>
              </a:rPr>
              <a:t>גורמים אחרים שמשותפים, קהילה וירטואלית פייסבוק, טוויטר</a:t>
            </a:r>
            <a:endParaRPr lang="he-IL" sz="15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אבחון קהילתי</a:t>
            </a:r>
            <a:endParaRPr lang="he-IL" sz="3000" dirty="0"/>
          </a:p>
        </p:txBody>
      </p:sp>
      <p:sp>
        <p:nvSpPr>
          <p:cNvPr id="3" name="Shape 1"/>
          <p:cNvSpPr/>
          <p:nvPr/>
        </p:nvSpPr>
        <p:spPr>
          <a:xfrm>
            <a:off x="6095848" y="1965960"/>
            <a:ext cx="914" cy="1965960"/>
          </a:xfrm>
          <a:prstGeom prst="line">
            <a:avLst/>
          </a:prstGeom>
          <a:noFill/>
          <a:ln w="19050">
            <a:solidFill>
              <a:schemeClr val="accent1"/>
            </a:solidFill>
            <a:prstDash val="dash"/>
          </a:ln>
        </p:spPr>
      </p:sp>
      <p:sp>
        <p:nvSpPr>
          <p:cNvPr id="4" name="Shape 2"/>
          <p:cNvSpPr/>
          <p:nvPr/>
        </p:nvSpPr>
        <p:spPr>
          <a:xfrm flipH="1">
            <a:off x="6095848" y="2706164"/>
            <a:ext cx="3217080" cy="1225756"/>
          </a:xfrm>
          <a:prstGeom prst="line">
            <a:avLst/>
          </a:prstGeom>
          <a:noFill/>
          <a:ln w="19050">
            <a:solidFill>
              <a:schemeClr val="accent1"/>
            </a:solidFill>
            <a:prstDash val="dash"/>
          </a:ln>
        </p:spPr>
      </p:sp>
      <p:sp>
        <p:nvSpPr>
          <p:cNvPr id="5" name="Shape 3"/>
          <p:cNvSpPr/>
          <p:nvPr/>
        </p:nvSpPr>
        <p:spPr>
          <a:xfrm>
            <a:off x="6095848" y="3931920"/>
            <a:ext cx="4011633" cy="437467"/>
          </a:xfrm>
          <a:prstGeom prst="line">
            <a:avLst/>
          </a:prstGeom>
          <a:noFill/>
          <a:ln w="19050">
            <a:solidFill>
              <a:schemeClr val="accent1"/>
            </a:solidFill>
            <a:prstDash val="dash"/>
          </a:ln>
        </p:spPr>
      </p:sp>
      <p:sp>
        <p:nvSpPr>
          <p:cNvPr id="6" name="Shape 4"/>
          <p:cNvSpPr/>
          <p:nvPr/>
        </p:nvSpPr>
        <p:spPr>
          <a:xfrm>
            <a:off x="6095848" y="3931920"/>
            <a:ext cx="1785345" cy="1771269"/>
          </a:xfrm>
          <a:prstGeom prst="line">
            <a:avLst/>
          </a:prstGeom>
          <a:noFill/>
          <a:ln w="19050">
            <a:solidFill>
              <a:schemeClr val="accent1"/>
            </a:solidFill>
            <a:prstDash val="dash"/>
          </a:ln>
        </p:spPr>
      </p:sp>
      <p:sp>
        <p:nvSpPr>
          <p:cNvPr id="7" name="Shape 5"/>
          <p:cNvSpPr/>
          <p:nvPr/>
        </p:nvSpPr>
        <p:spPr>
          <a:xfrm flipH="1">
            <a:off x="4310503" y="3931920"/>
            <a:ext cx="1785345" cy="1771269"/>
          </a:xfrm>
          <a:prstGeom prst="line">
            <a:avLst/>
          </a:prstGeom>
          <a:noFill/>
          <a:ln w="19050">
            <a:solidFill>
              <a:schemeClr val="accent1"/>
            </a:solidFill>
            <a:prstDash val="dash"/>
          </a:ln>
        </p:spPr>
      </p:sp>
      <p:sp>
        <p:nvSpPr>
          <p:cNvPr id="8" name="Shape 6"/>
          <p:cNvSpPr/>
          <p:nvPr/>
        </p:nvSpPr>
        <p:spPr>
          <a:xfrm flipH="1">
            <a:off x="2084214" y="3931920"/>
            <a:ext cx="4011633" cy="437467"/>
          </a:xfrm>
          <a:prstGeom prst="line">
            <a:avLst/>
          </a:prstGeom>
          <a:noFill/>
          <a:ln w="19050">
            <a:solidFill>
              <a:schemeClr val="accent1"/>
            </a:solidFill>
            <a:prstDash val="dash"/>
          </a:ln>
        </p:spPr>
      </p:sp>
      <p:sp>
        <p:nvSpPr>
          <p:cNvPr id="9" name="Shape 7"/>
          <p:cNvSpPr/>
          <p:nvPr/>
        </p:nvSpPr>
        <p:spPr>
          <a:xfrm>
            <a:off x="2878767" y="2706164"/>
            <a:ext cx="3217080" cy="1225756"/>
          </a:xfrm>
          <a:prstGeom prst="line">
            <a:avLst/>
          </a:prstGeom>
          <a:noFill/>
          <a:ln w="19050">
            <a:solidFill>
              <a:schemeClr val="accent1"/>
            </a:solidFill>
            <a:prstDash val="dash"/>
          </a:ln>
        </p:spPr>
      </p:sp>
      <p:sp>
        <p:nvSpPr>
          <p:cNvPr id="10" name="Text 8"/>
          <p:cNvSpPr/>
          <p:nvPr/>
        </p:nvSpPr>
        <p:spPr>
          <a:xfrm>
            <a:off x="4678528" y="3200400"/>
            <a:ext cx="2834640" cy="1463040"/>
          </a:xfrm>
          <a:prstGeom prst="ellipse">
            <a:avLst/>
          </a:prstGeom>
          <a:solidFill>
            <a:schemeClr val="accent2"/>
          </a:solidFill>
          <a:ln w="38100">
            <a:solidFill>
              <a:schemeClr val="bg1"/>
            </a:solidFill>
          </a:ln>
          <a:effectLst>
            <a:outerShdw sx="100000" sy="100000" kx="0" ky="0" algn="bl" rotWithShape="0" blurRad="101600" dist="25400" dir="5400000">
              <a:srgbClr val="0F4C5C">
                <a:alpha val="14000"/>
              </a:srgbClr>
            </a:outerShdw>
          </a:effectLst>
        </p:spPr>
        <p:txBody>
          <a:bodyPr wrap="square" lIns="76200" tIns="76200" rIns="76200" bIns="76200" rtlCol="0" anchor="ctr"/>
          <a:lstStyle/>
          <a:p>
            <a:pPr rtl="1" algn="ctr" indent="0" marL="0">
              <a:buNone/>
            </a:pPr>
            <a:r>
              <a:rPr lang="he-IL" altLang="en-US" sz="1800" b="1" dirty="0">
                <a:solidFill>
                  <a:schemeClr val="bg1"/>
                </a:solidFill>
                <a:latin typeface="Arial" pitchFamily="34" charset="0"/>
                <a:ea typeface="Arial" pitchFamily="34" charset="-122"/>
                <a:cs typeface="Arial" pitchFamily="34" charset="-120"/>
              </a:rPr>
              <a:t>מה רוצים ללמוד על הקהילה</a:t>
            </a:r>
            <a:endParaRPr lang="he-IL" sz="1800" dirty="0"/>
          </a:p>
        </p:txBody>
      </p:sp>
      <p:sp>
        <p:nvSpPr>
          <p:cNvPr id="11" name="Shape 9"/>
          <p:cNvSpPr/>
          <p:nvPr/>
        </p:nvSpPr>
        <p:spPr>
          <a:xfrm>
            <a:off x="4792828" y="1609344"/>
            <a:ext cx="2606040" cy="713232"/>
          </a:xfrm>
          <a:prstGeom prst="roundRect">
            <a:avLst>
              <a:gd name="adj" fmla="val 15385"/>
            </a:avLst>
          </a:prstGeom>
          <a:solidFill>
            <a:schemeClr val="bg1"/>
          </a:solidFill>
          <a:ln w="19050">
            <a:solidFill>
              <a:schemeClr val="accent1"/>
            </a:solidFill>
            <a:prstDash val="solid"/>
          </a:ln>
          <a:effectLst>
            <a:outerShdw sx="100000" sy="100000" kx="0" ky="0" algn="bl" rotWithShape="0" blurRad="101600" dist="25400" dir="5400000">
              <a:srgbClr val="0F4C5C">
                <a:alpha val="14000"/>
              </a:srgbClr>
            </a:outerShdw>
          </a:effectLst>
        </p:spPr>
      </p:sp>
      <p:sp>
        <p:nvSpPr>
          <p:cNvPr id="12" name="Shape 10"/>
          <p:cNvSpPr/>
          <p:nvPr/>
        </p:nvSpPr>
        <p:spPr>
          <a:xfrm>
            <a:off x="6777076" y="1728216"/>
            <a:ext cx="475488" cy="475488"/>
          </a:xfrm>
          <a:prstGeom prst="ellipse">
            <a:avLst/>
          </a:prstGeom>
          <a:solidFill>
            <a:schemeClr val="accent1"/>
          </a:solidFill>
          <a:ln w="12700">
            <a:solidFill>
              <a:schemeClr val="accent1"/>
            </a:solidFill>
            <a:prstDash val="solid"/>
          </a:ln>
        </p:spPr>
      </p:sp>
      <p:pic>
        <p:nvPicPr>
          <p:cNvPr id="13" name="Image 0" descr="preencoded.png">    </p:cNvPr>
          <p:cNvPicPr>
            <a:picLocks noChangeAspect="1"/>
          </p:cNvPicPr>
          <p:nvPr/>
        </p:nvPicPr>
        <p:blipFill>
          <a:blip r:embed="rId1"/>
          <a:stretch>
            <a:fillRect/>
          </a:stretch>
        </p:blipFill>
        <p:spPr>
          <a:xfrm>
            <a:off x="6900702" y="1851843"/>
            <a:ext cx="228234" cy="228234"/>
          </a:xfrm>
          <a:prstGeom prst="rect">
            <a:avLst/>
          </a:prstGeom>
        </p:spPr>
      </p:pic>
      <p:sp>
        <p:nvSpPr>
          <p:cNvPr id="14" name="Text 11"/>
          <p:cNvSpPr txBox="1"/>
          <p:nvPr/>
        </p:nvSpPr>
        <p:spPr>
          <a:xfrm>
            <a:off x="4884268" y="1609344"/>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שטח גיאוגרפי</a:t>
            </a:r>
            <a:endParaRPr lang="he-IL" sz="1600" dirty="0"/>
          </a:p>
        </p:txBody>
      </p:sp>
      <p:sp>
        <p:nvSpPr>
          <p:cNvPr id="15" name="Shape 12"/>
          <p:cNvSpPr/>
          <p:nvPr/>
        </p:nvSpPr>
        <p:spPr>
          <a:xfrm>
            <a:off x="8009908" y="2349548"/>
            <a:ext cx="2606040" cy="713232"/>
          </a:xfrm>
          <a:prstGeom prst="roundRect">
            <a:avLst>
              <a:gd name="adj" fmla="val 15385"/>
            </a:avLst>
          </a:prstGeom>
          <a:solidFill>
            <a:schemeClr val="bg1"/>
          </a:solidFill>
          <a:ln w="19050">
            <a:solidFill>
              <a:schemeClr val="accent3"/>
            </a:solidFill>
            <a:prstDash val="solid"/>
          </a:ln>
          <a:effectLst>
            <a:outerShdw sx="100000" sy="100000" kx="0" ky="0" algn="bl" rotWithShape="0" blurRad="101600" dist="25400" dir="5400000">
              <a:srgbClr val="0F4C5C">
                <a:alpha val="14000"/>
              </a:srgbClr>
            </a:outerShdw>
          </a:effectLst>
        </p:spPr>
      </p:sp>
      <p:sp>
        <p:nvSpPr>
          <p:cNvPr id="16" name="Shape 13"/>
          <p:cNvSpPr/>
          <p:nvPr/>
        </p:nvSpPr>
        <p:spPr>
          <a:xfrm>
            <a:off x="9994156" y="2468420"/>
            <a:ext cx="475488" cy="475488"/>
          </a:xfrm>
          <a:prstGeom prst="ellipse">
            <a:avLst/>
          </a:prstGeom>
          <a:solidFill>
            <a:schemeClr val="accent3"/>
          </a:solidFill>
          <a:ln w="12700">
            <a:solidFill>
              <a:schemeClr val="accent3"/>
            </a:solidFill>
            <a:prstDash val="solid"/>
          </a:ln>
        </p:spPr>
      </p:sp>
      <p:pic>
        <p:nvPicPr>
          <p:cNvPr id="17" name="Image 1" descr="preencoded.png">    </p:cNvPr>
          <p:cNvPicPr>
            <a:picLocks noChangeAspect="1"/>
          </p:cNvPicPr>
          <p:nvPr/>
        </p:nvPicPr>
        <p:blipFill>
          <a:blip r:embed="rId2"/>
          <a:stretch>
            <a:fillRect/>
          </a:stretch>
        </p:blipFill>
        <p:spPr>
          <a:xfrm>
            <a:off x="10117783" y="2592047"/>
            <a:ext cx="228234" cy="228234"/>
          </a:xfrm>
          <a:prstGeom prst="rect">
            <a:avLst/>
          </a:prstGeom>
        </p:spPr>
      </p:pic>
      <p:sp>
        <p:nvSpPr>
          <p:cNvPr id="18" name="Text 14"/>
          <p:cNvSpPr txBox="1"/>
          <p:nvPr/>
        </p:nvSpPr>
        <p:spPr>
          <a:xfrm>
            <a:off x="8101348" y="2349548"/>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שירותים בקהילה</a:t>
            </a:r>
            <a:endParaRPr lang="he-IL" sz="1600" dirty="0"/>
          </a:p>
        </p:txBody>
      </p:sp>
      <p:sp>
        <p:nvSpPr>
          <p:cNvPr id="19" name="Shape 15"/>
          <p:cNvSpPr/>
          <p:nvPr/>
        </p:nvSpPr>
        <p:spPr>
          <a:xfrm>
            <a:off x="8804461" y="4012771"/>
            <a:ext cx="2606040" cy="713232"/>
          </a:xfrm>
          <a:prstGeom prst="roundRect">
            <a:avLst>
              <a:gd name="adj" fmla="val 15385"/>
            </a:avLst>
          </a:prstGeom>
          <a:solidFill>
            <a:schemeClr val="bg1"/>
          </a:solidFill>
          <a:ln w="19050">
            <a:solidFill>
              <a:schemeClr val="accent4"/>
            </a:solidFill>
            <a:prstDash val="solid"/>
          </a:ln>
          <a:effectLst>
            <a:outerShdw sx="100000" sy="100000" kx="0" ky="0" algn="bl" rotWithShape="0" blurRad="101600" dist="25400" dir="5400000">
              <a:srgbClr val="0F4C5C">
                <a:alpha val="14000"/>
              </a:srgbClr>
            </a:outerShdw>
          </a:effectLst>
        </p:spPr>
      </p:sp>
      <p:sp>
        <p:nvSpPr>
          <p:cNvPr id="20" name="Shape 16"/>
          <p:cNvSpPr/>
          <p:nvPr/>
        </p:nvSpPr>
        <p:spPr>
          <a:xfrm>
            <a:off x="10788709" y="4131643"/>
            <a:ext cx="475488" cy="475488"/>
          </a:xfrm>
          <a:prstGeom prst="ellipse">
            <a:avLst/>
          </a:prstGeom>
          <a:solidFill>
            <a:schemeClr val="accent4"/>
          </a:solidFill>
          <a:ln w="12700">
            <a:solidFill>
              <a:schemeClr val="accent4"/>
            </a:solidFill>
            <a:prstDash val="solid"/>
          </a:ln>
        </p:spPr>
      </p:sp>
      <p:pic>
        <p:nvPicPr>
          <p:cNvPr id="21" name="Image 2" descr="preencoded.png">    </p:cNvPr>
          <p:cNvPicPr>
            <a:picLocks noChangeAspect="1"/>
          </p:cNvPicPr>
          <p:nvPr/>
        </p:nvPicPr>
        <p:blipFill>
          <a:blip r:embed="rId3"/>
          <a:stretch>
            <a:fillRect/>
          </a:stretch>
        </p:blipFill>
        <p:spPr>
          <a:xfrm>
            <a:off x="10912336" y="4255270"/>
            <a:ext cx="228234" cy="228234"/>
          </a:xfrm>
          <a:prstGeom prst="rect">
            <a:avLst/>
          </a:prstGeom>
        </p:spPr>
      </p:pic>
      <p:sp>
        <p:nvSpPr>
          <p:cNvPr id="22" name="Text 17"/>
          <p:cNvSpPr txBox="1"/>
          <p:nvPr/>
        </p:nvSpPr>
        <p:spPr>
          <a:xfrm>
            <a:off x="8895901" y="4012771"/>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מנהיגות בקהילה</a:t>
            </a:r>
            <a:endParaRPr lang="he-IL" sz="1600" dirty="0"/>
          </a:p>
        </p:txBody>
      </p:sp>
      <p:sp>
        <p:nvSpPr>
          <p:cNvPr id="23" name="Shape 18"/>
          <p:cNvSpPr/>
          <p:nvPr/>
        </p:nvSpPr>
        <p:spPr>
          <a:xfrm>
            <a:off x="6578172" y="5346573"/>
            <a:ext cx="2606040" cy="713232"/>
          </a:xfrm>
          <a:prstGeom prst="roundRect">
            <a:avLst>
              <a:gd name="adj" fmla="val 15385"/>
            </a:avLst>
          </a:prstGeom>
          <a:solidFill>
            <a:schemeClr val="bg1"/>
          </a:solidFill>
          <a:ln w="19050">
            <a:solidFill>
              <a:schemeClr val="accent6"/>
            </a:solidFill>
            <a:prstDash val="solid"/>
          </a:ln>
          <a:effectLst>
            <a:outerShdw sx="100000" sy="100000" kx="0" ky="0" algn="bl" rotWithShape="0" blurRad="101600" dist="25400" dir="5400000">
              <a:srgbClr val="0F4C5C">
                <a:alpha val="14000"/>
              </a:srgbClr>
            </a:outerShdw>
          </a:effectLst>
        </p:spPr>
      </p:sp>
      <p:sp>
        <p:nvSpPr>
          <p:cNvPr id="24" name="Shape 19"/>
          <p:cNvSpPr/>
          <p:nvPr/>
        </p:nvSpPr>
        <p:spPr>
          <a:xfrm>
            <a:off x="8562420" y="5465445"/>
            <a:ext cx="475488" cy="475488"/>
          </a:xfrm>
          <a:prstGeom prst="ellipse">
            <a:avLst/>
          </a:prstGeom>
          <a:solidFill>
            <a:schemeClr val="accent6"/>
          </a:solidFill>
          <a:ln w="12700">
            <a:solidFill>
              <a:schemeClr val="accent6"/>
            </a:solidFill>
            <a:prstDash val="solid"/>
          </a:ln>
        </p:spPr>
      </p:sp>
      <p:pic>
        <p:nvPicPr>
          <p:cNvPr id="25" name="Image 3" descr="preencoded.png">    </p:cNvPr>
          <p:cNvPicPr>
            <a:picLocks noChangeAspect="1"/>
          </p:cNvPicPr>
          <p:nvPr/>
        </p:nvPicPr>
        <p:blipFill>
          <a:blip r:embed="rId4"/>
          <a:stretch>
            <a:fillRect/>
          </a:stretch>
        </p:blipFill>
        <p:spPr>
          <a:xfrm>
            <a:off x="8686047" y="5589072"/>
            <a:ext cx="228234" cy="228234"/>
          </a:xfrm>
          <a:prstGeom prst="rect">
            <a:avLst/>
          </a:prstGeom>
        </p:spPr>
      </p:pic>
      <p:sp>
        <p:nvSpPr>
          <p:cNvPr id="26" name="Text 20"/>
          <p:cNvSpPr txBox="1"/>
          <p:nvPr/>
        </p:nvSpPr>
        <p:spPr>
          <a:xfrm>
            <a:off x="6669612" y="5346573"/>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מאפיין קריטי משותף</a:t>
            </a:r>
            <a:endParaRPr lang="he-IL" sz="1600" dirty="0"/>
          </a:p>
        </p:txBody>
      </p:sp>
      <p:sp>
        <p:nvSpPr>
          <p:cNvPr id="27" name="Shape 21"/>
          <p:cNvSpPr/>
          <p:nvPr/>
        </p:nvSpPr>
        <p:spPr>
          <a:xfrm>
            <a:off x="3007483" y="5346573"/>
            <a:ext cx="2606040" cy="713232"/>
          </a:xfrm>
          <a:prstGeom prst="roundRect">
            <a:avLst>
              <a:gd name="adj" fmla="val 15385"/>
            </a:avLst>
          </a:prstGeom>
          <a:solidFill>
            <a:schemeClr val="bg1"/>
          </a:solidFill>
          <a:ln w="19050">
            <a:solidFill>
              <a:schemeClr val="accent5"/>
            </a:solidFill>
            <a:prstDash val="solid"/>
          </a:ln>
          <a:effectLst>
            <a:outerShdw sx="100000" sy="100000" kx="0" ky="0" algn="bl" rotWithShape="0" blurRad="101600" dist="25400" dir="5400000">
              <a:srgbClr val="0F4C5C">
                <a:alpha val="14000"/>
              </a:srgbClr>
            </a:outerShdw>
          </a:effectLst>
        </p:spPr>
      </p:sp>
      <p:sp>
        <p:nvSpPr>
          <p:cNvPr id="28" name="Shape 22"/>
          <p:cNvSpPr/>
          <p:nvPr/>
        </p:nvSpPr>
        <p:spPr>
          <a:xfrm>
            <a:off x="4991731" y="5465445"/>
            <a:ext cx="475488" cy="475488"/>
          </a:xfrm>
          <a:prstGeom prst="ellipse">
            <a:avLst/>
          </a:prstGeom>
          <a:solidFill>
            <a:schemeClr val="accent5"/>
          </a:solidFill>
          <a:ln w="12700">
            <a:solidFill>
              <a:schemeClr val="accent5"/>
            </a:solidFill>
            <a:prstDash val="solid"/>
          </a:ln>
        </p:spPr>
      </p:sp>
      <p:pic>
        <p:nvPicPr>
          <p:cNvPr id="29" name="Image 4" descr="preencoded.png">    </p:cNvPr>
          <p:cNvPicPr>
            <a:picLocks noChangeAspect="1"/>
          </p:cNvPicPr>
          <p:nvPr/>
        </p:nvPicPr>
        <p:blipFill>
          <a:blip r:embed="rId5"/>
          <a:stretch>
            <a:fillRect/>
          </a:stretch>
        </p:blipFill>
        <p:spPr>
          <a:xfrm>
            <a:off x="5115358" y="5589072"/>
            <a:ext cx="228234" cy="228234"/>
          </a:xfrm>
          <a:prstGeom prst="rect">
            <a:avLst/>
          </a:prstGeom>
        </p:spPr>
      </p:pic>
      <p:sp>
        <p:nvSpPr>
          <p:cNvPr id="30" name="Text 23"/>
          <p:cNvSpPr txBox="1"/>
          <p:nvPr/>
        </p:nvSpPr>
        <p:spPr>
          <a:xfrm>
            <a:off x="3098923" y="5346573"/>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מאפיינים בריאותיים</a:t>
            </a:r>
            <a:endParaRPr lang="he-IL" sz="1600" dirty="0"/>
          </a:p>
        </p:txBody>
      </p:sp>
      <p:sp>
        <p:nvSpPr>
          <p:cNvPr id="31" name="Shape 24"/>
          <p:cNvSpPr/>
          <p:nvPr/>
        </p:nvSpPr>
        <p:spPr>
          <a:xfrm>
            <a:off x="781194" y="4012771"/>
            <a:ext cx="2606040" cy="713232"/>
          </a:xfrm>
          <a:prstGeom prst="roundRect">
            <a:avLst>
              <a:gd name="adj" fmla="val 15385"/>
            </a:avLst>
          </a:prstGeom>
          <a:solidFill>
            <a:schemeClr val="bg1"/>
          </a:solidFill>
          <a:ln w="19050">
            <a:solidFill>
              <a:schemeClr val="tx2"/>
            </a:solidFill>
            <a:prstDash val="solid"/>
          </a:ln>
          <a:effectLst>
            <a:outerShdw sx="100000" sy="100000" kx="0" ky="0" algn="bl" rotWithShape="0" blurRad="101600" dist="25400" dir="5400000">
              <a:srgbClr val="0F4C5C">
                <a:alpha val="14000"/>
              </a:srgbClr>
            </a:outerShdw>
          </a:effectLst>
        </p:spPr>
      </p:sp>
      <p:sp>
        <p:nvSpPr>
          <p:cNvPr id="32" name="Shape 25"/>
          <p:cNvSpPr/>
          <p:nvPr/>
        </p:nvSpPr>
        <p:spPr>
          <a:xfrm>
            <a:off x="2765442" y="4131643"/>
            <a:ext cx="475488" cy="475488"/>
          </a:xfrm>
          <a:prstGeom prst="ellipse">
            <a:avLst/>
          </a:prstGeom>
          <a:solidFill>
            <a:schemeClr val="tx2"/>
          </a:solidFill>
          <a:ln w="12700">
            <a:solidFill>
              <a:schemeClr val="tx2"/>
            </a:solidFill>
            <a:prstDash val="solid"/>
          </a:ln>
        </p:spPr>
      </p:sp>
      <p:pic>
        <p:nvPicPr>
          <p:cNvPr id="33" name="Image 5" descr="preencoded.png">    </p:cNvPr>
          <p:cNvPicPr>
            <a:picLocks noChangeAspect="1"/>
          </p:cNvPicPr>
          <p:nvPr/>
        </p:nvPicPr>
        <p:blipFill>
          <a:blip r:embed="rId6"/>
          <a:stretch>
            <a:fillRect/>
          </a:stretch>
        </p:blipFill>
        <p:spPr>
          <a:xfrm>
            <a:off x="2889069" y="4255270"/>
            <a:ext cx="228234" cy="228234"/>
          </a:xfrm>
          <a:prstGeom prst="rect">
            <a:avLst/>
          </a:prstGeom>
        </p:spPr>
      </p:pic>
      <p:sp>
        <p:nvSpPr>
          <p:cNvPr id="34" name="Text 26"/>
          <p:cNvSpPr txBox="1"/>
          <p:nvPr/>
        </p:nvSpPr>
        <p:spPr>
          <a:xfrm>
            <a:off x="872634" y="4012771"/>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גודל הקהילה</a:t>
            </a:r>
            <a:endParaRPr lang="he-IL" sz="1600" dirty="0"/>
          </a:p>
        </p:txBody>
      </p:sp>
      <p:sp>
        <p:nvSpPr>
          <p:cNvPr id="35" name="Shape 27"/>
          <p:cNvSpPr/>
          <p:nvPr/>
        </p:nvSpPr>
        <p:spPr>
          <a:xfrm>
            <a:off x="1575747" y="2349548"/>
            <a:ext cx="2606040" cy="713232"/>
          </a:xfrm>
          <a:prstGeom prst="roundRect">
            <a:avLst>
              <a:gd name="adj" fmla="val 15385"/>
            </a:avLst>
          </a:prstGeom>
          <a:solidFill>
            <a:schemeClr val="bg1"/>
          </a:solidFill>
          <a:ln w="19050">
            <a:solidFill>
              <a:schemeClr val="accent2"/>
            </a:solidFill>
            <a:prstDash val="solid"/>
          </a:ln>
          <a:effectLst>
            <a:outerShdw sx="100000" sy="100000" kx="0" ky="0" algn="bl" rotWithShape="0" blurRad="101600" dist="25400" dir="5400000">
              <a:srgbClr val="0F4C5C">
                <a:alpha val="14000"/>
              </a:srgbClr>
            </a:outerShdw>
          </a:effectLst>
        </p:spPr>
      </p:sp>
      <p:sp>
        <p:nvSpPr>
          <p:cNvPr id="36" name="Shape 28"/>
          <p:cNvSpPr/>
          <p:nvPr/>
        </p:nvSpPr>
        <p:spPr>
          <a:xfrm>
            <a:off x="3559995" y="2468420"/>
            <a:ext cx="475488" cy="475488"/>
          </a:xfrm>
          <a:prstGeom prst="ellipse">
            <a:avLst/>
          </a:prstGeom>
          <a:solidFill>
            <a:schemeClr val="accent2"/>
          </a:solidFill>
          <a:ln w="12700">
            <a:solidFill>
              <a:schemeClr val="accent2"/>
            </a:solidFill>
            <a:prstDash val="solid"/>
          </a:ln>
        </p:spPr>
      </p:sp>
      <p:pic>
        <p:nvPicPr>
          <p:cNvPr id="37" name="Image 6" descr="preencoded.png">    </p:cNvPr>
          <p:cNvPicPr>
            <a:picLocks noChangeAspect="1"/>
          </p:cNvPicPr>
          <p:nvPr/>
        </p:nvPicPr>
        <p:blipFill>
          <a:blip r:embed="rId7"/>
          <a:stretch>
            <a:fillRect/>
          </a:stretch>
        </p:blipFill>
        <p:spPr>
          <a:xfrm>
            <a:off x="3683622" y="2592047"/>
            <a:ext cx="228234" cy="228234"/>
          </a:xfrm>
          <a:prstGeom prst="rect">
            <a:avLst/>
          </a:prstGeom>
        </p:spPr>
      </p:pic>
      <p:sp>
        <p:nvSpPr>
          <p:cNvPr id="38" name="Text 29"/>
          <p:cNvSpPr txBox="1"/>
          <p:nvPr/>
        </p:nvSpPr>
        <p:spPr>
          <a:xfrm>
            <a:off x="1667187" y="2349548"/>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מידע דמוגראפי</a:t>
            </a:r>
            <a:endParaRPr lang="he-IL" sz="16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אבחון קהילתי</a:t>
            </a:r>
            <a:endParaRPr lang="he-IL" sz="3000" dirty="0"/>
          </a:p>
        </p:txBody>
      </p:sp>
      <p:sp>
        <p:nvSpPr>
          <p:cNvPr id="3" name="Shape 1"/>
          <p:cNvSpPr/>
          <p:nvPr/>
        </p:nvSpPr>
        <p:spPr>
          <a:xfrm>
            <a:off x="6095848" y="1965960"/>
            <a:ext cx="914" cy="1965960"/>
          </a:xfrm>
          <a:prstGeom prst="line">
            <a:avLst/>
          </a:prstGeom>
          <a:noFill/>
          <a:ln w="19050">
            <a:solidFill>
              <a:schemeClr val="accent1"/>
            </a:solidFill>
            <a:prstDash val="dash"/>
          </a:ln>
        </p:spPr>
      </p:sp>
      <p:sp>
        <p:nvSpPr>
          <p:cNvPr id="4" name="Shape 2"/>
          <p:cNvSpPr/>
          <p:nvPr/>
        </p:nvSpPr>
        <p:spPr>
          <a:xfrm flipH="1">
            <a:off x="6095848" y="2706164"/>
            <a:ext cx="3217080" cy="1225756"/>
          </a:xfrm>
          <a:prstGeom prst="line">
            <a:avLst/>
          </a:prstGeom>
          <a:noFill/>
          <a:ln w="19050">
            <a:solidFill>
              <a:schemeClr val="accent1"/>
            </a:solidFill>
            <a:prstDash val="dash"/>
          </a:ln>
        </p:spPr>
      </p:sp>
      <p:sp>
        <p:nvSpPr>
          <p:cNvPr id="5" name="Shape 3"/>
          <p:cNvSpPr/>
          <p:nvPr/>
        </p:nvSpPr>
        <p:spPr>
          <a:xfrm>
            <a:off x="6095848" y="3931920"/>
            <a:ext cx="4011633" cy="437467"/>
          </a:xfrm>
          <a:prstGeom prst="line">
            <a:avLst/>
          </a:prstGeom>
          <a:noFill/>
          <a:ln w="19050">
            <a:solidFill>
              <a:schemeClr val="accent1"/>
            </a:solidFill>
            <a:prstDash val="dash"/>
          </a:ln>
        </p:spPr>
      </p:sp>
      <p:sp>
        <p:nvSpPr>
          <p:cNvPr id="6" name="Shape 4"/>
          <p:cNvSpPr/>
          <p:nvPr/>
        </p:nvSpPr>
        <p:spPr>
          <a:xfrm>
            <a:off x="6095848" y="3931920"/>
            <a:ext cx="1785345" cy="1771269"/>
          </a:xfrm>
          <a:prstGeom prst="line">
            <a:avLst/>
          </a:prstGeom>
          <a:noFill/>
          <a:ln w="19050">
            <a:solidFill>
              <a:schemeClr val="accent1"/>
            </a:solidFill>
            <a:prstDash val="dash"/>
          </a:ln>
        </p:spPr>
      </p:sp>
      <p:sp>
        <p:nvSpPr>
          <p:cNvPr id="7" name="Shape 5"/>
          <p:cNvSpPr/>
          <p:nvPr/>
        </p:nvSpPr>
        <p:spPr>
          <a:xfrm flipH="1">
            <a:off x="4310503" y="3931920"/>
            <a:ext cx="1785345" cy="1771269"/>
          </a:xfrm>
          <a:prstGeom prst="line">
            <a:avLst/>
          </a:prstGeom>
          <a:noFill/>
          <a:ln w="19050">
            <a:solidFill>
              <a:schemeClr val="accent1"/>
            </a:solidFill>
            <a:prstDash val="dash"/>
          </a:ln>
        </p:spPr>
      </p:sp>
      <p:sp>
        <p:nvSpPr>
          <p:cNvPr id="8" name="Shape 6"/>
          <p:cNvSpPr/>
          <p:nvPr/>
        </p:nvSpPr>
        <p:spPr>
          <a:xfrm flipH="1">
            <a:off x="2084214" y="3931920"/>
            <a:ext cx="4011633" cy="437467"/>
          </a:xfrm>
          <a:prstGeom prst="line">
            <a:avLst/>
          </a:prstGeom>
          <a:noFill/>
          <a:ln w="19050">
            <a:solidFill>
              <a:schemeClr val="accent1"/>
            </a:solidFill>
            <a:prstDash val="dash"/>
          </a:ln>
        </p:spPr>
      </p:sp>
      <p:sp>
        <p:nvSpPr>
          <p:cNvPr id="9" name="Shape 7"/>
          <p:cNvSpPr/>
          <p:nvPr/>
        </p:nvSpPr>
        <p:spPr>
          <a:xfrm>
            <a:off x="2878767" y="2706164"/>
            <a:ext cx="3217080" cy="1225756"/>
          </a:xfrm>
          <a:prstGeom prst="line">
            <a:avLst/>
          </a:prstGeom>
          <a:noFill/>
          <a:ln w="19050">
            <a:solidFill>
              <a:schemeClr val="accent1"/>
            </a:solidFill>
            <a:prstDash val="dash"/>
          </a:ln>
        </p:spPr>
      </p:sp>
      <p:sp>
        <p:nvSpPr>
          <p:cNvPr id="10" name="Text 8"/>
          <p:cNvSpPr/>
          <p:nvPr/>
        </p:nvSpPr>
        <p:spPr>
          <a:xfrm>
            <a:off x="4678528" y="3200400"/>
            <a:ext cx="2834640" cy="1463040"/>
          </a:xfrm>
          <a:prstGeom prst="ellipse">
            <a:avLst/>
          </a:prstGeom>
          <a:solidFill>
            <a:schemeClr val="accent2"/>
          </a:solidFill>
          <a:ln w="38100">
            <a:solidFill>
              <a:schemeClr val="bg1"/>
            </a:solidFill>
          </a:ln>
          <a:effectLst>
            <a:outerShdw sx="100000" sy="100000" kx="0" ky="0" algn="bl" rotWithShape="0" blurRad="101600" dist="25400" dir="5400000">
              <a:srgbClr val="0F4C5C">
                <a:alpha val="14000"/>
              </a:srgbClr>
            </a:outerShdw>
          </a:effectLst>
        </p:spPr>
        <p:txBody>
          <a:bodyPr wrap="square" lIns="76200" tIns="76200" rIns="76200" bIns="76200" rtlCol="0" anchor="ctr"/>
          <a:lstStyle/>
          <a:p>
            <a:pPr rtl="1" algn="ctr" indent="0" marL="0">
              <a:buNone/>
            </a:pPr>
            <a:r>
              <a:rPr lang="he-IL" altLang="en-US" sz="1800" b="1" dirty="0">
                <a:solidFill>
                  <a:schemeClr val="bg1"/>
                </a:solidFill>
                <a:latin typeface="Arial" pitchFamily="34" charset="0"/>
                <a:ea typeface="Arial" pitchFamily="34" charset="-122"/>
                <a:cs typeface="Arial" pitchFamily="34" charset="-120"/>
              </a:rPr>
              <a:t>כיצד ניתן ללמוד על הקהילה?</a:t>
            </a:r>
            <a:endParaRPr lang="he-IL" sz="1800" dirty="0"/>
          </a:p>
        </p:txBody>
      </p:sp>
      <p:sp>
        <p:nvSpPr>
          <p:cNvPr id="11" name="Shape 9"/>
          <p:cNvSpPr/>
          <p:nvPr/>
        </p:nvSpPr>
        <p:spPr>
          <a:xfrm>
            <a:off x="4792828" y="1609344"/>
            <a:ext cx="2606040" cy="713232"/>
          </a:xfrm>
          <a:prstGeom prst="roundRect">
            <a:avLst>
              <a:gd name="adj" fmla="val 15385"/>
            </a:avLst>
          </a:prstGeom>
          <a:solidFill>
            <a:schemeClr val="bg1"/>
          </a:solidFill>
          <a:ln w="19050">
            <a:solidFill>
              <a:schemeClr val="accent1"/>
            </a:solidFill>
            <a:prstDash val="solid"/>
          </a:ln>
          <a:effectLst>
            <a:outerShdw sx="100000" sy="100000" kx="0" ky="0" algn="bl" rotWithShape="0" blurRad="101600" dist="25400" dir="5400000">
              <a:srgbClr val="0F4C5C">
                <a:alpha val="14000"/>
              </a:srgbClr>
            </a:outerShdw>
          </a:effectLst>
        </p:spPr>
      </p:sp>
      <p:sp>
        <p:nvSpPr>
          <p:cNvPr id="12" name="Shape 10"/>
          <p:cNvSpPr/>
          <p:nvPr/>
        </p:nvSpPr>
        <p:spPr>
          <a:xfrm>
            <a:off x="6777076" y="1728216"/>
            <a:ext cx="475488" cy="475488"/>
          </a:xfrm>
          <a:prstGeom prst="ellipse">
            <a:avLst/>
          </a:prstGeom>
          <a:solidFill>
            <a:schemeClr val="accent1"/>
          </a:solidFill>
          <a:ln w="12700">
            <a:solidFill>
              <a:schemeClr val="accent1"/>
            </a:solidFill>
            <a:prstDash val="solid"/>
          </a:ln>
        </p:spPr>
      </p:sp>
      <p:pic>
        <p:nvPicPr>
          <p:cNvPr id="13" name="Image 0" descr="preencoded.png">    </p:cNvPr>
          <p:cNvPicPr>
            <a:picLocks noChangeAspect="1"/>
          </p:cNvPicPr>
          <p:nvPr/>
        </p:nvPicPr>
        <p:blipFill>
          <a:blip r:embed="rId1"/>
          <a:stretch>
            <a:fillRect/>
          </a:stretch>
        </p:blipFill>
        <p:spPr>
          <a:xfrm>
            <a:off x="6900702" y="1851843"/>
            <a:ext cx="228234" cy="228234"/>
          </a:xfrm>
          <a:prstGeom prst="rect">
            <a:avLst/>
          </a:prstGeom>
        </p:spPr>
      </p:pic>
      <p:sp>
        <p:nvSpPr>
          <p:cNvPr id="14" name="Text 11"/>
          <p:cNvSpPr txBox="1"/>
          <p:nvPr/>
        </p:nvSpPr>
        <p:spPr>
          <a:xfrm>
            <a:off x="4884268" y="1609344"/>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תצפית</a:t>
            </a:r>
            <a:endParaRPr lang="he-IL" sz="1600" dirty="0"/>
          </a:p>
        </p:txBody>
      </p:sp>
      <p:sp>
        <p:nvSpPr>
          <p:cNvPr id="15" name="Shape 12"/>
          <p:cNvSpPr/>
          <p:nvPr/>
        </p:nvSpPr>
        <p:spPr>
          <a:xfrm>
            <a:off x="8009908" y="2349548"/>
            <a:ext cx="2606040" cy="713232"/>
          </a:xfrm>
          <a:prstGeom prst="roundRect">
            <a:avLst>
              <a:gd name="adj" fmla="val 15385"/>
            </a:avLst>
          </a:prstGeom>
          <a:solidFill>
            <a:schemeClr val="bg1"/>
          </a:solidFill>
          <a:ln w="19050">
            <a:solidFill>
              <a:schemeClr val="accent3"/>
            </a:solidFill>
            <a:prstDash val="solid"/>
          </a:ln>
          <a:effectLst>
            <a:outerShdw sx="100000" sy="100000" kx="0" ky="0" algn="bl" rotWithShape="0" blurRad="101600" dist="25400" dir="5400000">
              <a:srgbClr val="0F4C5C">
                <a:alpha val="14000"/>
              </a:srgbClr>
            </a:outerShdw>
          </a:effectLst>
        </p:spPr>
      </p:sp>
      <p:sp>
        <p:nvSpPr>
          <p:cNvPr id="16" name="Shape 13"/>
          <p:cNvSpPr/>
          <p:nvPr/>
        </p:nvSpPr>
        <p:spPr>
          <a:xfrm>
            <a:off x="9994156" y="2468420"/>
            <a:ext cx="475488" cy="475488"/>
          </a:xfrm>
          <a:prstGeom prst="ellipse">
            <a:avLst/>
          </a:prstGeom>
          <a:solidFill>
            <a:schemeClr val="accent3"/>
          </a:solidFill>
          <a:ln w="12700">
            <a:solidFill>
              <a:schemeClr val="accent3"/>
            </a:solidFill>
            <a:prstDash val="solid"/>
          </a:ln>
        </p:spPr>
      </p:sp>
      <p:pic>
        <p:nvPicPr>
          <p:cNvPr id="17" name="Image 1" descr="preencoded.png">    </p:cNvPr>
          <p:cNvPicPr>
            <a:picLocks noChangeAspect="1"/>
          </p:cNvPicPr>
          <p:nvPr/>
        </p:nvPicPr>
        <p:blipFill>
          <a:blip r:embed="rId2"/>
          <a:stretch>
            <a:fillRect/>
          </a:stretch>
        </p:blipFill>
        <p:spPr>
          <a:xfrm>
            <a:off x="10117783" y="2592047"/>
            <a:ext cx="228234" cy="228234"/>
          </a:xfrm>
          <a:prstGeom prst="rect">
            <a:avLst/>
          </a:prstGeom>
        </p:spPr>
      </p:pic>
      <p:sp>
        <p:nvSpPr>
          <p:cNvPr id="18" name="Text 14"/>
          <p:cNvSpPr txBox="1"/>
          <p:nvPr/>
        </p:nvSpPr>
        <p:spPr>
          <a:xfrm>
            <a:off x="8101348" y="2349548"/>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ראיון</a:t>
            </a:r>
            <a:endParaRPr lang="he-IL" sz="1600" dirty="0"/>
          </a:p>
        </p:txBody>
      </p:sp>
      <p:sp>
        <p:nvSpPr>
          <p:cNvPr id="19" name="Shape 15"/>
          <p:cNvSpPr/>
          <p:nvPr/>
        </p:nvSpPr>
        <p:spPr>
          <a:xfrm>
            <a:off x="8804461" y="4012771"/>
            <a:ext cx="2606040" cy="713232"/>
          </a:xfrm>
          <a:prstGeom prst="roundRect">
            <a:avLst>
              <a:gd name="adj" fmla="val 15385"/>
            </a:avLst>
          </a:prstGeom>
          <a:solidFill>
            <a:schemeClr val="bg1"/>
          </a:solidFill>
          <a:ln w="19050">
            <a:solidFill>
              <a:schemeClr val="accent4"/>
            </a:solidFill>
            <a:prstDash val="solid"/>
          </a:ln>
          <a:effectLst>
            <a:outerShdw sx="100000" sy="100000" kx="0" ky="0" algn="bl" rotWithShape="0" blurRad="101600" dist="25400" dir="5400000">
              <a:srgbClr val="0F4C5C">
                <a:alpha val="14000"/>
              </a:srgbClr>
            </a:outerShdw>
          </a:effectLst>
        </p:spPr>
      </p:sp>
      <p:sp>
        <p:nvSpPr>
          <p:cNvPr id="20" name="Shape 16"/>
          <p:cNvSpPr/>
          <p:nvPr/>
        </p:nvSpPr>
        <p:spPr>
          <a:xfrm>
            <a:off x="10788709" y="4131643"/>
            <a:ext cx="475488" cy="475488"/>
          </a:xfrm>
          <a:prstGeom prst="ellipse">
            <a:avLst/>
          </a:prstGeom>
          <a:solidFill>
            <a:schemeClr val="accent4"/>
          </a:solidFill>
          <a:ln w="12700">
            <a:solidFill>
              <a:schemeClr val="accent4"/>
            </a:solidFill>
            <a:prstDash val="solid"/>
          </a:ln>
        </p:spPr>
      </p:sp>
      <p:pic>
        <p:nvPicPr>
          <p:cNvPr id="21" name="Image 2" descr="preencoded.png">    </p:cNvPr>
          <p:cNvPicPr>
            <a:picLocks noChangeAspect="1"/>
          </p:cNvPicPr>
          <p:nvPr/>
        </p:nvPicPr>
        <p:blipFill>
          <a:blip r:embed="rId3"/>
          <a:stretch>
            <a:fillRect/>
          </a:stretch>
        </p:blipFill>
        <p:spPr>
          <a:xfrm>
            <a:off x="10912336" y="4255270"/>
            <a:ext cx="228234" cy="228234"/>
          </a:xfrm>
          <a:prstGeom prst="rect">
            <a:avLst/>
          </a:prstGeom>
        </p:spPr>
      </p:pic>
      <p:sp>
        <p:nvSpPr>
          <p:cNvPr id="22" name="Text 17"/>
          <p:cNvSpPr txBox="1"/>
          <p:nvPr/>
        </p:nvSpPr>
        <p:spPr>
          <a:xfrm>
            <a:off x="8895901" y="4012771"/>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צפיה בתיעוד (תמונות, סרטים)</a:t>
            </a:r>
            <a:endParaRPr lang="he-IL" sz="1600" dirty="0"/>
          </a:p>
        </p:txBody>
      </p:sp>
      <p:sp>
        <p:nvSpPr>
          <p:cNvPr id="23" name="Shape 18"/>
          <p:cNvSpPr/>
          <p:nvPr/>
        </p:nvSpPr>
        <p:spPr>
          <a:xfrm>
            <a:off x="6578172" y="5346573"/>
            <a:ext cx="2606040" cy="713232"/>
          </a:xfrm>
          <a:prstGeom prst="roundRect">
            <a:avLst>
              <a:gd name="adj" fmla="val 15385"/>
            </a:avLst>
          </a:prstGeom>
          <a:solidFill>
            <a:schemeClr val="bg1"/>
          </a:solidFill>
          <a:ln w="19050">
            <a:solidFill>
              <a:schemeClr val="accent6"/>
            </a:solidFill>
            <a:prstDash val="solid"/>
          </a:ln>
          <a:effectLst>
            <a:outerShdw sx="100000" sy="100000" kx="0" ky="0" algn="bl" rotWithShape="0" blurRad="101600" dist="25400" dir="5400000">
              <a:srgbClr val="0F4C5C">
                <a:alpha val="14000"/>
              </a:srgbClr>
            </a:outerShdw>
          </a:effectLst>
        </p:spPr>
      </p:sp>
      <p:sp>
        <p:nvSpPr>
          <p:cNvPr id="24" name="Shape 19"/>
          <p:cNvSpPr/>
          <p:nvPr/>
        </p:nvSpPr>
        <p:spPr>
          <a:xfrm>
            <a:off x="8562420" y="5465445"/>
            <a:ext cx="475488" cy="475488"/>
          </a:xfrm>
          <a:prstGeom prst="ellipse">
            <a:avLst/>
          </a:prstGeom>
          <a:solidFill>
            <a:schemeClr val="accent6"/>
          </a:solidFill>
          <a:ln w="12700">
            <a:solidFill>
              <a:schemeClr val="accent6"/>
            </a:solidFill>
            <a:prstDash val="solid"/>
          </a:ln>
        </p:spPr>
      </p:sp>
      <p:pic>
        <p:nvPicPr>
          <p:cNvPr id="25" name="Image 3" descr="preencoded.png">    </p:cNvPr>
          <p:cNvPicPr>
            <a:picLocks noChangeAspect="1"/>
          </p:cNvPicPr>
          <p:nvPr/>
        </p:nvPicPr>
        <p:blipFill>
          <a:blip r:embed="rId4"/>
          <a:stretch>
            <a:fillRect/>
          </a:stretch>
        </p:blipFill>
        <p:spPr>
          <a:xfrm>
            <a:off x="8686047" y="5589072"/>
            <a:ext cx="228234" cy="228234"/>
          </a:xfrm>
          <a:prstGeom prst="rect">
            <a:avLst/>
          </a:prstGeom>
        </p:spPr>
      </p:pic>
      <p:sp>
        <p:nvSpPr>
          <p:cNvPr id="26" name="Text 20"/>
          <p:cNvSpPr txBox="1"/>
          <p:nvPr/>
        </p:nvSpPr>
        <p:spPr>
          <a:xfrm>
            <a:off x="6669612" y="5346573"/>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חיפוש מידע כתוב</a:t>
            </a:r>
            <a:endParaRPr lang="he-IL" sz="1600" dirty="0"/>
          </a:p>
        </p:txBody>
      </p:sp>
      <p:sp>
        <p:nvSpPr>
          <p:cNvPr id="27" name="Shape 21"/>
          <p:cNvSpPr/>
          <p:nvPr/>
        </p:nvSpPr>
        <p:spPr>
          <a:xfrm>
            <a:off x="3007483" y="5346573"/>
            <a:ext cx="2606040" cy="713232"/>
          </a:xfrm>
          <a:prstGeom prst="roundRect">
            <a:avLst>
              <a:gd name="adj" fmla="val 15385"/>
            </a:avLst>
          </a:prstGeom>
          <a:solidFill>
            <a:schemeClr val="bg1"/>
          </a:solidFill>
          <a:ln w="19050">
            <a:solidFill>
              <a:schemeClr val="accent5"/>
            </a:solidFill>
            <a:prstDash val="solid"/>
          </a:ln>
          <a:effectLst>
            <a:outerShdw sx="100000" sy="100000" kx="0" ky="0" algn="bl" rotWithShape="0" blurRad="101600" dist="25400" dir="5400000">
              <a:srgbClr val="0F4C5C">
                <a:alpha val="14000"/>
              </a:srgbClr>
            </a:outerShdw>
          </a:effectLst>
        </p:spPr>
      </p:sp>
      <p:sp>
        <p:nvSpPr>
          <p:cNvPr id="28" name="Shape 22"/>
          <p:cNvSpPr/>
          <p:nvPr/>
        </p:nvSpPr>
        <p:spPr>
          <a:xfrm>
            <a:off x="4991731" y="5465445"/>
            <a:ext cx="475488" cy="475488"/>
          </a:xfrm>
          <a:prstGeom prst="ellipse">
            <a:avLst/>
          </a:prstGeom>
          <a:solidFill>
            <a:schemeClr val="accent5"/>
          </a:solidFill>
          <a:ln w="12700">
            <a:solidFill>
              <a:schemeClr val="accent5"/>
            </a:solidFill>
            <a:prstDash val="solid"/>
          </a:ln>
        </p:spPr>
      </p:sp>
      <p:pic>
        <p:nvPicPr>
          <p:cNvPr id="29" name="Image 4" descr="preencoded.png">    </p:cNvPr>
          <p:cNvPicPr>
            <a:picLocks noChangeAspect="1"/>
          </p:cNvPicPr>
          <p:nvPr/>
        </p:nvPicPr>
        <p:blipFill>
          <a:blip r:embed="rId5"/>
          <a:stretch>
            <a:fillRect/>
          </a:stretch>
        </p:blipFill>
        <p:spPr>
          <a:xfrm>
            <a:off x="5115358" y="5589072"/>
            <a:ext cx="228234" cy="228234"/>
          </a:xfrm>
          <a:prstGeom prst="rect">
            <a:avLst/>
          </a:prstGeom>
        </p:spPr>
      </p:pic>
      <p:sp>
        <p:nvSpPr>
          <p:cNvPr id="30" name="Text 23"/>
          <p:cNvSpPr txBox="1"/>
          <p:nvPr/>
        </p:nvSpPr>
        <p:spPr>
          <a:xfrm>
            <a:off x="3098923" y="5346573"/>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השתתפות בפעילות בקהילה</a:t>
            </a:r>
            <a:endParaRPr lang="he-IL" sz="1600" dirty="0"/>
          </a:p>
        </p:txBody>
      </p:sp>
      <p:sp>
        <p:nvSpPr>
          <p:cNvPr id="31" name="Shape 24"/>
          <p:cNvSpPr/>
          <p:nvPr/>
        </p:nvSpPr>
        <p:spPr>
          <a:xfrm>
            <a:off x="781194" y="4012771"/>
            <a:ext cx="2606040" cy="713232"/>
          </a:xfrm>
          <a:prstGeom prst="roundRect">
            <a:avLst>
              <a:gd name="adj" fmla="val 15385"/>
            </a:avLst>
          </a:prstGeom>
          <a:solidFill>
            <a:schemeClr val="bg1"/>
          </a:solidFill>
          <a:ln w="19050">
            <a:solidFill>
              <a:schemeClr val="tx2"/>
            </a:solidFill>
            <a:prstDash val="solid"/>
          </a:ln>
          <a:effectLst>
            <a:outerShdw sx="100000" sy="100000" kx="0" ky="0" algn="bl" rotWithShape="0" blurRad="101600" dist="25400" dir="5400000">
              <a:srgbClr val="0F4C5C">
                <a:alpha val="14000"/>
              </a:srgbClr>
            </a:outerShdw>
          </a:effectLst>
        </p:spPr>
      </p:sp>
      <p:sp>
        <p:nvSpPr>
          <p:cNvPr id="32" name="Shape 25"/>
          <p:cNvSpPr/>
          <p:nvPr/>
        </p:nvSpPr>
        <p:spPr>
          <a:xfrm>
            <a:off x="2765442" y="4131643"/>
            <a:ext cx="475488" cy="475488"/>
          </a:xfrm>
          <a:prstGeom prst="ellipse">
            <a:avLst/>
          </a:prstGeom>
          <a:solidFill>
            <a:schemeClr val="tx2"/>
          </a:solidFill>
          <a:ln w="12700">
            <a:solidFill>
              <a:schemeClr val="tx2"/>
            </a:solidFill>
            <a:prstDash val="solid"/>
          </a:ln>
        </p:spPr>
      </p:sp>
      <p:pic>
        <p:nvPicPr>
          <p:cNvPr id="33" name="Image 5" descr="preencoded.png">    </p:cNvPr>
          <p:cNvPicPr>
            <a:picLocks noChangeAspect="1"/>
          </p:cNvPicPr>
          <p:nvPr/>
        </p:nvPicPr>
        <p:blipFill>
          <a:blip r:embed="rId6"/>
          <a:stretch>
            <a:fillRect/>
          </a:stretch>
        </p:blipFill>
        <p:spPr>
          <a:xfrm>
            <a:off x="2889069" y="4255270"/>
            <a:ext cx="228234" cy="228234"/>
          </a:xfrm>
          <a:prstGeom prst="rect">
            <a:avLst/>
          </a:prstGeom>
        </p:spPr>
      </p:pic>
      <p:sp>
        <p:nvSpPr>
          <p:cNvPr id="34" name="Text 26"/>
          <p:cNvSpPr txBox="1"/>
          <p:nvPr/>
        </p:nvSpPr>
        <p:spPr>
          <a:xfrm>
            <a:off x="872634" y="4012771"/>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סקר</a:t>
            </a:r>
            <a:endParaRPr lang="he-IL" sz="1600" dirty="0"/>
          </a:p>
        </p:txBody>
      </p:sp>
      <p:sp>
        <p:nvSpPr>
          <p:cNvPr id="35" name="Shape 27"/>
          <p:cNvSpPr/>
          <p:nvPr/>
        </p:nvSpPr>
        <p:spPr>
          <a:xfrm>
            <a:off x="1575747" y="2349548"/>
            <a:ext cx="2606040" cy="713232"/>
          </a:xfrm>
          <a:prstGeom prst="roundRect">
            <a:avLst>
              <a:gd name="adj" fmla="val 15385"/>
            </a:avLst>
          </a:prstGeom>
          <a:solidFill>
            <a:schemeClr val="bg1"/>
          </a:solidFill>
          <a:ln w="19050">
            <a:solidFill>
              <a:schemeClr val="accent2"/>
            </a:solidFill>
            <a:prstDash val="solid"/>
          </a:ln>
          <a:effectLst>
            <a:outerShdw sx="100000" sy="100000" kx="0" ky="0" algn="bl" rotWithShape="0" blurRad="101600" dist="25400" dir="5400000">
              <a:srgbClr val="0F4C5C">
                <a:alpha val="14000"/>
              </a:srgbClr>
            </a:outerShdw>
          </a:effectLst>
        </p:spPr>
      </p:sp>
      <p:sp>
        <p:nvSpPr>
          <p:cNvPr id="36" name="Shape 28"/>
          <p:cNvSpPr/>
          <p:nvPr/>
        </p:nvSpPr>
        <p:spPr>
          <a:xfrm>
            <a:off x="3559995" y="2468420"/>
            <a:ext cx="475488" cy="475488"/>
          </a:xfrm>
          <a:prstGeom prst="ellipse">
            <a:avLst/>
          </a:prstGeom>
          <a:solidFill>
            <a:schemeClr val="accent2"/>
          </a:solidFill>
          <a:ln w="12700">
            <a:solidFill>
              <a:schemeClr val="accent2"/>
            </a:solidFill>
            <a:prstDash val="solid"/>
          </a:ln>
        </p:spPr>
      </p:sp>
      <p:pic>
        <p:nvPicPr>
          <p:cNvPr id="37" name="Image 6" descr="preencoded.png">    </p:cNvPr>
          <p:cNvPicPr>
            <a:picLocks noChangeAspect="1"/>
          </p:cNvPicPr>
          <p:nvPr/>
        </p:nvPicPr>
        <p:blipFill>
          <a:blip r:embed="rId7"/>
          <a:stretch>
            <a:fillRect/>
          </a:stretch>
        </p:blipFill>
        <p:spPr>
          <a:xfrm>
            <a:off x="3683622" y="2592047"/>
            <a:ext cx="228234" cy="228234"/>
          </a:xfrm>
          <a:prstGeom prst="rect">
            <a:avLst/>
          </a:prstGeom>
        </p:spPr>
      </p:pic>
      <p:sp>
        <p:nvSpPr>
          <p:cNvPr id="38" name="Text 29"/>
          <p:cNvSpPr txBox="1"/>
          <p:nvPr/>
        </p:nvSpPr>
        <p:spPr>
          <a:xfrm>
            <a:off x="1667187" y="2349548"/>
            <a:ext cx="1828800" cy="713232"/>
          </a:xfrm>
          <a:prstGeom prst="rect">
            <a:avLst/>
          </a:prstGeom>
          <a:noFill/>
          <a:ln/>
        </p:spPr>
        <p:txBody>
          <a:bodyPr wrap="square" lIns="50800" tIns="50800" rIns="50800" bIns="50800" rtlCol="0" anchor="ctr"/>
          <a:lstStyle/>
          <a:p>
            <a:pPr rtl="1" algn="r" indent="0" marL="0">
              <a:buNone/>
            </a:pPr>
            <a:r>
              <a:rPr lang="he-IL" altLang="en-US" sz="1600" b="1" dirty="0">
                <a:solidFill>
                  <a:schemeClr val="tx1"/>
                </a:solidFill>
                <a:latin typeface="Arial" pitchFamily="34" charset="0"/>
                <a:ea typeface="Arial" pitchFamily="34" charset="-122"/>
                <a:cs typeface="Arial" pitchFamily="34" charset="-120"/>
              </a:rPr>
              <a:t>קבוצות מיקוד</a:t>
            </a:r>
            <a:endParaRPr lang="he-IL" sz="16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גבעת הפרחים – קישור למצגת</a:t>
            </a:r>
            <a:endParaRPr lang="he-IL" sz="3000" dirty="0"/>
          </a:p>
        </p:txBody>
      </p:sp>
      <p:sp>
        <p:nvSpPr>
          <p:cNvPr id="3" name="Text 1"/>
          <p:cNvSpPr txBox="1"/>
          <p:nvPr/>
        </p:nvSpPr>
        <p:spPr>
          <a:xfrm>
            <a:off x="548640" y="1508760"/>
            <a:ext cx="11091672" cy="548640"/>
          </a:xfrm>
          <a:prstGeom prst="rect">
            <a:avLst/>
          </a:prstGeom>
          <a:noFill/>
          <a:ln/>
        </p:spPr>
        <p:txBody>
          <a:bodyPr wrap="square" lIns="50800" tIns="50800" rIns="50800" bIns="50800" rtlCol="0" anchor="t"/>
          <a:lstStyle/>
          <a:p>
            <a:pPr rtl="1" algn="r" indent="0" marL="0">
              <a:buNone/>
            </a:pPr>
            <a:r>
              <a:rPr lang="he-IL" altLang="en-US" sz="2400" b="1" dirty="0">
                <a:solidFill>
                  <a:schemeClr val="accent1"/>
                </a:solidFill>
                <a:latin typeface="Arial" pitchFamily="34" charset="0"/>
                <a:ea typeface="Arial" pitchFamily="34" charset="-122"/>
                <a:cs typeface="Arial" pitchFamily="34" charset="-120"/>
              </a:rPr>
              <a:t>מה למדנו מהסיפור?</a:t>
            </a:r>
            <a:endParaRPr lang="he-IL" sz="2400" dirty="0"/>
          </a:p>
        </p:txBody>
      </p:sp>
      <p:sp>
        <p:nvSpPr>
          <p:cNvPr id="4" name="Shape 2"/>
          <p:cNvSpPr/>
          <p:nvPr/>
        </p:nvSpPr>
        <p:spPr>
          <a:xfrm>
            <a:off x="8122615" y="2331720"/>
            <a:ext cx="3520440" cy="3383280"/>
          </a:xfrm>
          <a:prstGeom prst="roundRect">
            <a:avLst>
              <a:gd name="adj" fmla="val 3243"/>
            </a:avLst>
          </a:prstGeom>
          <a:solidFill>
            <a:schemeClr val="bg2"/>
          </a:solidFill>
          <a:ln w="12700">
            <a:solidFill>
              <a:schemeClr val="bg2"/>
            </a:solidFill>
            <a:prstDash val="solid"/>
          </a:ln>
        </p:spPr>
      </p:sp>
      <p:sp>
        <p:nvSpPr>
          <p:cNvPr id="5" name="Shape 3"/>
          <p:cNvSpPr/>
          <p:nvPr/>
        </p:nvSpPr>
        <p:spPr>
          <a:xfrm>
            <a:off x="9379915" y="2697480"/>
            <a:ext cx="1005840" cy="10058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641434" y="2958998"/>
            <a:ext cx="482803" cy="482803"/>
          </a:xfrm>
          <a:prstGeom prst="rect">
            <a:avLst/>
          </a:prstGeom>
        </p:spPr>
      </p:pic>
      <p:sp>
        <p:nvSpPr>
          <p:cNvPr id="7" name="Text 4"/>
          <p:cNvSpPr txBox="1"/>
          <p:nvPr/>
        </p:nvSpPr>
        <p:spPr>
          <a:xfrm>
            <a:off x="8351215" y="3931920"/>
            <a:ext cx="3063240" cy="1600200"/>
          </a:xfrm>
          <a:prstGeom prst="rect">
            <a:avLst/>
          </a:prstGeom>
          <a:noFill/>
          <a:ln/>
        </p:spPr>
        <p:txBody>
          <a:bodyPr wrap="square" lIns="50800" tIns="50800" rIns="50800" bIns="50800" rtlCol="0" anchor="t"/>
          <a:lstStyle/>
          <a:p>
            <a:pPr rtl="1" algn="ctr" indent="0" marL="0">
              <a:buNone/>
            </a:pPr>
            <a:r>
              <a:rPr lang="he-IL" altLang="en-US" sz="2000" dirty="0">
                <a:solidFill>
                  <a:schemeClr val="tx1"/>
                </a:solidFill>
                <a:latin typeface="Arial" pitchFamily="34" charset="0"/>
                <a:ea typeface="Arial" pitchFamily="34" charset="-122"/>
                <a:cs typeface="Arial" pitchFamily="34" charset="-120"/>
              </a:rPr>
              <a:t>הבדל בין טיפול למניעה</a:t>
            </a:r>
            <a:endParaRPr lang="he-IL" sz="2000" dirty="0"/>
          </a:p>
        </p:txBody>
      </p:sp>
      <p:sp>
        <p:nvSpPr>
          <p:cNvPr id="8" name="Shape 5"/>
          <p:cNvSpPr/>
          <p:nvPr/>
        </p:nvSpPr>
        <p:spPr>
          <a:xfrm>
            <a:off x="4336999" y="2331720"/>
            <a:ext cx="3520440" cy="3383280"/>
          </a:xfrm>
          <a:prstGeom prst="roundRect">
            <a:avLst>
              <a:gd name="adj" fmla="val 3243"/>
            </a:avLst>
          </a:prstGeom>
          <a:solidFill>
            <a:schemeClr val="bg2"/>
          </a:solidFill>
          <a:ln w="12700">
            <a:solidFill>
              <a:schemeClr val="bg2"/>
            </a:solidFill>
            <a:prstDash val="solid"/>
          </a:ln>
        </p:spPr>
      </p:sp>
      <p:sp>
        <p:nvSpPr>
          <p:cNvPr id="9" name="Shape 6"/>
          <p:cNvSpPr/>
          <p:nvPr/>
        </p:nvSpPr>
        <p:spPr>
          <a:xfrm>
            <a:off x="5594299" y="2697480"/>
            <a:ext cx="1005840" cy="1005840"/>
          </a:xfrm>
          <a:prstGeom prst="ellipse">
            <a:avLst/>
          </a:prstGeom>
          <a:solidFill>
            <a:schemeClr val="accent3"/>
          </a:solidFill>
          <a:ln w="12700">
            <a:solidFill>
              <a:schemeClr val="accent3"/>
            </a:solidFill>
            <a:prstDash val="solid"/>
          </a:ln>
        </p:spPr>
      </p:sp>
      <p:pic>
        <p:nvPicPr>
          <p:cNvPr id="10" name="Image 1" descr="preencoded.png">    </p:cNvPr>
          <p:cNvPicPr>
            <a:picLocks noChangeAspect="1"/>
          </p:cNvPicPr>
          <p:nvPr/>
        </p:nvPicPr>
        <p:blipFill>
          <a:blip r:embed="rId2"/>
          <a:stretch>
            <a:fillRect/>
          </a:stretch>
        </p:blipFill>
        <p:spPr>
          <a:xfrm>
            <a:off x="5855818" y="2958998"/>
            <a:ext cx="482803" cy="482803"/>
          </a:xfrm>
          <a:prstGeom prst="rect">
            <a:avLst/>
          </a:prstGeom>
        </p:spPr>
      </p:pic>
      <p:sp>
        <p:nvSpPr>
          <p:cNvPr id="11" name="Text 7"/>
          <p:cNvSpPr txBox="1"/>
          <p:nvPr/>
        </p:nvSpPr>
        <p:spPr>
          <a:xfrm>
            <a:off x="4565599" y="3931920"/>
            <a:ext cx="3063240" cy="1600200"/>
          </a:xfrm>
          <a:prstGeom prst="rect">
            <a:avLst/>
          </a:prstGeom>
          <a:noFill/>
          <a:ln/>
        </p:spPr>
        <p:txBody>
          <a:bodyPr wrap="square" lIns="50800" tIns="50800" rIns="50800" bIns="50800" rtlCol="0" anchor="t"/>
          <a:lstStyle/>
          <a:p>
            <a:pPr rtl="1" algn="ctr" indent="0" marL="0">
              <a:buNone/>
            </a:pPr>
            <a:r>
              <a:rPr lang="he-IL" altLang="en-US" sz="2000" dirty="0">
                <a:solidFill>
                  <a:schemeClr val="tx1"/>
                </a:solidFill>
                <a:latin typeface="Arial" pitchFamily="34" charset="0"/>
                <a:ea typeface="Arial" pitchFamily="34" charset="-122"/>
                <a:cs typeface="Arial" pitchFamily="34" charset="-120"/>
              </a:rPr>
              <a:t>הבדל בין חינוך לבריאות לקידום בריאות</a:t>
            </a:r>
            <a:endParaRPr lang="he-IL" sz="2000" dirty="0"/>
          </a:p>
        </p:txBody>
      </p:sp>
      <p:sp>
        <p:nvSpPr>
          <p:cNvPr id="12" name="Shape 8"/>
          <p:cNvSpPr/>
          <p:nvPr/>
        </p:nvSpPr>
        <p:spPr>
          <a:xfrm>
            <a:off x="551383" y="2331720"/>
            <a:ext cx="3520440" cy="3383280"/>
          </a:xfrm>
          <a:prstGeom prst="roundRect">
            <a:avLst>
              <a:gd name="adj" fmla="val 3243"/>
            </a:avLst>
          </a:prstGeom>
          <a:solidFill>
            <a:schemeClr val="bg2"/>
          </a:solidFill>
          <a:ln w="12700">
            <a:solidFill>
              <a:schemeClr val="bg2"/>
            </a:solidFill>
            <a:prstDash val="solid"/>
          </a:ln>
        </p:spPr>
      </p:sp>
      <p:sp>
        <p:nvSpPr>
          <p:cNvPr id="13" name="Shape 9"/>
          <p:cNvSpPr/>
          <p:nvPr/>
        </p:nvSpPr>
        <p:spPr>
          <a:xfrm>
            <a:off x="1808683" y="2697480"/>
            <a:ext cx="1005840" cy="1005840"/>
          </a:xfrm>
          <a:prstGeom prst="ellipse">
            <a:avLst/>
          </a:prstGeom>
          <a:solidFill>
            <a:schemeClr val="accent2"/>
          </a:solidFill>
          <a:ln w="12700">
            <a:solidFill>
              <a:schemeClr val="accent2"/>
            </a:solidFill>
            <a:prstDash val="solid"/>
          </a:ln>
        </p:spPr>
      </p:sp>
      <p:pic>
        <p:nvPicPr>
          <p:cNvPr id="14" name="Image 2" descr="preencoded.png">    </p:cNvPr>
          <p:cNvPicPr>
            <a:picLocks noChangeAspect="1"/>
          </p:cNvPicPr>
          <p:nvPr/>
        </p:nvPicPr>
        <p:blipFill>
          <a:blip r:embed="rId3"/>
          <a:stretch>
            <a:fillRect/>
          </a:stretch>
        </p:blipFill>
        <p:spPr>
          <a:xfrm>
            <a:off x="2070202" y="2958998"/>
            <a:ext cx="482803" cy="482803"/>
          </a:xfrm>
          <a:prstGeom prst="rect">
            <a:avLst/>
          </a:prstGeom>
        </p:spPr>
      </p:pic>
      <p:sp>
        <p:nvSpPr>
          <p:cNvPr id="15" name="Text 10"/>
          <p:cNvSpPr txBox="1"/>
          <p:nvPr/>
        </p:nvSpPr>
        <p:spPr>
          <a:xfrm>
            <a:off x="779983" y="3931920"/>
            <a:ext cx="3063240" cy="1600200"/>
          </a:xfrm>
          <a:prstGeom prst="rect">
            <a:avLst/>
          </a:prstGeom>
          <a:noFill/>
          <a:ln/>
        </p:spPr>
        <p:txBody>
          <a:bodyPr wrap="square" lIns="50800" tIns="50800" rIns="50800" bIns="50800" rtlCol="0" anchor="t"/>
          <a:lstStyle/>
          <a:p>
            <a:pPr rtl="1" algn="ctr" indent="0" marL="0">
              <a:buNone/>
            </a:pPr>
            <a:r>
              <a:rPr lang="he-IL" altLang="en-US" sz="2000" b="1" dirty="0">
                <a:solidFill>
                  <a:schemeClr val="tx1"/>
                </a:solidFill>
                <a:latin typeface="Arial" pitchFamily="34" charset="0"/>
                <a:ea typeface="Arial" pitchFamily="34" charset="-122"/>
                <a:cs typeface="Arial" pitchFamily="34" charset="-120"/>
              </a:rPr>
              <a:t>חובת השילוב ביניהם-</a:t>
            </a:r>
            <a:endParaRPr lang="he-IL" sz="2000" dirty="0"/>
          </a:p>
          <a:p>
            <a:pPr rtl="1" algn="ctr" indent="0" marL="0">
              <a:buNone/>
            </a:pPr>
            <a:r>
              <a:rPr lang="he-IL" altLang="en-US" sz="2000" dirty="0">
                <a:solidFill>
                  <a:schemeClr val="tx1"/>
                </a:solidFill>
                <a:latin typeface="Arial" pitchFamily="34" charset="0"/>
                <a:ea typeface="Arial" pitchFamily="34" charset="-122"/>
                <a:cs typeface="Arial" pitchFamily="34" charset="-120"/>
              </a:rPr>
              <a:t>על- מנת להצליח להניע תהליכים ולערוך שינוי</a:t>
            </a:r>
            <a:endParaRPr lang="he-IL" sz="20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אדם משוחח בטלפון ליד חלון">    </p:cNvPr>
          <p:cNvPicPr>
            <a:picLocks noChangeAspect="1"/>
          </p:cNvPicPr>
          <p:nvPr/>
        </p:nvPicPr>
        <p:blipFill>
          <a:blip r:embed="rId1"/>
          <a:srcRect l="0" r="0" t="0" b="0"/>
          <a:stretch/>
        </p:blipFill>
        <p:spPr>
          <a:xfrm>
            <a:off x="0" y="0"/>
            <a:ext cx="5120640" cy="6858000"/>
          </a:xfrm>
          <a:prstGeom prst="rect">
            <a:avLst/>
          </a:prstGeom>
        </p:spPr>
      </p:pic>
      <p:sp>
        <p:nvSpPr>
          <p:cNvPr id="3" name="Shape 0"/>
          <p:cNvSpPr/>
          <p:nvPr/>
        </p:nvSpPr>
        <p:spPr>
          <a:xfrm>
            <a:off x="8961120" y="4206240"/>
            <a:ext cx="3840480" cy="3840480"/>
          </a:xfrm>
          <a:prstGeom prst="ellipse">
            <a:avLst/>
          </a:prstGeom>
          <a:solidFill>
            <a:schemeClr val="accent2">
              <a:alpha val="20000"/>
            </a:schemeClr>
          </a:solidFill>
          <a:ln/>
        </p:spPr>
      </p:sp>
      <p:sp>
        <p:nvSpPr>
          <p:cNvPr id="4" name="Shape 1"/>
          <p:cNvSpPr/>
          <p:nvPr/>
        </p:nvSpPr>
        <p:spPr>
          <a:xfrm>
            <a:off x="10241280" y="1463040"/>
            <a:ext cx="1005840" cy="1005840"/>
          </a:xfrm>
          <a:prstGeom prst="ellipse">
            <a:avLst/>
          </a:prstGeom>
          <a:solidFill>
            <a:schemeClr val="accent2"/>
          </a:solidFill>
          <a:ln w="12700">
            <a:solidFill>
              <a:schemeClr val="accent2"/>
            </a:solidFill>
            <a:prstDash val="solid"/>
          </a:ln>
        </p:spPr>
      </p:sp>
      <p:pic>
        <p:nvPicPr>
          <p:cNvPr id="5" name="Image 1" descr="preencoded.png">    </p:cNvPr>
          <p:cNvPicPr>
            <a:picLocks noChangeAspect="1"/>
          </p:cNvPicPr>
          <p:nvPr/>
        </p:nvPicPr>
        <p:blipFill>
          <a:blip r:embed="rId2"/>
          <a:stretch>
            <a:fillRect/>
          </a:stretch>
        </p:blipFill>
        <p:spPr>
          <a:xfrm>
            <a:off x="10502798" y="1724558"/>
            <a:ext cx="482803" cy="482803"/>
          </a:xfrm>
          <a:prstGeom prst="rect">
            <a:avLst/>
          </a:prstGeom>
        </p:spPr>
      </p:pic>
      <p:sp>
        <p:nvSpPr>
          <p:cNvPr id="6" name="Text 2"/>
          <p:cNvSpPr txBox="1"/>
          <p:nvPr/>
        </p:nvSpPr>
        <p:spPr>
          <a:xfrm>
            <a:off x="5669280" y="2651760"/>
            <a:ext cx="5943600" cy="1828800"/>
          </a:xfrm>
          <a:prstGeom prst="rect">
            <a:avLst/>
          </a:prstGeom>
          <a:noFill/>
          <a:ln/>
        </p:spPr>
        <p:txBody>
          <a:bodyPr wrap="square" lIns="50800" tIns="50800" rIns="50800" bIns="50800" rtlCol="0" anchor="t"/>
          <a:lstStyle/>
          <a:p>
            <a:pPr rtl="1" algn="r" indent="0" marL="0">
              <a:buNone/>
            </a:pPr>
            <a:r>
              <a:rPr lang="he-IL" altLang="en-US" sz="4800" b="1" dirty="0">
                <a:solidFill>
                  <a:schemeClr val="bg1"/>
                </a:solidFill>
                <a:latin typeface="Arial" pitchFamily="34" charset="0"/>
                <a:ea typeface="Arial" pitchFamily="34" charset="-122"/>
                <a:cs typeface="Arial" pitchFamily="34" charset="-120"/>
              </a:rPr>
              <a:t>מושגי יסוד</a:t>
            </a:r>
            <a:endParaRPr lang="he-IL" sz="4800" dirty="0"/>
          </a:p>
          <a:p>
            <a:pPr rtl="1" algn="r" indent="0" marL="0">
              <a:buNone/>
            </a:pPr>
            <a:r>
              <a:rPr lang="he-IL" altLang="en-US" sz="4800" b="1" dirty="0">
                <a:solidFill>
                  <a:schemeClr val="bg1"/>
                </a:solidFill>
                <a:latin typeface="Arial" pitchFamily="34" charset="0"/>
                <a:ea typeface="Arial" pitchFamily="34" charset="-122"/>
                <a:cs typeface="Arial" pitchFamily="34" charset="-120"/>
              </a:rPr>
              <a:t>בקידום בריאות</a:t>
            </a:r>
            <a:endParaRPr lang="he-IL" sz="48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Arial"/>
                <a:ea typeface="Arial"/>
                <a:cs typeface="Arial"/>
              </a:defRPr>
            </a:lvl1pPr>
          </a:lstStyle>
          <a:p>
            <a:pPr rtl="1"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בריאות- הגדרה:</a:t>
            </a:r>
            <a:endParaRPr lang="he-IL" sz="3000" dirty="0"/>
          </a:p>
        </p:txBody>
      </p:sp>
      <p:sp>
        <p:nvSpPr>
          <p:cNvPr id="3" name="Shape 1"/>
          <p:cNvSpPr/>
          <p:nvPr/>
        </p:nvSpPr>
        <p:spPr>
          <a:xfrm>
            <a:off x="6507328" y="1554480"/>
            <a:ext cx="914400" cy="91440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745072" y="1792224"/>
            <a:ext cx="438912" cy="438912"/>
          </a:xfrm>
          <a:prstGeom prst="rect">
            <a:avLst/>
          </a:prstGeom>
        </p:spPr>
      </p:pic>
      <p:sp>
        <p:nvSpPr>
          <p:cNvPr id="5" name="Shape 2"/>
          <p:cNvSpPr/>
          <p:nvPr/>
        </p:nvSpPr>
        <p:spPr>
          <a:xfrm>
            <a:off x="5364328" y="1554480"/>
            <a:ext cx="914400" cy="914400"/>
          </a:xfrm>
          <a:prstGeom prst="ellipse">
            <a:avLst/>
          </a:prstGeom>
          <a:solidFill>
            <a:schemeClr val="accent3"/>
          </a:solidFill>
          <a:ln w="12700">
            <a:solidFill>
              <a:schemeClr val="accent3"/>
            </a:solidFill>
            <a:prstDash val="solid"/>
          </a:ln>
        </p:spPr>
      </p:sp>
      <p:pic>
        <p:nvPicPr>
          <p:cNvPr id="6" name="Image 1" descr="preencoded.png">    </p:cNvPr>
          <p:cNvPicPr>
            <a:picLocks noChangeAspect="1"/>
          </p:cNvPicPr>
          <p:nvPr/>
        </p:nvPicPr>
        <p:blipFill>
          <a:blip r:embed="rId2"/>
          <a:stretch>
            <a:fillRect/>
          </a:stretch>
        </p:blipFill>
        <p:spPr>
          <a:xfrm>
            <a:off x="5602072" y="1792224"/>
            <a:ext cx="438912" cy="438912"/>
          </a:xfrm>
          <a:prstGeom prst="rect">
            <a:avLst/>
          </a:prstGeom>
        </p:spPr>
      </p:pic>
      <p:sp>
        <p:nvSpPr>
          <p:cNvPr id="7" name="Shape 3"/>
          <p:cNvSpPr/>
          <p:nvPr/>
        </p:nvSpPr>
        <p:spPr>
          <a:xfrm>
            <a:off x="4221328" y="1554480"/>
            <a:ext cx="914400" cy="914400"/>
          </a:xfrm>
          <a:prstGeom prst="ellipse">
            <a:avLst/>
          </a:prstGeom>
          <a:solidFill>
            <a:schemeClr val="accent2"/>
          </a:solidFill>
          <a:ln w="12700">
            <a:solidFill>
              <a:schemeClr val="accent2"/>
            </a:solidFill>
            <a:prstDash val="solid"/>
          </a:ln>
        </p:spPr>
      </p:sp>
      <p:pic>
        <p:nvPicPr>
          <p:cNvPr id="8" name="Image 2" descr="preencoded.png">    </p:cNvPr>
          <p:cNvPicPr>
            <a:picLocks noChangeAspect="1"/>
          </p:cNvPicPr>
          <p:nvPr/>
        </p:nvPicPr>
        <p:blipFill>
          <a:blip r:embed="rId3"/>
          <a:stretch>
            <a:fillRect/>
          </a:stretch>
        </p:blipFill>
        <p:spPr>
          <a:xfrm>
            <a:off x="4459072" y="1792224"/>
            <a:ext cx="438912" cy="438912"/>
          </a:xfrm>
          <a:prstGeom prst="rect">
            <a:avLst/>
          </a:prstGeom>
        </p:spPr>
      </p:pic>
      <p:sp>
        <p:nvSpPr>
          <p:cNvPr id="9" name="Text 4"/>
          <p:cNvSpPr txBox="1"/>
          <p:nvPr/>
        </p:nvSpPr>
        <p:spPr>
          <a:xfrm>
            <a:off x="1371600" y="2743200"/>
            <a:ext cx="9445752" cy="2377440"/>
          </a:xfrm>
          <a:prstGeom prst="rect">
            <a:avLst/>
          </a:prstGeom>
          <a:noFill/>
          <a:ln/>
        </p:spPr>
        <p:txBody>
          <a:bodyPr wrap="square" lIns="50800" tIns="50800" rIns="50800" bIns="50800" rtlCol="0" anchor="ctr"/>
          <a:lstStyle/>
          <a:p>
            <a:pPr rtl="1" algn="ctr" indent="0" marL="0">
              <a:lnSpc>
                <a:spcPct val="110000"/>
              </a:lnSpc>
              <a:buNone/>
            </a:pPr>
            <a:r>
              <a:rPr lang="he-IL" altLang="en-US" sz="3600" b="1" dirty="0">
                <a:solidFill>
                  <a:schemeClr val="tx2"/>
                </a:solidFill>
                <a:latin typeface="Arial" pitchFamily="34" charset="0"/>
                <a:ea typeface="Arial" pitchFamily="34" charset="-122"/>
                <a:cs typeface="Arial" pitchFamily="34" charset="-120"/>
              </a:rPr>
              <a:t>מצב של רווחה (well-being) גופנית,</a:t>
            </a:r>
            <a:endParaRPr lang="he-IL" sz="3600" dirty="0"/>
          </a:p>
          <a:p>
            <a:pPr rtl="1" algn="ctr" indent="0" marL="0">
              <a:lnSpc>
                <a:spcPct val="110000"/>
              </a:lnSpc>
              <a:buNone/>
            </a:pPr>
            <a:r>
              <a:rPr lang="he-IL" altLang="en-US" sz="3600" b="1" dirty="0">
                <a:solidFill>
                  <a:schemeClr val="tx2"/>
                </a:solidFill>
                <a:latin typeface="Arial" pitchFamily="34" charset="0"/>
                <a:ea typeface="Arial" pitchFamily="34" charset="-122"/>
                <a:cs typeface="Arial" pitchFamily="34" charset="-120"/>
              </a:rPr>
              <a:t>נפשית וחברתית</a:t>
            </a:r>
            <a:endParaRPr lang="he-IL" sz="3600" dirty="0"/>
          </a:p>
          <a:p>
            <a:pPr rtl="1" algn="ctr" indent="0" marL="0">
              <a:lnSpc>
                <a:spcPct val="110000"/>
              </a:lnSpc>
              <a:buNone/>
            </a:pPr>
            <a:r>
              <a:rPr lang="he-IL" altLang="en-US" sz="3600" b="1" dirty="0">
                <a:solidFill>
                  <a:schemeClr val="tx2"/>
                </a:solidFill>
                <a:latin typeface="Arial" pitchFamily="34" charset="0"/>
                <a:ea typeface="Arial" pitchFamily="34" charset="-122"/>
                <a:cs typeface="Arial" pitchFamily="34" charset="-120"/>
              </a:rPr>
              <a:t>ולא של העדר מחלה בלבד.</a:t>
            </a:r>
            <a:endParaRPr lang="he-IL" sz="3600" dirty="0"/>
          </a:p>
        </p:txBody>
      </p:sp>
      <p:sp>
        <p:nvSpPr>
          <p:cNvPr id="10" name="Text 5"/>
          <p:cNvSpPr txBox="1"/>
          <p:nvPr/>
        </p:nvSpPr>
        <p:spPr>
          <a:xfrm>
            <a:off x="4114800" y="5257800"/>
            <a:ext cx="3959352" cy="411480"/>
          </a:xfrm>
          <a:prstGeom prst="rect">
            <a:avLst/>
          </a:prstGeom>
          <a:noFill/>
          <a:ln/>
        </p:spPr>
        <p:txBody>
          <a:bodyPr wrap="square" lIns="50800" tIns="50800" rIns="50800" bIns="50800" rtlCol="0" anchor="t"/>
          <a:lstStyle/>
          <a:p>
            <a:pPr rtl="1" algn="ctr" indent="0" marL="0">
              <a:buNone/>
            </a:pPr>
            <a:r>
              <a:rPr lang="en-US" altLang="en-US" sz="1800" dirty="0">
                <a:solidFill>
                  <a:schemeClr val="accent1"/>
                </a:solidFill>
                <a:latin typeface="Arial" pitchFamily="34" charset="0"/>
                <a:ea typeface="Arial" pitchFamily="34" charset="-122"/>
                <a:cs typeface="Arial" pitchFamily="34" charset="-120"/>
              </a:rPr>
              <a:t>WHO, 1946</a:t>
            </a:r>
            <a:endParaRPr lang="en-US" sz="18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הנחות הבסיס</a:t>
            </a:r>
            <a:endParaRPr lang="he-IL" sz="3000" dirty="0"/>
          </a:p>
        </p:txBody>
      </p:sp>
      <p:sp>
        <p:nvSpPr>
          <p:cNvPr id="3" name="Text 1"/>
          <p:cNvSpPr txBox="1"/>
          <p:nvPr/>
        </p:nvSpPr>
        <p:spPr>
          <a:xfrm>
            <a:off x="914400" y="1554480"/>
            <a:ext cx="10360152" cy="1188720"/>
          </a:xfrm>
          <a:prstGeom prst="rect">
            <a:avLst/>
          </a:prstGeom>
          <a:noFill/>
          <a:ln/>
        </p:spPr>
        <p:txBody>
          <a:bodyPr wrap="square" lIns="50800" tIns="50800" rIns="50800" bIns="50800" rtlCol="0" anchor="ctr"/>
          <a:lstStyle/>
          <a:p>
            <a:pPr rtl="1" algn="ctr" indent="0" marL="0">
              <a:lnSpc>
                <a:spcPct val="115000"/>
              </a:lnSpc>
              <a:buNone/>
            </a:pPr>
            <a:r>
              <a:rPr lang="he-IL" altLang="en-US" sz="2600" dirty="0">
                <a:solidFill>
                  <a:schemeClr val="tx1"/>
                </a:solidFill>
                <a:latin typeface="Arial" pitchFamily="34" charset="0"/>
                <a:ea typeface="Arial" pitchFamily="34" charset="-122"/>
                <a:cs typeface="Arial" pitchFamily="34" charset="-120"/>
              </a:rPr>
              <a:t>בריאות תלויה בתרבות האדם, ערכיו ואורח החיים שלו.</a:t>
            </a:r>
            <a:endParaRPr lang="he-IL" sz="2600" dirty="0"/>
          </a:p>
          <a:p>
            <a:pPr rtl="1" algn="ctr" indent="0" marL="0">
              <a:lnSpc>
                <a:spcPct val="115000"/>
              </a:lnSpc>
              <a:buNone/>
            </a:pPr>
            <a:r>
              <a:rPr lang="he-IL" altLang="en-US" sz="2600" dirty="0">
                <a:solidFill>
                  <a:schemeClr val="tx1"/>
                </a:solidFill>
                <a:latin typeface="Arial" pitchFamily="34" charset="0"/>
                <a:ea typeface="Arial" pitchFamily="34" charset="-122"/>
                <a:cs typeface="Arial" pitchFamily="34" charset="-120"/>
              </a:rPr>
              <a:t>בריאות היא דבר דינמי הנמצא על רצף:</a:t>
            </a:r>
            <a:endParaRPr lang="he-IL" sz="2600" dirty="0"/>
          </a:p>
        </p:txBody>
      </p:sp>
      <p:sp>
        <p:nvSpPr>
          <p:cNvPr id="4" name="Shape 2"/>
          <p:cNvSpPr/>
          <p:nvPr/>
        </p:nvSpPr>
        <p:spPr>
          <a:xfrm>
            <a:off x="2011680" y="4242816"/>
            <a:ext cx="4082796" cy="201168"/>
          </a:xfrm>
          <a:prstGeom prst="roundRect">
            <a:avLst>
              <a:gd name="adj" fmla="val 50000"/>
            </a:avLst>
          </a:prstGeom>
          <a:solidFill>
            <a:schemeClr val="accent4"/>
          </a:solidFill>
          <a:ln/>
        </p:spPr>
      </p:sp>
      <p:sp>
        <p:nvSpPr>
          <p:cNvPr id="5" name="Shape 3"/>
          <p:cNvSpPr/>
          <p:nvPr/>
        </p:nvSpPr>
        <p:spPr>
          <a:xfrm>
            <a:off x="6094476" y="4242816"/>
            <a:ext cx="4082796" cy="201168"/>
          </a:xfrm>
          <a:prstGeom prst="roundRect">
            <a:avLst>
              <a:gd name="adj" fmla="val 50000"/>
            </a:avLst>
          </a:prstGeom>
          <a:solidFill>
            <a:schemeClr val="accent2"/>
          </a:solidFill>
          <a:ln/>
        </p:spPr>
      </p:sp>
      <p:sp>
        <p:nvSpPr>
          <p:cNvPr id="6" name="Shape 4"/>
          <p:cNvSpPr/>
          <p:nvPr/>
        </p:nvSpPr>
        <p:spPr>
          <a:xfrm>
            <a:off x="6094476" y="3154680"/>
            <a:ext cx="0" cy="1920240"/>
          </a:xfrm>
          <a:prstGeom prst="line">
            <a:avLst/>
          </a:prstGeom>
          <a:noFill/>
          <a:ln w="25400">
            <a:solidFill>
              <a:schemeClr val="tx2"/>
            </a:solidFill>
            <a:prstDash val="dash"/>
          </a:ln>
        </p:spPr>
      </p:sp>
      <p:sp>
        <p:nvSpPr>
          <p:cNvPr id="7" name="Shape 5"/>
          <p:cNvSpPr/>
          <p:nvPr/>
        </p:nvSpPr>
        <p:spPr>
          <a:xfrm>
            <a:off x="1828800" y="4160520"/>
            <a:ext cx="365760" cy="365760"/>
          </a:xfrm>
          <a:prstGeom prst="ellipse">
            <a:avLst/>
          </a:prstGeom>
          <a:solidFill>
            <a:schemeClr val="accent4"/>
          </a:solidFill>
          <a:ln w="25400">
            <a:solidFill>
              <a:schemeClr val="bg1"/>
            </a:solidFill>
            <a:prstDash val="solid"/>
          </a:ln>
        </p:spPr>
      </p:sp>
      <p:sp>
        <p:nvSpPr>
          <p:cNvPr id="8" name="Shape 6"/>
          <p:cNvSpPr/>
          <p:nvPr/>
        </p:nvSpPr>
        <p:spPr>
          <a:xfrm>
            <a:off x="9994392" y="4160520"/>
            <a:ext cx="365760" cy="365760"/>
          </a:xfrm>
          <a:prstGeom prst="ellipse">
            <a:avLst/>
          </a:prstGeom>
          <a:solidFill>
            <a:schemeClr val="accent2"/>
          </a:solidFill>
          <a:ln w="25400">
            <a:solidFill>
              <a:schemeClr val="bg1"/>
            </a:solidFill>
            <a:prstDash val="solid"/>
          </a:ln>
        </p:spPr>
      </p:sp>
      <p:sp>
        <p:nvSpPr>
          <p:cNvPr id="9" name="Text 7"/>
          <p:cNvSpPr txBox="1"/>
          <p:nvPr/>
        </p:nvSpPr>
        <p:spPr>
          <a:xfrm>
            <a:off x="1097280" y="4663440"/>
            <a:ext cx="1828800" cy="457200"/>
          </a:xfrm>
          <a:prstGeom prst="rect">
            <a:avLst/>
          </a:prstGeom>
          <a:noFill/>
          <a:ln/>
        </p:spPr>
        <p:txBody>
          <a:bodyPr wrap="square" lIns="50800" tIns="50800" rIns="50800" bIns="50800" rtlCol="0" anchor="t"/>
          <a:lstStyle/>
          <a:p>
            <a:pPr rtl="1" algn="ctr" indent="0" marL="0">
              <a:buNone/>
            </a:pPr>
            <a:r>
              <a:rPr lang="he-IL" altLang="en-US" sz="2000" b="1" dirty="0">
                <a:solidFill>
                  <a:schemeClr val="accent4"/>
                </a:solidFill>
                <a:latin typeface="Arial" pitchFamily="34" charset="0"/>
                <a:ea typeface="Arial" pitchFamily="34" charset="-122"/>
                <a:cs typeface="Arial" pitchFamily="34" charset="-120"/>
              </a:rPr>
              <a:t>מוות</a:t>
            </a:r>
            <a:endParaRPr lang="he-IL" sz="2000" dirty="0"/>
          </a:p>
        </p:txBody>
      </p:sp>
      <p:sp>
        <p:nvSpPr>
          <p:cNvPr id="10" name="Text 8"/>
          <p:cNvSpPr txBox="1"/>
          <p:nvPr/>
        </p:nvSpPr>
        <p:spPr>
          <a:xfrm>
            <a:off x="9034272" y="4663440"/>
            <a:ext cx="2286000" cy="457200"/>
          </a:xfrm>
          <a:prstGeom prst="rect">
            <a:avLst/>
          </a:prstGeom>
          <a:noFill/>
          <a:ln/>
        </p:spPr>
        <p:txBody>
          <a:bodyPr wrap="square" lIns="50800" tIns="50800" rIns="50800" bIns="50800" rtlCol="0" anchor="t"/>
          <a:lstStyle/>
          <a:p>
            <a:pPr rtl="1" algn="ctr" indent="0" marL="0">
              <a:buNone/>
            </a:pPr>
            <a:r>
              <a:rPr lang="he-IL" altLang="en-US" sz="2000" b="1" dirty="0">
                <a:solidFill>
                  <a:schemeClr val="accent2"/>
                </a:solidFill>
                <a:latin typeface="Arial" pitchFamily="34" charset="0"/>
                <a:ea typeface="Arial" pitchFamily="34" charset="-122"/>
                <a:cs typeface="Arial" pitchFamily="34" charset="-120"/>
              </a:rPr>
              <a:t>בריאות מושלמת</a:t>
            </a:r>
            <a:endParaRPr lang="he-IL" sz="2000" dirty="0"/>
          </a:p>
        </p:txBody>
      </p:sp>
      <p:sp>
        <p:nvSpPr>
          <p:cNvPr id="11" name="Text 9"/>
          <p:cNvSpPr txBox="1"/>
          <p:nvPr/>
        </p:nvSpPr>
        <p:spPr>
          <a:xfrm>
            <a:off x="3717036" y="3291840"/>
            <a:ext cx="2103120" cy="50292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חולי</a:t>
            </a:r>
            <a:endParaRPr lang="he-IL" sz="2200" dirty="0"/>
          </a:p>
        </p:txBody>
      </p:sp>
      <p:sp>
        <p:nvSpPr>
          <p:cNvPr id="12" name="Text 10"/>
          <p:cNvSpPr txBox="1"/>
          <p:nvPr/>
        </p:nvSpPr>
        <p:spPr>
          <a:xfrm>
            <a:off x="6368796" y="3291840"/>
            <a:ext cx="2103120" cy="50292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בריאות</a:t>
            </a:r>
            <a:endParaRPr lang="he-IL" sz="2200" dirty="0"/>
          </a:p>
        </p:txBody>
      </p:sp>
      <p:sp>
        <p:nvSpPr>
          <p:cNvPr id="13" name="Shape 11"/>
          <p:cNvSpPr/>
          <p:nvPr/>
        </p:nvSpPr>
        <p:spPr>
          <a:xfrm>
            <a:off x="5774436" y="5212080"/>
            <a:ext cx="640080" cy="640080"/>
          </a:xfrm>
          <a:prstGeom prst="ellipse">
            <a:avLst/>
          </a:prstGeom>
          <a:solidFill>
            <a:schemeClr val="bg2"/>
          </a:solidFill>
          <a:ln w="12700">
            <a:solidFill>
              <a:schemeClr val="bg2"/>
            </a:solidFill>
            <a:prstDash val="solid"/>
          </a:ln>
        </p:spPr>
      </p:sp>
      <p:pic>
        <p:nvPicPr>
          <p:cNvPr id="14" name="Image 0" descr="preencoded.png">    </p:cNvPr>
          <p:cNvPicPr>
            <a:picLocks noChangeAspect="1"/>
          </p:cNvPicPr>
          <p:nvPr/>
        </p:nvPicPr>
        <p:blipFill>
          <a:blip r:embed="rId1"/>
          <a:stretch>
            <a:fillRect/>
          </a:stretch>
        </p:blipFill>
        <p:spPr>
          <a:xfrm>
            <a:off x="5940857" y="5378501"/>
            <a:ext cx="307238" cy="307238"/>
          </a:xfrm>
          <a:prstGeom prst="rect">
            <a:avLst/>
          </a:prstGeom>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הנחות הבסיס</a:t>
            </a:r>
            <a:endParaRPr lang="he-IL" sz="3000" dirty="0"/>
          </a:p>
        </p:txBody>
      </p:sp>
      <p:sp>
        <p:nvSpPr>
          <p:cNvPr id="3" name="Shape 1"/>
          <p:cNvSpPr/>
          <p:nvPr/>
        </p:nvSpPr>
        <p:spPr>
          <a:xfrm>
            <a:off x="5592928" y="1600200"/>
            <a:ext cx="1005840" cy="100584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5854446" y="1861718"/>
            <a:ext cx="482803" cy="482803"/>
          </a:xfrm>
          <a:prstGeom prst="rect">
            <a:avLst/>
          </a:prstGeom>
        </p:spPr>
      </p:pic>
      <p:sp>
        <p:nvSpPr>
          <p:cNvPr id="5" name="Text 2"/>
          <p:cNvSpPr txBox="1"/>
          <p:nvPr/>
        </p:nvSpPr>
        <p:spPr>
          <a:xfrm>
            <a:off x="1371600" y="2834640"/>
            <a:ext cx="9445752" cy="2560320"/>
          </a:xfrm>
          <a:prstGeom prst="rect">
            <a:avLst/>
          </a:prstGeom>
          <a:noFill/>
          <a:ln/>
        </p:spPr>
        <p:txBody>
          <a:bodyPr wrap="square" lIns="50800" tIns="50800" rIns="50800" bIns="50800" rtlCol="0" anchor="ctr"/>
          <a:lstStyle/>
          <a:p>
            <a:pPr rtl="1" algn="ctr" indent="0" marL="0">
              <a:lnSpc>
                <a:spcPct val="115000"/>
              </a:lnSpc>
              <a:buNone/>
            </a:pPr>
            <a:r>
              <a:rPr lang="he-IL" altLang="en-US" sz="3600" b="1" dirty="0">
                <a:solidFill>
                  <a:schemeClr val="tx2"/>
                </a:solidFill>
                <a:latin typeface="Arial" pitchFamily="34" charset="0"/>
                <a:ea typeface="Arial" pitchFamily="34" charset="-122"/>
                <a:cs typeface="Arial" pitchFamily="34" charset="-120"/>
              </a:rPr>
              <a:t>בריאות היא מושג אישי המשפיע על</a:t>
            </a:r>
            <a:endParaRPr lang="he-IL" sz="3600" dirty="0"/>
          </a:p>
          <a:p>
            <a:pPr rtl="1" algn="ctr" indent="0" marL="0">
              <a:lnSpc>
                <a:spcPct val="115000"/>
              </a:lnSpc>
              <a:buNone/>
            </a:pPr>
            <a:r>
              <a:rPr lang="he-IL" altLang="en-US" sz="3600" b="1" dirty="0">
                <a:solidFill>
                  <a:schemeClr val="tx2"/>
                </a:solidFill>
                <a:latin typeface="Arial" pitchFamily="34" charset="0"/>
                <a:ea typeface="Arial" pitchFamily="34" charset="-122"/>
                <a:cs typeface="Arial" pitchFamily="34" charset="-120"/>
              </a:rPr>
              <a:t>כל מה שהפרט עושה וכיצד הוא</a:t>
            </a:r>
            <a:endParaRPr lang="he-IL" sz="3600" dirty="0"/>
          </a:p>
          <a:p>
            <a:pPr rtl="1" algn="ctr" indent="0" marL="0">
              <a:lnSpc>
                <a:spcPct val="115000"/>
              </a:lnSpc>
              <a:buNone/>
            </a:pPr>
            <a:r>
              <a:rPr lang="he-IL" altLang="en-US" sz="3600" b="1" dirty="0">
                <a:solidFill>
                  <a:schemeClr val="tx2"/>
                </a:solidFill>
                <a:latin typeface="Arial" pitchFamily="34" charset="0"/>
                <a:ea typeface="Arial" pitchFamily="34" charset="-122"/>
                <a:cs typeface="Arial" pitchFamily="34" charset="-120"/>
              </a:rPr>
              <a:t>מרגיש לגבי עצמו ולגבי הסביבה שלו</a:t>
            </a:r>
            <a:endParaRPr lang="he-IL" sz="36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he main determinants of health – Dahlgren and Whitehead, 1991">    </p:cNvPr>
          <p:cNvPicPr>
            <a:picLocks noChangeAspect="1"/>
          </p:cNvPicPr>
          <p:nvPr/>
        </p:nvPicPr>
        <p:blipFill>
          <a:blip r:embed="rId1"/>
          <a:stretch>
            <a:fillRect/>
          </a:stretch>
        </p:blipFill>
        <p:spPr>
          <a:xfrm>
            <a:off x="1524305" y="0"/>
            <a:ext cx="9144000" cy="6775704"/>
          </a:xfrm>
          <a:prstGeom prst="rect">
            <a:avLst/>
          </a:prstGeom>
        </p:spPr>
      </p:pic>
      <p:sp>
        <p:nvSpPr>
          <p:cNvPr id="3" name="Text 0"/>
          <p:cNvSpPr/>
          <p:nvPr/>
        </p:nvSpPr>
        <p:spPr>
          <a:xfrm>
            <a:off x="3666067" y="643467"/>
            <a:ext cx="4851400" cy="372533"/>
          </a:xfrm>
          <a:prstGeom prst="rect">
            <a:avLst/>
          </a:prstGeom>
          <a:solidFill>
            <a:srgbClr val="4BACC6"/>
          </a:solidFill>
          <a:ln/>
        </p:spPr>
        <p:txBody>
          <a:bodyPr wrap="square" lIns="38100" tIns="38100" rIns="38100" bIns="38100" rtlCol="0" anchor="ctr"/>
          <a:lstStyle/>
          <a:p>
            <a:pPr rtl="1" algn="r" indent="0" marL="0">
              <a:buNone/>
            </a:pPr>
            <a:r>
              <a:rPr lang="he-IL" altLang="en-US" sz="1600" b="1" dirty="0">
                <a:solidFill>
                  <a:srgbClr val="000000"/>
                </a:solidFill>
                <a:latin typeface="Arial" pitchFamily="34" charset="0"/>
                <a:ea typeface="Arial" pitchFamily="34" charset="-122"/>
                <a:cs typeface="Arial" pitchFamily="34" charset="-120"/>
              </a:rPr>
              <a:t>תנאים סוציואקונומיים, תרבותיים וסביבתיים</a:t>
            </a:r>
            <a:endParaRPr lang="he-IL" sz="1600" dirty="0"/>
          </a:p>
        </p:txBody>
      </p:sp>
      <p:sp>
        <p:nvSpPr>
          <p:cNvPr id="4" name="Text 1"/>
          <p:cNvSpPr/>
          <p:nvPr/>
        </p:nvSpPr>
        <p:spPr>
          <a:xfrm>
            <a:off x="4741333" y="1998133"/>
            <a:ext cx="2709333" cy="491067"/>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תנאי מחיה ועבודה</a:t>
            </a:r>
            <a:endParaRPr lang="he-IL" sz="1500" dirty="0"/>
          </a:p>
        </p:txBody>
      </p:sp>
      <p:sp>
        <p:nvSpPr>
          <p:cNvPr id="5" name="Text 2"/>
          <p:cNvSpPr/>
          <p:nvPr/>
        </p:nvSpPr>
        <p:spPr>
          <a:xfrm>
            <a:off x="3513667" y="2480733"/>
            <a:ext cx="1286933" cy="677333"/>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סביבת העבודה</a:t>
            </a:r>
            <a:endParaRPr lang="he-IL" sz="1500" dirty="0"/>
          </a:p>
        </p:txBody>
      </p:sp>
      <p:sp>
        <p:nvSpPr>
          <p:cNvPr id="6" name="Text 3"/>
          <p:cNvSpPr/>
          <p:nvPr/>
        </p:nvSpPr>
        <p:spPr>
          <a:xfrm>
            <a:off x="7450667" y="2709333"/>
            <a:ext cx="1295400" cy="355600"/>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אבטלה</a:t>
            </a:r>
            <a:endParaRPr lang="he-IL" sz="1500" dirty="0"/>
          </a:p>
        </p:txBody>
      </p:sp>
      <p:sp>
        <p:nvSpPr>
          <p:cNvPr id="7" name="Text 4"/>
          <p:cNvSpPr/>
          <p:nvPr/>
        </p:nvSpPr>
        <p:spPr>
          <a:xfrm>
            <a:off x="2861733" y="3539067"/>
            <a:ext cx="931333" cy="287867"/>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השכלה</a:t>
            </a:r>
            <a:endParaRPr lang="he-IL" sz="1500" dirty="0"/>
          </a:p>
        </p:txBody>
      </p:sp>
      <p:sp>
        <p:nvSpPr>
          <p:cNvPr id="8" name="Text 5"/>
          <p:cNvSpPr/>
          <p:nvPr/>
        </p:nvSpPr>
        <p:spPr>
          <a:xfrm>
            <a:off x="8255000" y="3513667"/>
            <a:ext cx="1083733" cy="321733"/>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מים וביוב</a:t>
            </a:r>
            <a:endParaRPr lang="he-IL" sz="1500" dirty="0"/>
          </a:p>
        </p:txBody>
      </p:sp>
      <p:sp>
        <p:nvSpPr>
          <p:cNvPr id="9" name="Text 6"/>
          <p:cNvSpPr/>
          <p:nvPr/>
        </p:nvSpPr>
        <p:spPr>
          <a:xfrm>
            <a:off x="3513667" y="4360333"/>
            <a:ext cx="931333" cy="973667"/>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קשרי חברה וקהילה</a:t>
            </a:r>
            <a:endParaRPr lang="he-IL" sz="1500" dirty="0"/>
          </a:p>
        </p:txBody>
      </p:sp>
      <p:sp>
        <p:nvSpPr>
          <p:cNvPr id="10" name="Text 7"/>
          <p:cNvSpPr/>
          <p:nvPr/>
        </p:nvSpPr>
        <p:spPr>
          <a:xfrm>
            <a:off x="8763000" y="4572000"/>
            <a:ext cx="778933" cy="660400"/>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שירותי בריאות</a:t>
            </a:r>
            <a:endParaRPr lang="he-IL" sz="1500" dirty="0"/>
          </a:p>
        </p:txBody>
      </p:sp>
      <p:sp>
        <p:nvSpPr>
          <p:cNvPr id="11" name="Text 8"/>
          <p:cNvSpPr/>
          <p:nvPr/>
        </p:nvSpPr>
        <p:spPr>
          <a:xfrm>
            <a:off x="2396067" y="4656667"/>
            <a:ext cx="1016000" cy="973667"/>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חקלאות ויצור מזון</a:t>
            </a:r>
            <a:endParaRPr lang="he-IL" sz="1500" dirty="0"/>
          </a:p>
        </p:txBody>
      </p:sp>
      <p:sp>
        <p:nvSpPr>
          <p:cNvPr id="12" name="Text 9"/>
          <p:cNvSpPr/>
          <p:nvPr/>
        </p:nvSpPr>
        <p:spPr>
          <a:xfrm>
            <a:off x="7095067" y="5223933"/>
            <a:ext cx="1016000" cy="1270000"/>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השפעת אורח החיים האישי</a:t>
            </a:r>
            <a:endParaRPr lang="he-IL" sz="1500" dirty="0"/>
          </a:p>
        </p:txBody>
      </p:sp>
      <p:sp>
        <p:nvSpPr>
          <p:cNvPr id="13" name="Text 10"/>
          <p:cNvSpPr/>
          <p:nvPr/>
        </p:nvSpPr>
        <p:spPr>
          <a:xfrm>
            <a:off x="8847667" y="5588000"/>
            <a:ext cx="846667" cy="355600"/>
          </a:xfrm>
          <a:prstGeom prst="rect">
            <a:avLst/>
          </a:prstGeom>
          <a:solidFill>
            <a:srgbClr val="B3A2C7"/>
          </a:solidFill>
          <a:ln/>
        </p:spPr>
        <p:txBody>
          <a:bodyPr wrap="square" lIns="38100" tIns="38100" rIns="38100" bIns="38100" rtlCol="0" anchor="ctr"/>
          <a:lstStyle/>
          <a:p>
            <a:pPr rtl="1" algn="r" indent="0" marL="0">
              <a:buNone/>
            </a:pPr>
            <a:r>
              <a:rPr lang="he-IL" altLang="en-US" sz="1500" b="1" dirty="0">
                <a:solidFill>
                  <a:srgbClr val="000000"/>
                </a:solidFill>
                <a:latin typeface="Arial" pitchFamily="34" charset="0"/>
                <a:ea typeface="Arial" pitchFamily="34" charset="-122"/>
                <a:cs typeface="Arial" pitchFamily="34" charset="-120"/>
              </a:rPr>
              <a:t>דיור</a:t>
            </a:r>
            <a:endParaRPr lang="he-IL" sz="1500" dirty="0"/>
          </a:p>
        </p:txBody>
      </p:sp>
      <p:sp>
        <p:nvSpPr>
          <p:cNvPr id="14" name="Text 11"/>
          <p:cNvSpPr/>
          <p:nvPr/>
        </p:nvSpPr>
        <p:spPr>
          <a:xfrm>
            <a:off x="5376333" y="5655733"/>
            <a:ext cx="1354667" cy="677333"/>
          </a:xfrm>
          <a:prstGeom prst="rect">
            <a:avLst/>
          </a:prstGeom>
          <a:solidFill>
            <a:schemeClr val="tx2"/>
          </a:solidFill>
          <a:ln/>
        </p:spPr>
        <p:txBody>
          <a:bodyPr wrap="square" lIns="38100" tIns="38100" rIns="38100" bIns="38100" rtlCol="0" anchor="ctr"/>
          <a:lstStyle/>
          <a:p>
            <a:pPr rtl="1" algn="ctr" indent="0" marL="0">
              <a:buNone/>
            </a:pPr>
            <a:r>
              <a:rPr lang="he-IL" altLang="en-US" sz="1500" b="1" dirty="0">
                <a:solidFill>
                  <a:schemeClr val="bg1"/>
                </a:solidFill>
                <a:latin typeface="Arial" pitchFamily="34" charset="0"/>
                <a:ea typeface="Arial" pitchFamily="34" charset="-122"/>
                <a:cs typeface="Arial" pitchFamily="34" charset="-120"/>
              </a:rPr>
              <a:t>גיל, מין, תורשה</a:t>
            </a:r>
            <a:endParaRPr lang="he-IL" sz="1500" dirty="0"/>
          </a:p>
        </p:txBody>
      </p:sp>
      <p:sp>
        <p:nvSpPr>
          <p:cNvPr id="15" name="Text 12"/>
          <p:cNvSpPr/>
          <p:nvPr/>
        </p:nvSpPr>
        <p:spPr>
          <a:xfrm>
            <a:off x="1965960" y="6446520"/>
            <a:ext cx="4114800" cy="320040"/>
          </a:xfrm>
          <a:prstGeom prst="rect">
            <a:avLst/>
          </a:prstGeom>
          <a:solidFill>
            <a:schemeClr val="bg1"/>
          </a:solidFill>
          <a:ln/>
        </p:spPr>
        <p:txBody>
          <a:bodyPr wrap="square" lIns="25400" tIns="25400" rIns="25400" bIns="25400" rtlCol="0" anchor="ctr"/>
          <a:lstStyle/>
          <a:p>
            <a:pPr rtl="1" algn="l" indent="0" marL="0">
              <a:buNone/>
            </a:pPr>
            <a:r>
              <a:rPr lang="en-US" sz="1200" b="1" dirty="0">
                <a:solidFill>
                  <a:srgbClr val="000000"/>
                </a:solidFill>
                <a:latin typeface="Arial" pitchFamily="34" charset="0"/>
                <a:ea typeface="Arial" pitchFamily="34" charset="-122"/>
                <a:cs typeface="Arial" pitchFamily="34" charset="-120"/>
              </a:rPr>
              <a:t>Source: Dahlgren and Whitehead, 1991</a:t>
            </a:r>
            <a:endParaRPr lang="en-US" sz="12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2200" b="1" dirty="0">
                <a:solidFill>
                  <a:schemeClr val="accent1"/>
                </a:solidFill>
                <a:latin typeface="Arial" pitchFamily="34" charset="0"/>
                <a:ea typeface="Arial" pitchFamily="34" charset="-122"/>
                <a:cs typeface="Arial" pitchFamily="34" charset="-120"/>
              </a:rPr>
              <a:t>לסיכום –</a:t>
            </a:r>
            <a:endParaRPr lang="he-IL" sz="3000" dirty="0"/>
          </a:p>
          <a:p>
            <a:pPr rtl="1" algn="r" indent="0" marL="0">
              <a:buNone/>
            </a:pPr>
            <a:r>
              <a:rPr lang="he-IL" altLang="en-US" sz="3000" b="1" dirty="0">
                <a:solidFill>
                  <a:schemeClr val="tx2"/>
                </a:solidFill>
                <a:latin typeface="Arial" pitchFamily="34" charset="0"/>
                <a:ea typeface="Arial" pitchFamily="34" charset="-122"/>
                <a:cs typeface="Arial" pitchFamily="34" charset="-120"/>
              </a:rPr>
              <a:t>בריאות מושפעת מהגורמים הבאים:</a:t>
            </a:r>
            <a:endParaRPr lang="he-IL" sz="3000" dirty="0"/>
          </a:p>
        </p:txBody>
      </p:sp>
      <p:sp>
        <p:nvSpPr>
          <p:cNvPr id="3" name="Shape 1"/>
          <p:cNvSpPr/>
          <p:nvPr/>
        </p:nvSpPr>
        <p:spPr>
          <a:xfrm>
            <a:off x="9044788" y="1691640"/>
            <a:ext cx="2468880" cy="1920240"/>
          </a:xfrm>
          <a:prstGeom prst="roundRect">
            <a:avLst>
              <a:gd name="adj" fmla="val 5714"/>
            </a:avLst>
          </a:prstGeom>
          <a:solidFill>
            <a:schemeClr val="bg2"/>
          </a:solidFill>
          <a:ln w="12700">
            <a:solidFill>
              <a:schemeClr val="bg2"/>
            </a:solidFill>
            <a:prstDash val="solid"/>
          </a:ln>
        </p:spPr>
      </p:sp>
      <p:sp>
        <p:nvSpPr>
          <p:cNvPr id="4" name="Shape 2"/>
          <p:cNvSpPr/>
          <p:nvPr/>
        </p:nvSpPr>
        <p:spPr>
          <a:xfrm>
            <a:off x="9844888" y="1920240"/>
            <a:ext cx="868680" cy="8686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070744" y="2146097"/>
            <a:ext cx="416966" cy="416966"/>
          </a:xfrm>
          <a:prstGeom prst="rect">
            <a:avLst/>
          </a:prstGeom>
        </p:spPr>
      </p:pic>
      <p:sp>
        <p:nvSpPr>
          <p:cNvPr id="6" name="Text 3"/>
          <p:cNvSpPr txBox="1"/>
          <p:nvPr/>
        </p:nvSpPr>
        <p:spPr>
          <a:xfrm>
            <a:off x="9044788" y="2898648"/>
            <a:ext cx="2468880" cy="54864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פוליטיים</a:t>
            </a:r>
            <a:endParaRPr lang="he-IL" sz="2200" dirty="0"/>
          </a:p>
        </p:txBody>
      </p:sp>
      <p:sp>
        <p:nvSpPr>
          <p:cNvPr id="7" name="Shape 4"/>
          <p:cNvSpPr/>
          <p:nvPr/>
        </p:nvSpPr>
        <p:spPr>
          <a:xfrm>
            <a:off x="6255868" y="1691640"/>
            <a:ext cx="2468880" cy="1920240"/>
          </a:xfrm>
          <a:prstGeom prst="roundRect">
            <a:avLst>
              <a:gd name="adj" fmla="val 5714"/>
            </a:avLst>
          </a:prstGeom>
          <a:solidFill>
            <a:schemeClr val="bg2"/>
          </a:solidFill>
          <a:ln w="12700">
            <a:solidFill>
              <a:schemeClr val="bg2"/>
            </a:solidFill>
            <a:prstDash val="solid"/>
          </a:ln>
        </p:spPr>
      </p:sp>
      <p:sp>
        <p:nvSpPr>
          <p:cNvPr id="8" name="Shape 5"/>
          <p:cNvSpPr/>
          <p:nvPr/>
        </p:nvSpPr>
        <p:spPr>
          <a:xfrm>
            <a:off x="7055968" y="1920240"/>
            <a:ext cx="868680" cy="868680"/>
          </a:xfrm>
          <a:prstGeom prst="ellipse">
            <a:avLst/>
          </a:prstGeom>
          <a:solidFill>
            <a:schemeClr val="accent3"/>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7281824" y="2146097"/>
            <a:ext cx="416966" cy="416966"/>
          </a:xfrm>
          <a:prstGeom prst="rect">
            <a:avLst/>
          </a:prstGeom>
        </p:spPr>
      </p:pic>
      <p:sp>
        <p:nvSpPr>
          <p:cNvPr id="10" name="Text 6"/>
          <p:cNvSpPr txBox="1"/>
          <p:nvPr/>
        </p:nvSpPr>
        <p:spPr>
          <a:xfrm>
            <a:off x="6255868" y="2898648"/>
            <a:ext cx="2468880" cy="54864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כלכליים</a:t>
            </a:r>
            <a:endParaRPr lang="he-IL" sz="2200" dirty="0"/>
          </a:p>
        </p:txBody>
      </p:sp>
      <p:sp>
        <p:nvSpPr>
          <p:cNvPr id="11" name="Shape 7"/>
          <p:cNvSpPr/>
          <p:nvPr/>
        </p:nvSpPr>
        <p:spPr>
          <a:xfrm>
            <a:off x="3466948" y="1691640"/>
            <a:ext cx="2468880" cy="1920240"/>
          </a:xfrm>
          <a:prstGeom prst="roundRect">
            <a:avLst>
              <a:gd name="adj" fmla="val 5714"/>
            </a:avLst>
          </a:prstGeom>
          <a:solidFill>
            <a:schemeClr val="bg2"/>
          </a:solidFill>
          <a:ln w="12700">
            <a:solidFill>
              <a:schemeClr val="bg2"/>
            </a:solidFill>
            <a:prstDash val="solid"/>
          </a:ln>
        </p:spPr>
      </p:sp>
      <p:sp>
        <p:nvSpPr>
          <p:cNvPr id="12" name="Shape 8"/>
          <p:cNvSpPr/>
          <p:nvPr/>
        </p:nvSpPr>
        <p:spPr>
          <a:xfrm>
            <a:off x="4267048" y="1920240"/>
            <a:ext cx="868680" cy="86868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4492904" y="2146097"/>
            <a:ext cx="416966" cy="416966"/>
          </a:xfrm>
          <a:prstGeom prst="rect">
            <a:avLst/>
          </a:prstGeom>
        </p:spPr>
      </p:pic>
      <p:sp>
        <p:nvSpPr>
          <p:cNvPr id="14" name="Text 9"/>
          <p:cNvSpPr txBox="1"/>
          <p:nvPr/>
        </p:nvSpPr>
        <p:spPr>
          <a:xfrm>
            <a:off x="3466948" y="2898648"/>
            <a:ext cx="2468880" cy="54864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חברתיים</a:t>
            </a:r>
            <a:endParaRPr lang="he-IL" sz="2200" dirty="0"/>
          </a:p>
        </p:txBody>
      </p:sp>
      <p:sp>
        <p:nvSpPr>
          <p:cNvPr id="15" name="Shape 10"/>
          <p:cNvSpPr/>
          <p:nvPr/>
        </p:nvSpPr>
        <p:spPr>
          <a:xfrm>
            <a:off x="678028" y="1691640"/>
            <a:ext cx="2468880" cy="1920240"/>
          </a:xfrm>
          <a:prstGeom prst="roundRect">
            <a:avLst>
              <a:gd name="adj" fmla="val 5714"/>
            </a:avLst>
          </a:prstGeom>
          <a:solidFill>
            <a:schemeClr val="bg2"/>
          </a:solidFill>
          <a:ln w="12700">
            <a:solidFill>
              <a:schemeClr val="bg2"/>
            </a:solidFill>
            <a:prstDash val="solid"/>
          </a:ln>
        </p:spPr>
      </p:sp>
      <p:sp>
        <p:nvSpPr>
          <p:cNvPr id="16" name="Shape 11"/>
          <p:cNvSpPr/>
          <p:nvPr/>
        </p:nvSpPr>
        <p:spPr>
          <a:xfrm>
            <a:off x="1478128" y="1920240"/>
            <a:ext cx="868680" cy="868680"/>
          </a:xfrm>
          <a:prstGeom prst="ellipse">
            <a:avLst/>
          </a:prstGeom>
          <a:solidFill>
            <a:schemeClr val="accent5"/>
          </a:solidFill>
          <a:ln w="12700">
            <a:solidFill>
              <a:schemeClr val="accent5"/>
            </a:solidFill>
            <a:prstDash val="solid"/>
          </a:ln>
        </p:spPr>
      </p:sp>
      <p:pic>
        <p:nvPicPr>
          <p:cNvPr id="17" name="Image 3" descr="preencoded.png">    </p:cNvPr>
          <p:cNvPicPr>
            <a:picLocks noChangeAspect="1"/>
          </p:cNvPicPr>
          <p:nvPr/>
        </p:nvPicPr>
        <p:blipFill>
          <a:blip r:embed="rId4"/>
          <a:stretch>
            <a:fillRect/>
          </a:stretch>
        </p:blipFill>
        <p:spPr>
          <a:xfrm>
            <a:off x="1703984" y="2146097"/>
            <a:ext cx="416966" cy="416966"/>
          </a:xfrm>
          <a:prstGeom prst="rect">
            <a:avLst/>
          </a:prstGeom>
        </p:spPr>
      </p:pic>
      <p:sp>
        <p:nvSpPr>
          <p:cNvPr id="18" name="Text 12"/>
          <p:cNvSpPr txBox="1"/>
          <p:nvPr/>
        </p:nvSpPr>
        <p:spPr>
          <a:xfrm>
            <a:off x="678028" y="2898648"/>
            <a:ext cx="2468880" cy="54864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פסיכולוגיים</a:t>
            </a:r>
            <a:endParaRPr lang="he-IL" sz="2200" dirty="0"/>
          </a:p>
        </p:txBody>
      </p:sp>
      <p:sp>
        <p:nvSpPr>
          <p:cNvPr id="19" name="Shape 13"/>
          <p:cNvSpPr/>
          <p:nvPr/>
        </p:nvSpPr>
        <p:spPr>
          <a:xfrm>
            <a:off x="7650328" y="3931920"/>
            <a:ext cx="2468880" cy="1920240"/>
          </a:xfrm>
          <a:prstGeom prst="roundRect">
            <a:avLst>
              <a:gd name="adj" fmla="val 5714"/>
            </a:avLst>
          </a:prstGeom>
          <a:solidFill>
            <a:schemeClr val="bg2"/>
          </a:solidFill>
          <a:ln w="12700">
            <a:solidFill>
              <a:schemeClr val="bg2"/>
            </a:solidFill>
            <a:prstDash val="solid"/>
          </a:ln>
        </p:spPr>
      </p:sp>
      <p:sp>
        <p:nvSpPr>
          <p:cNvPr id="20" name="Shape 14"/>
          <p:cNvSpPr/>
          <p:nvPr/>
        </p:nvSpPr>
        <p:spPr>
          <a:xfrm>
            <a:off x="8450428" y="4160520"/>
            <a:ext cx="868680" cy="868680"/>
          </a:xfrm>
          <a:prstGeom prst="ellipse">
            <a:avLst/>
          </a:prstGeom>
          <a:solidFill>
            <a:schemeClr val="accent4"/>
          </a:solidFill>
          <a:ln w="12700">
            <a:solidFill>
              <a:schemeClr val="accent4"/>
            </a:solidFill>
            <a:prstDash val="solid"/>
          </a:ln>
        </p:spPr>
      </p:sp>
      <p:pic>
        <p:nvPicPr>
          <p:cNvPr id="21" name="Image 4" descr="preencoded.png">    </p:cNvPr>
          <p:cNvPicPr>
            <a:picLocks noChangeAspect="1"/>
          </p:cNvPicPr>
          <p:nvPr/>
        </p:nvPicPr>
        <p:blipFill>
          <a:blip r:embed="rId5"/>
          <a:stretch>
            <a:fillRect/>
          </a:stretch>
        </p:blipFill>
        <p:spPr>
          <a:xfrm>
            <a:off x="8676284" y="4386377"/>
            <a:ext cx="416966" cy="416966"/>
          </a:xfrm>
          <a:prstGeom prst="rect">
            <a:avLst/>
          </a:prstGeom>
        </p:spPr>
      </p:pic>
      <p:sp>
        <p:nvSpPr>
          <p:cNvPr id="22" name="Text 15"/>
          <p:cNvSpPr txBox="1"/>
          <p:nvPr/>
        </p:nvSpPr>
        <p:spPr>
          <a:xfrm>
            <a:off x="7650328" y="5138928"/>
            <a:ext cx="2468880" cy="54864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תרבותיים</a:t>
            </a:r>
            <a:endParaRPr lang="he-IL" sz="2200" dirty="0"/>
          </a:p>
        </p:txBody>
      </p:sp>
      <p:sp>
        <p:nvSpPr>
          <p:cNvPr id="23" name="Shape 16"/>
          <p:cNvSpPr/>
          <p:nvPr/>
        </p:nvSpPr>
        <p:spPr>
          <a:xfrm>
            <a:off x="4861408" y="3931920"/>
            <a:ext cx="2468880" cy="1920240"/>
          </a:xfrm>
          <a:prstGeom prst="roundRect">
            <a:avLst>
              <a:gd name="adj" fmla="val 5714"/>
            </a:avLst>
          </a:prstGeom>
          <a:solidFill>
            <a:schemeClr val="bg2"/>
          </a:solidFill>
          <a:ln w="12700">
            <a:solidFill>
              <a:schemeClr val="bg2"/>
            </a:solidFill>
            <a:prstDash val="solid"/>
          </a:ln>
        </p:spPr>
      </p:sp>
      <p:sp>
        <p:nvSpPr>
          <p:cNvPr id="24" name="Shape 17"/>
          <p:cNvSpPr/>
          <p:nvPr/>
        </p:nvSpPr>
        <p:spPr>
          <a:xfrm>
            <a:off x="5661508" y="4160520"/>
            <a:ext cx="868680" cy="868680"/>
          </a:xfrm>
          <a:prstGeom prst="ellipse">
            <a:avLst/>
          </a:prstGeom>
          <a:solidFill>
            <a:schemeClr val="accent2"/>
          </a:solidFill>
          <a:ln w="12700">
            <a:solidFill>
              <a:schemeClr val="accent2"/>
            </a:solidFill>
            <a:prstDash val="solid"/>
          </a:ln>
        </p:spPr>
      </p:sp>
      <p:pic>
        <p:nvPicPr>
          <p:cNvPr id="25" name="Image 5" descr="preencoded.png">    </p:cNvPr>
          <p:cNvPicPr>
            <a:picLocks noChangeAspect="1"/>
          </p:cNvPicPr>
          <p:nvPr/>
        </p:nvPicPr>
        <p:blipFill>
          <a:blip r:embed="rId6"/>
          <a:stretch>
            <a:fillRect/>
          </a:stretch>
        </p:blipFill>
        <p:spPr>
          <a:xfrm>
            <a:off x="5887364" y="4386377"/>
            <a:ext cx="416966" cy="416966"/>
          </a:xfrm>
          <a:prstGeom prst="rect">
            <a:avLst/>
          </a:prstGeom>
        </p:spPr>
      </p:pic>
      <p:sp>
        <p:nvSpPr>
          <p:cNvPr id="26" name="Text 18"/>
          <p:cNvSpPr txBox="1"/>
          <p:nvPr/>
        </p:nvSpPr>
        <p:spPr>
          <a:xfrm>
            <a:off x="4861408" y="5138928"/>
            <a:ext cx="2468880" cy="54864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סביבתיים</a:t>
            </a:r>
            <a:endParaRPr lang="he-IL" sz="2200" dirty="0"/>
          </a:p>
        </p:txBody>
      </p:sp>
      <p:sp>
        <p:nvSpPr>
          <p:cNvPr id="27" name="Shape 19"/>
          <p:cNvSpPr/>
          <p:nvPr/>
        </p:nvSpPr>
        <p:spPr>
          <a:xfrm>
            <a:off x="2072488" y="3931920"/>
            <a:ext cx="2468880" cy="1920240"/>
          </a:xfrm>
          <a:prstGeom prst="roundRect">
            <a:avLst>
              <a:gd name="adj" fmla="val 5714"/>
            </a:avLst>
          </a:prstGeom>
          <a:solidFill>
            <a:schemeClr val="bg2"/>
          </a:solidFill>
          <a:ln w="12700">
            <a:solidFill>
              <a:schemeClr val="bg2"/>
            </a:solidFill>
            <a:prstDash val="solid"/>
          </a:ln>
        </p:spPr>
      </p:sp>
      <p:sp>
        <p:nvSpPr>
          <p:cNvPr id="28" name="Shape 20"/>
          <p:cNvSpPr/>
          <p:nvPr/>
        </p:nvSpPr>
        <p:spPr>
          <a:xfrm>
            <a:off x="2872588" y="4160520"/>
            <a:ext cx="868680" cy="868680"/>
          </a:xfrm>
          <a:prstGeom prst="ellipse">
            <a:avLst/>
          </a:prstGeom>
          <a:solidFill>
            <a:schemeClr val="accent6"/>
          </a:solidFill>
          <a:ln w="12700">
            <a:solidFill>
              <a:schemeClr val="accent6"/>
            </a:solidFill>
            <a:prstDash val="solid"/>
          </a:ln>
        </p:spPr>
      </p:sp>
      <p:pic>
        <p:nvPicPr>
          <p:cNvPr id="29" name="Image 6" descr="preencoded.png">    </p:cNvPr>
          <p:cNvPicPr>
            <a:picLocks noChangeAspect="1"/>
          </p:cNvPicPr>
          <p:nvPr/>
        </p:nvPicPr>
        <p:blipFill>
          <a:blip r:embed="rId7"/>
          <a:stretch>
            <a:fillRect/>
          </a:stretch>
        </p:blipFill>
        <p:spPr>
          <a:xfrm>
            <a:off x="3098444" y="4386377"/>
            <a:ext cx="416966" cy="416966"/>
          </a:xfrm>
          <a:prstGeom prst="rect">
            <a:avLst/>
          </a:prstGeom>
        </p:spPr>
      </p:pic>
      <p:sp>
        <p:nvSpPr>
          <p:cNvPr id="30" name="Text 21"/>
          <p:cNvSpPr txBox="1"/>
          <p:nvPr/>
        </p:nvSpPr>
        <p:spPr>
          <a:xfrm>
            <a:off x="2072488" y="5138928"/>
            <a:ext cx="2468880" cy="548640"/>
          </a:xfrm>
          <a:prstGeom prst="rect">
            <a:avLst/>
          </a:prstGeom>
          <a:noFill/>
          <a:ln/>
        </p:spPr>
        <p:txBody>
          <a:bodyPr wrap="square" lIns="50800" tIns="50800" rIns="50800" bIns="50800" rtlCol="0" anchor="t"/>
          <a:lstStyle/>
          <a:p>
            <a:pPr rtl="1" algn="ctr" indent="0" marL="0">
              <a:buNone/>
            </a:pPr>
            <a:r>
              <a:rPr lang="he-IL" altLang="en-US" sz="2200" b="1" dirty="0">
                <a:solidFill>
                  <a:schemeClr val="tx2"/>
                </a:solidFill>
                <a:latin typeface="Arial" pitchFamily="34" charset="0"/>
                <a:ea typeface="Arial" pitchFamily="34" charset="-122"/>
                <a:cs typeface="Arial" pitchFamily="34" charset="-120"/>
              </a:rPr>
              <a:t>ביולוגיים</a:t>
            </a:r>
            <a:endParaRPr lang="he-IL" sz="22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תנאים מוקדמים לבריאות</a:t>
            </a:r>
            <a:endParaRPr lang="he-IL" sz="3000" dirty="0"/>
          </a:p>
        </p:txBody>
      </p:sp>
      <p:sp>
        <p:nvSpPr>
          <p:cNvPr id="3" name="Shape 1"/>
          <p:cNvSpPr/>
          <p:nvPr/>
        </p:nvSpPr>
        <p:spPr>
          <a:xfrm>
            <a:off x="548640" y="1554480"/>
            <a:ext cx="11091672" cy="3566160"/>
          </a:xfrm>
          <a:prstGeom prst="roundRect">
            <a:avLst>
              <a:gd name="adj" fmla="val 3077"/>
            </a:avLst>
          </a:prstGeom>
          <a:solidFill>
            <a:schemeClr val="bg2"/>
          </a:solidFill>
          <a:ln w="12700">
            <a:solidFill>
              <a:schemeClr val="bg2"/>
            </a:solidFill>
            <a:prstDash val="solid"/>
          </a:ln>
        </p:spPr>
      </p:sp>
      <p:sp>
        <p:nvSpPr>
          <p:cNvPr id="4" name="Shape 2"/>
          <p:cNvSpPr/>
          <p:nvPr/>
        </p:nvSpPr>
        <p:spPr>
          <a:xfrm>
            <a:off x="10561320" y="1783080"/>
            <a:ext cx="822960" cy="8229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775290" y="1997050"/>
            <a:ext cx="395021" cy="395021"/>
          </a:xfrm>
          <a:prstGeom prst="rect">
            <a:avLst/>
          </a:prstGeom>
        </p:spPr>
      </p:pic>
      <p:sp>
        <p:nvSpPr>
          <p:cNvPr id="6" name="Text 3"/>
          <p:cNvSpPr txBox="1"/>
          <p:nvPr/>
        </p:nvSpPr>
        <p:spPr>
          <a:xfrm>
            <a:off x="914400" y="1828800"/>
            <a:ext cx="9418320" cy="3017520"/>
          </a:xfrm>
          <a:prstGeom prst="rect">
            <a:avLst/>
          </a:prstGeom>
          <a:noFill/>
          <a:ln/>
        </p:spPr>
        <p:txBody>
          <a:bodyPr wrap="square" lIns="50800" tIns="50800" rIns="50800" bIns="50800" rtlCol="0" anchor="ctr"/>
          <a:lstStyle/>
          <a:p>
            <a:pPr rtl="1" algn="r" indent="0" marL="0">
              <a:lnSpc>
                <a:spcPct val="120000"/>
              </a:lnSpc>
              <a:buNone/>
            </a:pPr>
            <a:r>
              <a:rPr lang="he-IL" altLang="en-US" sz="2800" b="1" dirty="0">
                <a:solidFill>
                  <a:schemeClr val="accent1"/>
                </a:solidFill>
                <a:latin typeface="Arial" pitchFamily="34" charset="0"/>
                <a:ea typeface="Arial" pitchFamily="34" charset="-122"/>
                <a:cs typeface="Arial" pitchFamily="34" charset="-120"/>
              </a:rPr>
              <a:t>התנאים הבסיסיים והמשאבים של בריאות הם:</a:t>
            </a:r>
            <a:endParaRPr lang="he-IL" sz="2800" dirty="0"/>
          </a:p>
          <a:p>
            <a:pPr rtl="1" algn="r" indent="0" marL="0">
              <a:lnSpc>
                <a:spcPct val="120000"/>
              </a:lnSpc>
              <a:buNone/>
            </a:pPr>
            <a:r>
              <a:rPr lang="he-IL" altLang="en-US" sz="2800" dirty="0">
                <a:solidFill>
                  <a:schemeClr val="tx2"/>
                </a:solidFill>
                <a:latin typeface="Arial" pitchFamily="34" charset="0"/>
                <a:ea typeface="Arial" pitchFamily="34" charset="-122"/>
                <a:cs typeface="Arial" pitchFamily="34" charset="-120"/>
              </a:rPr>
              <a:t>שלום, הגנה, חינוך, מזון, הכנסה ,מערכת אקולוגית יציבה, משאבים בני קיום, צדק חברתי ושיווין.</a:t>
            </a:r>
            <a:endParaRPr lang="he-IL" sz="2800" dirty="0"/>
          </a:p>
        </p:txBody>
      </p:sp>
      <p:sp>
        <p:nvSpPr>
          <p:cNvPr id="7" name="Text 4"/>
          <p:cNvSpPr txBox="1"/>
          <p:nvPr/>
        </p:nvSpPr>
        <p:spPr>
          <a:xfrm>
            <a:off x="548640" y="5349240"/>
            <a:ext cx="11091672" cy="411480"/>
          </a:xfrm>
          <a:prstGeom prst="rect">
            <a:avLst/>
          </a:prstGeom>
          <a:noFill/>
          <a:ln/>
        </p:spPr>
        <p:txBody>
          <a:bodyPr wrap="square" lIns="50800" tIns="50800" rIns="50800" bIns="50800" rtlCol="0" anchor="t"/>
          <a:lstStyle/>
          <a:p>
            <a:pPr rtl="1" algn="r" indent="0" marL="0">
              <a:buNone/>
            </a:pPr>
            <a:r>
              <a:rPr lang="he-IL" altLang="en-US" sz="1800" dirty="0">
                <a:solidFill>
                  <a:schemeClr val="accent1"/>
                </a:solidFill>
                <a:latin typeface="Arial" pitchFamily="34" charset="0"/>
                <a:ea typeface="Arial" pitchFamily="34" charset="-122"/>
                <a:cs typeface="Arial" pitchFamily="34" charset="-120"/>
              </a:rPr>
              <a:t>אמנת אוטווה 1986, WHO</a:t>
            </a:r>
            <a:endParaRPr lang="he-IL" sz="18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קידום בריאות</a:t>
            </a:r>
            <a:endParaRPr lang="he-IL" sz="3000" dirty="0"/>
          </a:p>
        </p:txBody>
      </p:sp>
      <p:sp>
        <p:nvSpPr>
          <p:cNvPr id="3" name="Shape 1"/>
          <p:cNvSpPr/>
          <p:nvPr/>
        </p:nvSpPr>
        <p:spPr>
          <a:xfrm>
            <a:off x="822960" y="2011680"/>
            <a:ext cx="2011680" cy="2011680"/>
          </a:xfrm>
          <a:prstGeom prst="ellipse">
            <a:avLst/>
          </a:prstGeom>
          <a:solidFill>
            <a:schemeClr val="bg2"/>
          </a:solidFill>
          <a:ln w="12700">
            <a:solidFill>
              <a:schemeClr val="bg2"/>
            </a:solidFill>
            <a:prstDash val="solid"/>
          </a:ln>
        </p:spPr>
      </p:sp>
      <p:pic>
        <p:nvPicPr>
          <p:cNvPr id="4" name="Image 0" descr="preencoded.png">    </p:cNvPr>
          <p:cNvPicPr>
            <a:picLocks noChangeAspect="1"/>
          </p:cNvPicPr>
          <p:nvPr/>
        </p:nvPicPr>
        <p:blipFill>
          <a:blip r:embed="rId1"/>
          <a:stretch>
            <a:fillRect/>
          </a:stretch>
        </p:blipFill>
        <p:spPr>
          <a:xfrm>
            <a:off x="1345997" y="2534717"/>
            <a:ext cx="965606" cy="965606"/>
          </a:xfrm>
          <a:prstGeom prst="rect">
            <a:avLst/>
          </a:prstGeom>
        </p:spPr>
      </p:pic>
      <p:sp>
        <p:nvSpPr>
          <p:cNvPr id="5" name="Text 2"/>
          <p:cNvSpPr txBox="1"/>
          <p:nvPr/>
        </p:nvSpPr>
        <p:spPr>
          <a:xfrm>
            <a:off x="3291840" y="1737360"/>
            <a:ext cx="8348472" cy="2651760"/>
          </a:xfrm>
          <a:prstGeom prst="rect">
            <a:avLst/>
          </a:prstGeom>
          <a:noFill/>
          <a:ln/>
        </p:spPr>
        <p:txBody>
          <a:bodyPr wrap="square" lIns="50800" tIns="50800" rIns="50800" bIns="50800" rtlCol="0" anchor="ctr"/>
          <a:lstStyle/>
          <a:p>
            <a:pPr rtl="1" algn="r" indent="0" marL="0">
              <a:lnSpc>
                <a:spcPct val="115000"/>
              </a:lnSpc>
              <a:buNone/>
            </a:pPr>
            <a:r>
              <a:rPr lang="he-IL" altLang="en-US" sz="3200" b="1" dirty="0">
                <a:solidFill>
                  <a:schemeClr val="tx2"/>
                </a:solidFill>
                <a:latin typeface="Arial" pitchFamily="34" charset="0"/>
                <a:ea typeface="Arial" pitchFamily="34" charset="-122"/>
                <a:cs typeface="Arial" pitchFamily="34" charset="-120"/>
              </a:rPr>
              <a:t>תהליך המאפשר לאנשים להגדיל את השליטה</a:t>
            </a:r>
            <a:endParaRPr lang="he-IL" sz="3200" dirty="0"/>
          </a:p>
          <a:p>
            <a:pPr rtl="1" algn="r" indent="0" marL="0">
              <a:lnSpc>
                <a:spcPct val="115000"/>
              </a:lnSpc>
              <a:buNone/>
            </a:pPr>
            <a:r>
              <a:rPr lang="he-IL" altLang="en-US" sz="3200" b="1" dirty="0">
                <a:solidFill>
                  <a:schemeClr val="tx2"/>
                </a:solidFill>
                <a:latin typeface="Arial" pitchFamily="34" charset="0"/>
                <a:ea typeface="Arial" pitchFamily="34" charset="-122"/>
                <a:cs typeface="Arial" pitchFamily="34" charset="-120"/>
              </a:rPr>
              <a:t>על הגורמים המשפיעים על הבריאות</a:t>
            </a:r>
            <a:endParaRPr lang="he-IL" sz="3200" dirty="0"/>
          </a:p>
          <a:p>
            <a:pPr rtl="1" algn="r" indent="0" marL="0">
              <a:lnSpc>
                <a:spcPct val="115000"/>
              </a:lnSpc>
              <a:buNone/>
            </a:pPr>
            <a:r>
              <a:rPr lang="he-IL" altLang="en-US" sz="3200" b="1" dirty="0">
                <a:solidFill>
                  <a:schemeClr val="tx2"/>
                </a:solidFill>
                <a:latin typeface="Arial" pitchFamily="34" charset="0"/>
                <a:ea typeface="Arial" pitchFamily="34" charset="-122"/>
                <a:cs typeface="Arial" pitchFamily="34" charset="-120"/>
              </a:rPr>
              <a:t>ועל ידי כך לשפר את בריאותם</a:t>
            </a:r>
            <a:endParaRPr lang="he-IL" sz="3200" dirty="0"/>
          </a:p>
        </p:txBody>
      </p:sp>
      <p:sp>
        <p:nvSpPr>
          <p:cNvPr id="6" name="Text 3"/>
          <p:cNvSpPr txBox="1"/>
          <p:nvPr/>
        </p:nvSpPr>
        <p:spPr>
          <a:xfrm>
            <a:off x="3291840" y="4754880"/>
            <a:ext cx="8348472" cy="411480"/>
          </a:xfrm>
          <a:prstGeom prst="rect">
            <a:avLst/>
          </a:prstGeom>
          <a:noFill/>
          <a:ln/>
        </p:spPr>
        <p:txBody>
          <a:bodyPr wrap="square" lIns="50800" tIns="50800" rIns="50800" bIns="50800" rtlCol="0" anchor="t"/>
          <a:lstStyle/>
          <a:p>
            <a:pPr rtl="1" algn="r" indent="0" marL="0">
              <a:buNone/>
            </a:pPr>
            <a:r>
              <a:rPr lang="he-IL" altLang="en-US" sz="1800" dirty="0">
                <a:solidFill>
                  <a:schemeClr val="accent1"/>
                </a:solidFill>
                <a:latin typeface="Arial" pitchFamily="34" charset="0"/>
                <a:ea typeface="Arial" pitchFamily="34" charset="-122"/>
                <a:cs typeface="Arial" pitchFamily="34" charset="-120"/>
              </a:rPr>
              <a:t>אמנת אוטווה 1986, WHO</a:t>
            </a:r>
            <a:endParaRPr lang="he-IL" sz="18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אמנת אוטווה (קנדה) מתבססת על שני עקרונות מרכזיים:</a:t>
            </a:r>
            <a:endParaRPr lang="he-IL" sz="3000" dirty="0"/>
          </a:p>
        </p:txBody>
      </p:sp>
      <p:sp>
        <p:nvSpPr>
          <p:cNvPr id="3" name="Shape 1"/>
          <p:cNvSpPr/>
          <p:nvPr/>
        </p:nvSpPr>
        <p:spPr>
          <a:xfrm>
            <a:off x="3813048" y="1417320"/>
            <a:ext cx="4572000" cy="1965960"/>
          </a:xfrm>
          <a:prstGeom prst="roundRect">
            <a:avLst>
              <a:gd name="adj" fmla="val 6977"/>
            </a:avLst>
          </a:prstGeom>
          <a:solidFill>
            <a:schemeClr val="tx2"/>
          </a:solidFill>
          <a:ln/>
          <a:effectLst>
            <a:outerShdw sx="100000" sy="100000" kx="0" ky="0" algn="bl" rotWithShape="0" blurRad="101600" dist="25400" dir="5400000">
              <a:srgbClr val="0F4C5C">
                <a:alpha val="14000"/>
              </a:srgbClr>
            </a:outerShdw>
          </a:effectLst>
        </p:spPr>
      </p:sp>
      <p:sp>
        <p:nvSpPr>
          <p:cNvPr id="4" name="Text 2"/>
          <p:cNvSpPr txBox="1"/>
          <p:nvPr/>
        </p:nvSpPr>
        <p:spPr>
          <a:xfrm>
            <a:off x="3931920" y="1463040"/>
            <a:ext cx="4334256" cy="1874520"/>
          </a:xfrm>
          <a:prstGeom prst="rect">
            <a:avLst/>
          </a:prstGeom>
          <a:noFill/>
          <a:ln/>
        </p:spPr>
        <p:txBody>
          <a:bodyPr wrap="square" lIns="50800" tIns="50800" rIns="50800" bIns="50800" rtlCol="0" anchor="ctr"/>
          <a:lstStyle/>
          <a:p>
            <a:pPr rtl="1" algn="ctr" indent="0" marL="0">
              <a:buNone/>
            </a:pPr>
            <a:r>
              <a:rPr lang="he-IL" altLang="en-US" sz="2400" b="1" dirty="0">
                <a:solidFill>
                  <a:schemeClr val="bg1"/>
                </a:solidFill>
                <a:latin typeface="Arial" pitchFamily="34" charset="0"/>
                <a:ea typeface="Arial" pitchFamily="34" charset="-122"/>
                <a:cs typeface="Arial" pitchFamily="34" charset="-120"/>
              </a:rPr>
              <a:t>אמנת אוטווה</a:t>
            </a:r>
            <a:endParaRPr lang="he-IL" sz="1500" dirty="0"/>
          </a:p>
          <a:p>
            <a:pPr rtl="1" algn="ctr" indent="0" marL="0">
              <a:buNone/>
            </a:pPr>
            <a:r>
              <a:rPr lang="he-IL" altLang="en-US" sz="3000" b="1" dirty="0">
                <a:solidFill>
                  <a:schemeClr val="accent3"/>
                </a:solidFill>
                <a:latin typeface="Arial" pitchFamily="34" charset="0"/>
                <a:ea typeface="Arial" pitchFamily="34" charset="-122"/>
                <a:cs typeface="Arial" pitchFamily="34" charset="-120"/>
              </a:rPr>
              <a:t>1986</a:t>
            </a:r>
            <a:endParaRPr lang="he-IL" sz="1500" dirty="0"/>
          </a:p>
          <a:p>
            <a:pPr rtl="1" algn="ctr" indent="0" marL="0">
              <a:buNone/>
            </a:pPr>
            <a:r>
              <a:rPr lang="he-IL" altLang="en-US" sz="1500" dirty="0">
                <a:solidFill>
                  <a:schemeClr val="bg1"/>
                </a:solidFill>
                <a:latin typeface="Arial" pitchFamily="34" charset="0"/>
                <a:ea typeface="Arial" pitchFamily="34" charset="-122"/>
                <a:cs typeface="Arial" pitchFamily="34" charset="-120"/>
              </a:rPr>
              <a:t>האמנה הראשונה בתחום קידום הבריאות</a:t>
            </a:r>
            <a:endParaRPr lang="he-IL" sz="1500" dirty="0"/>
          </a:p>
          <a:p>
            <a:pPr rtl="1" algn="ctr" indent="0" marL="0">
              <a:buNone/>
            </a:pPr>
            <a:r>
              <a:rPr lang="he-IL" altLang="en-US" sz="1500" dirty="0">
                <a:solidFill>
                  <a:schemeClr val="bg1"/>
                </a:solidFill>
                <a:latin typeface="Arial" pitchFamily="34" charset="0"/>
                <a:ea typeface="Arial" pitchFamily="34" charset="-122"/>
                <a:cs typeface="Arial" pitchFamily="34" charset="-120"/>
              </a:rPr>
              <a:t>האמנה קבעה לראשונה את ההגדרה של קידום הבריאות !</a:t>
            </a:r>
            <a:endParaRPr lang="he-IL" sz="1500" dirty="0"/>
          </a:p>
        </p:txBody>
      </p:sp>
      <p:sp>
        <p:nvSpPr>
          <p:cNvPr id="5" name="Shape 3"/>
          <p:cNvSpPr/>
          <p:nvPr/>
        </p:nvSpPr>
        <p:spPr>
          <a:xfrm>
            <a:off x="6099048" y="3383280"/>
            <a:ext cx="2953512" cy="365760"/>
          </a:xfrm>
          <a:prstGeom prst="line">
            <a:avLst/>
          </a:prstGeom>
          <a:noFill/>
          <a:ln w="25400">
            <a:solidFill>
              <a:schemeClr val="accent2"/>
            </a:solidFill>
            <a:prstDash val="solid"/>
          </a:ln>
        </p:spPr>
      </p:sp>
      <p:sp>
        <p:nvSpPr>
          <p:cNvPr id="6" name="Shape 4"/>
          <p:cNvSpPr/>
          <p:nvPr/>
        </p:nvSpPr>
        <p:spPr>
          <a:xfrm flipH="1">
            <a:off x="3108960" y="3383280"/>
            <a:ext cx="2990088" cy="365760"/>
          </a:xfrm>
          <a:prstGeom prst="line">
            <a:avLst/>
          </a:prstGeom>
          <a:noFill/>
          <a:ln w="25400">
            <a:solidFill>
              <a:schemeClr val="accent6"/>
            </a:solidFill>
            <a:prstDash val="solid"/>
          </a:ln>
        </p:spPr>
      </p:sp>
      <p:sp>
        <p:nvSpPr>
          <p:cNvPr id="7" name="Shape 5"/>
          <p:cNvSpPr/>
          <p:nvPr/>
        </p:nvSpPr>
        <p:spPr>
          <a:xfrm>
            <a:off x="6293815" y="3749040"/>
            <a:ext cx="5349240" cy="2468880"/>
          </a:xfrm>
          <a:prstGeom prst="roundRect">
            <a:avLst>
              <a:gd name="adj" fmla="val 4444"/>
            </a:avLst>
          </a:prstGeom>
          <a:solidFill>
            <a:schemeClr val="accent2"/>
          </a:solidFill>
          <a:ln w="12700">
            <a:solidFill>
              <a:schemeClr val="accent2"/>
            </a:solidFill>
            <a:prstDash val="solid"/>
          </a:ln>
        </p:spPr>
      </p:sp>
      <p:sp>
        <p:nvSpPr>
          <p:cNvPr id="8" name="Shape 6"/>
          <p:cNvSpPr/>
          <p:nvPr/>
        </p:nvSpPr>
        <p:spPr>
          <a:xfrm>
            <a:off x="10774375" y="3977640"/>
            <a:ext cx="640080" cy="640080"/>
          </a:xfrm>
          <a:prstGeom prst="ellipse">
            <a:avLst/>
          </a:prstGeom>
          <a:solidFill>
            <a:schemeClr val="bg1"/>
          </a:solidFill>
          <a:ln w="12700">
            <a:solidFill>
              <a:schemeClr val="bg1"/>
            </a:solidFill>
            <a:prstDash val="solid"/>
          </a:ln>
        </p:spPr>
      </p:sp>
      <p:pic>
        <p:nvPicPr>
          <p:cNvPr id="9" name="Image 0" descr="preencoded.png">    </p:cNvPr>
          <p:cNvPicPr>
            <a:picLocks noChangeAspect="1"/>
          </p:cNvPicPr>
          <p:nvPr/>
        </p:nvPicPr>
        <p:blipFill>
          <a:blip r:embed="rId1"/>
          <a:stretch>
            <a:fillRect/>
          </a:stretch>
        </p:blipFill>
        <p:spPr>
          <a:xfrm>
            <a:off x="10940796" y="4144061"/>
            <a:ext cx="307238" cy="307238"/>
          </a:xfrm>
          <a:prstGeom prst="rect">
            <a:avLst/>
          </a:prstGeom>
        </p:spPr>
      </p:pic>
      <p:sp>
        <p:nvSpPr>
          <p:cNvPr id="10" name="Text 7"/>
          <p:cNvSpPr txBox="1"/>
          <p:nvPr/>
        </p:nvSpPr>
        <p:spPr>
          <a:xfrm>
            <a:off x="6522415" y="3931920"/>
            <a:ext cx="4160520" cy="2103120"/>
          </a:xfrm>
          <a:prstGeom prst="rect">
            <a:avLst/>
          </a:prstGeom>
          <a:noFill/>
          <a:ln/>
        </p:spPr>
        <p:txBody>
          <a:bodyPr wrap="square" lIns="50800" tIns="50800" rIns="50800" bIns="50800" rtlCol="0" anchor="ctr"/>
          <a:lstStyle/>
          <a:p>
            <a:pPr rtl="1" algn="r" indent="0" marL="0">
              <a:buNone/>
            </a:pPr>
            <a:r>
              <a:rPr lang="he-IL" altLang="en-US" sz="1900" dirty="0">
                <a:solidFill>
                  <a:schemeClr val="bg1"/>
                </a:solidFill>
                <a:latin typeface="Arial" pitchFamily="34" charset="0"/>
                <a:ea typeface="Arial" pitchFamily="34" charset="-122"/>
                <a:cs typeface="Arial" pitchFamily="34" charset="-120"/>
              </a:rPr>
              <a:t>בריאות היא זכות בסיסית של בני האדם,</a:t>
            </a:r>
            <a:endParaRPr lang="he-IL" sz="1900" dirty="0"/>
          </a:p>
          <a:p>
            <a:pPr rtl="1" algn="r" indent="0" marL="0">
              <a:buNone/>
            </a:pPr>
            <a:r>
              <a:rPr lang="he-IL" altLang="en-US" sz="1900" dirty="0">
                <a:solidFill>
                  <a:schemeClr val="bg1"/>
                </a:solidFill>
                <a:latin typeface="Arial" pitchFamily="34" charset="0"/>
                <a:ea typeface="Arial" pitchFamily="34" charset="-122"/>
                <a:cs typeface="Arial" pitchFamily="34" charset="-120"/>
              </a:rPr>
              <a:t>לכל אדם יש את הזכות להגשים את הפוטנציאל הבריאותי שלו</a:t>
            </a:r>
            <a:endParaRPr lang="he-IL" sz="1900" dirty="0"/>
          </a:p>
        </p:txBody>
      </p:sp>
      <p:sp>
        <p:nvSpPr>
          <p:cNvPr id="11" name="Shape 8"/>
          <p:cNvSpPr/>
          <p:nvPr/>
        </p:nvSpPr>
        <p:spPr>
          <a:xfrm>
            <a:off x="548640" y="3749040"/>
            <a:ext cx="5349240" cy="2468880"/>
          </a:xfrm>
          <a:prstGeom prst="roundRect">
            <a:avLst>
              <a:gd name="adj" fmla="val 4444"/>
            </a:avLst>
          </a:prstGeom>
          <a:solidFill>
            <a:schemeClr val="accent6"/>
          </a:solidFill>
          <a:ln w="12700">
            <a:solidFill>
              <a:schemeClr val="accent6"/>
            </a:solidFill>
            <a:prstDash val="solid"/>
          </a:ln>
        </p:spPr>
      </p:sp>
      <p:sp>
        <p:nvSpPr>
          <p:cNvPr id="12" name="Shape 9"/>
          <p:cNvSpPr/>
          <p:nvPr/>
        </p:nvSpPr>
        <p:spPr>
          <a:xfrm>
            <a:off x="5029200" y="3977640"/>
            <a:ext cx="640080" cy="640080"/>
          </a:xfrm>
          <a:prstGeom prst="ellipse">
            <a:avLst/>
          </a:prstGeom>
          <a:solidFill>
            <a:schemeClr val="bg1"/>
          </a:solidFill>
          <a:ln w="12700">
            <a:solidFill>
              <a:schemeClr val="bg1"/>
            </a:solidFill>
            <a:prstDash val="solid"/>
          </a:ln>
        </p:spPr>
      </p:sp>
      <p:pic>
        <p:nvPicPr>
          <p:cNvPr id="13" name="Image 1" descr="preencoded.png">    </p:cNvPr>
          <p:cNvPicPr>
            <a:picLocks noChangeAspect="1"/>
          </p:cNvPicPr>
          <p:nvPr/>
        </p:nvPicPr>
        <p:blipFill>
          <a:blip r:embed="rId2"/>
          <a:stretch>
            <a:fillRect/>
          </a:stretch>
        </p:blipFill>
        <p:spPr>
          <a:xfrm>
            <a:off x="5195621" y="4144061"/>
            <a:ext cx="307238" cy="307238"/>
          </a:xfrm>
          <a:prstGeom prst="rect">
            <a:avLst/>
          </a:prstGeom>
        </p:spPr>
      </p:pic>
      <p:sp>
        <p:nvSpPr>
          <p:cNvPr id="14" name="Text 10"/>
          <p:cNvSpPr txBox="1"/>
          <p:nvPr/>
        </p:nvSpPr>
        <p:spPr>
          <a:xfrm>
            <a:off x="777240" y="3931920"/>
            <a:ext cx="4160520" cy="2103120"/>
          </a:xfrm>
          <a:prstGeom prst="rect">
            <a:avLst/>
          </a:prstGeom>
          <a:noFill/>
          <a:ln/>
        </p:spPr>
        <p:txBody>
          <a:bodyPr wrap="square" lIns="50800" tIns="50800" rIns="50800" bIns="50800" rtlCol="0" anchor="ctr"/>
          <a:lstStyle/>
          <a:p>
            <a:pPr rtl="1" algn="r" indent="0" marL="0">
              <a:buNone/>
            </a:pPr>
            <a:r>
              <a:rPr lang="he-IL" altLang="en-US" sz="1900" b="1" dirty="0">
                <a:solidFill>
                  <a:schemeClr val="bg1"/>
                </a:solidFill>
                <a:latin typeface="Arial" pitchFamily="34" charset="0"/>
                <a:ea typeface="Arial" pitchFamily="34" charset="-122"/>
                <a:cs typeface="Arial" pitchFamily="34" charset="-120"/>
              </a:rPr>
              <a:t>חשיבות ההקשר החברתי לקידום הבריאות;</a:t>
            </a:r>
            <a:endParaRPr lang="he-IL" sz="1900" dirty="0"/>
          </a:p>
          <a:p>
            <a:pPr rtl="1" algn="r" indent="0" marL="0">
              <a:buNone/>
            </a:pPr>
            <a:r>
              <a:rPr lang="he-IL" altLang="en-US" sz="1900" dirty="0">
                <a:solidFill>
                  <a:schemeClr val="bg1"/>
                </a:solidFill>
                <a:latin typeface="Arial" pitchFamily="34" charset="0"/>
                <a:ea typeface="Arial" pitchFamily="34" charset="-122"/>
                <a:cs typeface="Arial" pitchFamily="34" charset="-120"/>
              </a:rPr>
              <a:t>בריאות נקבעת על-ידי גורמים חברתיים, תרבותיים, כלכליים ופוליטיים ולא רק על-ידי גורמים ביולוגיים</a:t>
            </a:r>
            <a:endParaRPr lang="he-IL" sz="19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אמנת אוטווה</a:t>
            </a:r>
            <a:endParaRPr lang="he-IL" sz="3000" dirty="0"/>
          </a:p>
        </p:txBody>
      </p:sp>
      <p:sp>
        <p:nvSpPr>
          <p:cNvPr id="3" name="Text 1"/>
          <p:cNvSpPr txBox="1"/>
          <p:nvPr/>
        </p:nvSpPr>
        <p:spPr>
          <a:xfrm>
            <a:off x="548640" y="1371600"/>
            <a:ext cx="11091672" cy="100584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אמנת אוטווה קבעה את האג'נדה של תחום קידום הבריאות</a:t>
            </a:r>
            <a:endParaRPr lang="he-IL" sz="2200" dirty="0"/>
          </a:p>
          <a:p>
            <a:pPr rtl="1" algn="r" indent="0" marL="0">
              <a:buNone/>
            </a:pPr>
            <a:r>
              <a:rPr lang="he-IL" altLang="en-US" sz="2200" dirty="0">
                <a:solidFill>
                  <a:schemeClr val="tx1"/>
                </a:solidFill>
                <a:latin typeface="Arial" pitchFamily="34" charset="0"/>
                <a:ea typeface="Arial" pitchFamily="34" charset="-122"/>
                <a:cs typeface="Arial" pitchFamily="34" charset="-120"/>
              </a:rPr>
              <a:t>באמנה נקבעו שלוש אסטרטגיות לפיהן, פועלים בקידום בריאות:</a:t>
            </a:r>
            <a:endParaRPr lang="he-IL" sz="2200" dirty="0"/>
          </a:p>
        </p:txBody>
      </p:sp>
      <p:sp>
        <p:nvSpPr>
          <p:cNvPr id="4" name="Shape 2"/>
          <p:cNvSpPr/>
          <p:nvPr/>
        </p:nvSpPr>
        <p:spPr>
          <a:xfrm>
            <a:off x="8259775" y="2560320"/>
            <a:ext cx="3383280" cy="1234440"/>
          </a:xfrm>
          <a:prstGeom prst="roundRect">
            <a:avLst>
              <a:gd name="adj" fmla="val 8889"/>
            </a:avLst>
          </a:prstGeom>
          <a:solidFill>
            <a:schemeClr val="bg1"/>
          </a:solidFill>
          <a:ln w="25400">
            <a:solidFill>
              <a:schemeClr val="accent1"/>
            </a:solidFill>
            <a:prstDash val="solid"/>
          </a:ln>
          <a:effectLst>
            <a:outerShdw sx="100000" sy="100000" kx="0" ky="0" algn="bl" rotWithShape="0" blurRad="101600" dist="25400" dir="5400000">
              <a:srgbClr val="0F4C5C">
                <a:alpha val="14000"/>
              </a:srgbClr>
            </a:outerShdw>
          </a:effectLst>
        </p:spPr>
      </p:sp>
      <p:sp>
        <p:nvSpPr>
          <p:cNvPr id="5" name="Shape 3"/>
          <p:cNvSpPr/>
          <p:nvPr/>
        </p:nvSpPr>
        <p:spPr>
          <a:xfrm>
            <a:off x="10682935" y="2807208"/>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873130" y="2997403"/>
            <a:ext cx="351130" cy="351130"/>
          </a:xfrm>
          <a:prstGeom prst="rect">
            <a:avLst/>
          </a:prstGeom>
        </p:spPr>
      </p:pic>
      <p:sp>
        <p:nvSpPr>
          <p:cNvPr id="7" name="Text 4"/>
          <p:cNvSpPr txBox="1"/>
          <p:nvPr/>
        </p:nvSpPr>
        <p:spPr>
          <a:xfrm>
            <a:off x="8442655" y="2560320"/>
            <a:ext cx="2148840" cy="1234440"/>
          </a:xfrm>
          <a:prstGeom prst="rect">
            <a:avLst/>
          </a:prstGeom>
          <a:noFill/>
          <a:ln/>
        </p:spPr>
        <p:txBody>
          <a:bodyPr wrap="square" lIns="50800" tIns="50800" rIns="50800" bIns="50800" rtlCol="0" anchor="ctr"/>
          <a:lstStyle/>
          <a:p>
            <a:pPr rtl="1" algn="r" indent="0" marL="0">
              <a:buNone/>
            </a:pPr>
            <a:r>
              <a:rPr lang="he-IL" altLang="en-US" sz="2600" b="1" dirty="0">
                <a:solidFill>
                  <a:schemeClr val="tx2"/>
                </a:solidFill>
                <a:latin typeface="Arial" pitchFamily="34" charset="0"/>
                <a:ea typeface="Arial" pitchFamily="34" charset="-122"/>
                <a:cs typeface="Arial" pitchFamily="34" charset="-120"/>
              </a:rPr>
              <a:t>א. סנגור</a:t>
            </a:r>
            <a:endParaRPr lang="he-IL" sz="2600" dirty="0"/>
          </a:p>
        </p:txBody>
      </p:sp>
      <p:sp>
        <p:nvSpPr>
          <p:cNvPr id="8" name="Shape 5"/>
          <p:cNvSpPr/>
          <p:nvPr/>
        </p:nvSpPr>
        <p:spPr>
          <a:xfrm>
            <a:off x="4405579" y="2560320"/>
            <a:ext cx="3383280" cy="1234440"/>
          </a:xfrm>
          <a:prstGeom prst="roundRect">
            <a:avLst>
              <a:gd name="adj" fmla="val 8889"/>
            </a:avLst>
          </a:prstGeom>
          <a:solidFill>
            <a:schemeClr val="bg1"/>
          </a:solidFill>
          <a:ln w="25400">
            <a:solidFill>
              <a:schemeClr val="accent3"/>
            </a:solidFill>
            <a:prstDash val="solid"/>
          </a:ln>
          <a:effectLst>
            <a:outerShdw sx="100000" sy="100000" kx="0" ky="0" algn="bl" rotWithShape="0" blurRad="101600" dist="25400" dir="5400000">
              <a:srgbClr val="0F4C5C">
                <a:alpha val="14000"/>
              </a:srgbClr>
            </a:outerShdw>
          </a:effectLst>
        </p:spPr>
      </p:sp>
      <p:sp>
        <p:nvSpPr>
          <p:cNvPr id="9" name="Shape 6"/>
          <p:cNvSpPr/>
          <p:nvPr/>
        </p:nvSpPr>
        <p:spPr>
          <a:xfrm>
            <a:off x="6828739" y="2807208"/>
            <a:ext cx="731520" cy="731520"/>
          </a:xfrm>
          <a:prstGeom prst="ellipse">
            <a:avLst/>
          </a:prstGeom>
          <a:solidFill>
            <a:schemeClr val="accent3"/>
          </a:solidFill>
          <a:ln w="12700">
            <a:solidFill>
              <a:schemeClr val="accent3"/>
            </a:solidFill>
            <a:prstDash val="solid"/>
          </a:ln>
        </p:spPr>
      </p:sp>
      <p:pic>
        <p:nvPicPr>
          <p:cNvPr id="10" name="Image 1" descr="preencoded.png">    </p:cNvPr>
          <p:cNvPicPr>
            <a:picLocks noChangeAspect="1"/>
          </p:cNvPicPr>
          <p:nvPr/>
        </p:nvPicPr>
        <p:blipFill>
          <a:blip r:embed="rId2"/>
          <a:stretch>
            <a:fillRect/>
          </a:stretch>
        </p:blipFill>
        <p:spPr>
          <a:xfrm>
            <a:off x="7018934" y="2997403"/>
            <a:ext cx="351130" cy="351130"/>
          </a:xfrm>
          <a:prstGeom prst="rect">
            <a:avLst/>
          </a:prstGeom>
        </p:spPr>
      </p:pic>
      <p:sp>
        <p:nvSpPr>
          <p:cNvPr id="11" name="Text 7"/>
          <p:cNvSpPr txBox="1"/>
          <p:nvPr/>
        </p:nvSpPr>
        <p:spPr>
          <a:xfrm>
            <a:off x="4588459" y="2560320"/>
            <a:ext cx="2148840" cy="1234440"/>
          </a:xfrm>
          <a:prstGeom prst="rect">
            <a:avLst/>
          </a:prstGeom>
          <a:noFill/>
          <a:ln/>
        </p:spPr>
        <p:txBody>
          <a:bodyPr wrap="square" lIns="50800" tIns="50800" rIns="50800" bIns="50800" rtlCol="0" anchor="ctr"/>
          <a:lstStyle/>
          <a:p>
            <a:pPr rtl="1" algn="r" indent="0" marL="0">
              <a:buNone/>
            </a:pPr>
            <a:r>
              <a:rPr lang="he-IL" altLang="en-US" sz="2600" b="1" dirty="0">
                <a:solidFill>
                  <a:schemeClr val="tx2"/>
                </a:solidFill>
                <a:latin typeface="Arial" pitchFamily="34" charset="0"/>
                <a:ea typeface="Arial" pitchFamily="34" charset="-122"/>
                <a:cs typeface="Arial" pitchFamily="34" charset="-120"/>
              </a:rPr>
              <a:t>ב. אפשור</a:t>
            </a:r>
            <a:endParaRPr lang="he-IL" sz="2600" dirty="0"/>
          </a:p>
        </p:txBody>
      </p:sp>
      <p:sp>
        <p:nvSpPr>
          <p:cNvPr id="12" name="Shape 8"/>
          <p:cNvSpPr/>
          <p:nvPr/>
        </p:nvSpPr>
        <p:spPr>
          <a:xfrm>
            <a:off x="551383" y="2560320"/>
            <a:ext cx="3383280" cy="1234440"/>
          </a:xfrm>
          <a:prstGeom prst="roundRect">
            <a:avLst>
              <a:gd name="adj" fmla="val 8889"/>
            </a:avLst>
          </a:prstGeom>
          <a:solidFill>
            <a:schemeClr val="bg1"/>
          </a:solidFill>
          <a:ln w="25400">
            <a:solidFill>
              <a:schemeClr val="accent4"/>
            </a:solidFill>
            <a:prstDash val="solid"/>
          </a:ln>
          <a:effectLst>
            <a:outerShdw sx="100000" sy="100000" kx="0" ky="0" algn="bl" rotWithShape="0" blurRad="101600" dist="25400" dir="5400000">
              <a:srgbClr val="0F4C5C">
                <a:alpha val="14000"/>
              </a:srgbClr>
            </a:outerShdw>
          </a:effectLst>
        </p:spPr>
      </p:sp>
      <p:sp>
        <p:nvSpPr>
          <p:cNvPr id="13" name="Shape 9"/>
          <p:cNvSpPr/>
          <p:nvPr/>
        </p:nvSpPr>
        <p:spPr>
          <a:xfrm>
            <a:off x="2974543" y="2807208"/>
            <a:ext cx="731520" cy="731520"/>
          </a:xfrm>
          <a:prstGeom prst="ellipse">
            <a:avLst/>
          </a:prstGeom>
          <a:solidFill>
            <a:schemeClr val="accent4"/>
          </a:solidFill>
          <a:ln w="12700">
            <a:solidFill>
              <a:schemeClr val="accent4"/>
            </a:solidFill>
            <a:prstDash val="solid"/>
          </a:ln>
        </p:spPr>
      </p:sp>
      <p:pic>
        <p:nvPicPr>
          <p:cNvPr id="14" name="Image 2" descr="preencoded.png">    </p:cNvPr>
          <p:cNvPicPr>
            <a:picLocks noChangeAspect="1"/>
          </p:cNvPicPr>
          <p:nvPr/>
        </p:nvPicPr>
        <p:blipFill>
          <a:blip r:embed="rId3"/>
          <a:stretch>
            <a:fillRect/>
          </a:stretch>
        </p:blipFill>
        <p:spPr>
          <a:xfrm>
            <a:off x="3164738" y="2997403"/>
            <a:ext cx="351130" cy="351130"/>
          </a:xfrm>
          <a:prstGeom prst="rect">
            <a:avLst/>
          </a:prstGeom>
        </p:spPr>
      </p:pic>
      <p:sp>
        <p:nvSpPr>
          <p:cNvPr id="15" name="Text 10"/>
          <p:cNvSpPr txBox="1"/>
          <p:nvPr/>
        </p:nvSpPr>
        <p:spPr>
          <a:xfrm>
            <a:off x="734263" y="2560320"/>
            <a:ext cx="2148840" cy="1234440"/>
          </a:xfrm>
          <a:prstGeom prst="rect">
            <a:avLst/>
          </a:prstGeom>
          <a:noFill/>
          <a:ln/>
        </p:spPr>
        <p:txBody>
          <a:bodyPr wrap="square" lIns="50800" tIns="50800" rIns="50800" bIns="50800" rtlCol="0" anchor="ctr"/>
          <a:lstStyle/>
          <a:p>
            <a:pPr rtl="1" algn="r" indent="0" marL="0">
              <a:buNone/>
            </a:pPr>
            <a:r>
              <a:rPr lang="he-IL" altLang="en-US" sz="2600" b="1" dirty="0">
                <a:solidFill>
                  <a:schemeClr val="tx2"/>
                </a:solidFill>
                <a:latin typeface="Arial" pitchFamily="34" charset="0"/>
                <a:ea typeface="Arial" pitchFamily="34" charset="-122"/>
                <a:cs typeface="Arial" pitchFamily="34" charset="-120"/>
              </a:rPr>
              <a:t>ג. תיווך</a:t>
            </a:r>
            <a:endParaRPr lang="he-IL" sz="2600" dirty="0"/>
          </a:p>
        </p:txBody>
      </p:sp>
      <p:sp>
        <p:nvSpPr>
          <p:cNvPr id="16" name="Shape 11"/>
          <p:cNvSpPr/>
          <p:nvPr/>
        </p:nvSpPr>
        <p:spPr>
          <a:xfrm>
            <a:off x="548640" y="4160520"/>
            <a:ext cx="11091672" cy="1828800"/>
          </a:xfrm>
          <a:prstGeom prst="roundRect">
            <a:avLst>
              <a:gd name="adj" fmla="val 7500"/>
            </a:avLst>
          </a:prstGeom>
          <a:solidFill>
            <a:schemeClr val="tx2"/>
          </a:solidFill>
          <a:ln/>
        </p:spPr>
      </p:sp>
      <p:sp>
        <p:nvSpPr>
          <p:cNvPr id="17" name="Shape 12"/>
          <p:cNvSpPr/>
          <p:nvPr/>
        </p:nvSpPr>
        <p:spPr>
          <a:xfrm>
            <a:off x="10607040" y="4434840"/>
            <a:ext cx="731520" cy="731520"/>
          </a:xfrm>
          <a:prstGeom prst="ellipse">
            <a:avLst/>
          </a:prstGeom>
          <a:solidFill>
            <a:schemeClr val="accent2"/>
          </a:solidFill>
          <a:ln w="12700">
            <a:solidFill>
              <a:schemeClr val="accent2"/>
            </a:solidFill>
            <a:prstDash val="solid"/>
          </a:ln>
        </p:spPr>
      </p:sp>
      <p:pic>
        <p:nvPicPr>
          <p:cNvPr id="18" name="Image 3" descr="preencoded.png">    </p:cNvPr>
          <p:cNvPicPr>
            <a:picLocks noChangeAspect="1"/>
          </p:cNvPicPr>
          <p:nvPr/>
        </p:nvPicPr>
        <p:blipFill>
          <a:blip r:embed="rId4"/>
          <a:stretch>
            <a:fillRect/>
          </a:stretch>
        </p:blipFill>
        <p:spPr>
          <a:xfrm>
            <a:off x="10797235" y="4625035"/>
            <a:ext cx="351130" cy="351130"/>
          </a:xfrm>
          <a:prstGeom prst="rect">
            <a:avLst/>
          </a:prstGeom>
        </p:spPr>
      </p:pic>
      <p:sp>
        <p:nvSpPr>
          <p:cNvPr id="19" name="Text 13"/>
          <p:cNvSpPr txBox="1"/>
          <p:nvPr/>
        </p:nvSpPr>
        <p:spPr>
          <a:xfrm>
            <a:off x="914400" y="4297680"/>
            <a:ext cx="9509760" cy="1554480"/>
          </a:xfrm>
          <a:prstGeom prst="rect">
            <a:avLst/>
          </a:prstGeom>
          <a:noFill/>
          <a:ln/>
        </p:spPr>
        <p:txBody>
          <a:bodyPr wrap="square" lIns="50800" tIns="50800" rIns="50800" bIns="50800" rtlCol="0" anchor="ctr"/>
          <a:lstStyle/>
          <a:p>
            <a:pPr rtl="1" algn="r" indent="0" marL="0">
              <a:lnSpc>
                <a:spcPct val="115000"/>
              </a:lnSpc>
              <a:buNone/>
            </a:pPr>
            <a:r>
              <a:rPr lang="he-IL" altLang="en-US" sz="2000" dirty="0">
                <a:solidFill>
                  <a:schemeClr val="bg1"/>
                </a:solidFill>
                <a:latin typeface="Arial" pitchFamily="34" charset="0"/>
                <a:ea typeface="Arial" pitchFamily="34" charset="-122"/>
                <a:cs typeface="Arial" pitchFamily="34" charset="-120"/>
              </a:rPr>
              <a:t>חמישה תחומי פעולה: מדיניות ציבורית בריאה, יצירת סביבות תומכות בריאות, חיזוק פעילות הקהילה, פיתוח מיומנויות אישיות, אוריינטציה מחדש של שרותי הבריאות</a:t>
            </a:r>
            <a:endParaRPr lang="he-IL" sz="20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accent1"/>
                </a:solidFill>
                <a:latin typeface="Arial" pitchFamily="34" charset="0"/>
                <a:ea typeface="Arial" pitchFamily="34" charset="-122"/>
                <a:cs typeface="Arial" pitchFamily="34" charset="-120"/>
              </a:rPr>
              <a:t>Advocate </a:t>
            </a:r>
            <a:pPr rtl="1" algn="r" indent="0" marL="0">
              <a:buNone/>
            </a:pPr>
            <a:r>
              <a:rPr lang="he-IL" altLang="en-US" sz="3000" b="1" dirty="0">
                <a:solidFill>
                  <a:schemeClr val="tx2"/>
                </a:solidFill>
                <a:latin typeface="Arial" pitchFamily="34" charset="0"/>
                <a:ea typeface="Arial" pitchFamily="34" charset="-122"/>
                <a:cs typeface="Arial" pitchFamily="34" charset="-120"/>
              </a:rPr>
              <a:t>סינגור בריאות</a:t>
            </a:r>
            <a:endParaRPr lang="he-IL" sz="3000" dirty="0"/>
          </a:p>
        </p:txBody>
      </p:sp>
      <p:sp>
        <p:nvSpPr>
          <p:cNvPr id="3" name="Shape 1"/>
          <p:cNvSpPr/>
          <p:nvPr/>
        </p:nvSpPr>
        <p:spPr>
          <a:xfrm>
            <a:off x="548640" y="1463040"/>
            <a:ext cx="3108960" cy="4663440"/>
          </a:xfrm>
          <a:prstGeom prst="roundRect">
            <a:avLst>
              <a:gd name="adj" fmla="val 4412"/>
            </a:avLst>
          </a:prstGeom>
          <a:solidFill>
            <a:schemeClr val="bg2"/>
          </a:solidFill>
          <a:ln/>
        </p:spPr>
      </p:sp>
      <p:sp>
        <p:nvSpPr>
          <p:cNvPr id="4" name="Shape 2"/>
          <p:cNvSpPr/>
          <p:nvPr/>
        </p:nvSpPr>
        <p:spPr>
          <a:xfrm>
            <a:off x="1188720" y="2377440"/>
            <a:ext cx="1828800" cy="18288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664208" y="2852928"/>
            <a:ext cx="877824" cy="877824"/>
          </a:xfrm>
          <a:prstGeom prst="rect">
            <a:avLst/>
          </a:prstGeom>
        </p:spPr>
      </p:pic>
      <p:sp>
        <p:nvSpPr>
          <p:cNvPr id="6" name="Text 3"/>
          <p:cNvSpPr txBox="1"/>
          <p:nvPr/>
        </p:nvSpPr>
        <p:spPr>
          <a:xfrm>
            <a:off x="548640" y="4434840"/>
            <a:ext cx="3108960" cy="640080"/>
          </a:xfrm>
          <a:prstGeom prst="rect">
            <a:avLst/>
          </a:prstGeom>
          <a:noFill/>
          <a:ln/>
        </p:spPr>
        <p:txBody>
          <a:bodyPr wrap="square" lIns="50800" tIns="50800" rIns="50800" bIns="50800" rtlCol="0" anchor="t"/>
          <a:lstStyle/>
          <a:p>
            <a:pPr rtl="1" algn="ctr" indent="0" marL="0">
              <a:buNone/>
            </a:pPr>
            <a:r>
              <a:rPr lang="en-US" altLang="en-US" sz="2800" b="1" dirty="0">
                <a:solidFill>
                  <a:schemeClr val="tx2"/>
                </a:solidFill>
                <a:latin typeface="Arial" pitchFamily="34" charset="0"/>
                <a:ea typeface="Arial" pitchFamily="34" charset="-122"/>
                <a:cs typeface="Arial" pitchFamily="34" charset="-120"/>
              </a:rPr>
              <a:t>Advocate</a:t>
            </a:r>
            <a:endParaRPr lang="en-US" sz="2800" dirty="0"/>
          </a:p>
        </p:txBody>
      </p:sp>
      <p:sp>
        <p:nvSpPr>
          <p:cNvPr id="7" name="Text 4"/>
          <p:cNvSpPr txBox="1"/>
          <p:nvPr/>
        </p:nvSpPr>
        <p:spPr>
          <a:xfrm>
            <a:off x="4114800" y="1554480"/>
            <a:ext cx="7525512" cy="4480560"/>
          </a:xfrm>
          <a:prstGeom prst="rect">
            <a:avLst/>
          </a:prstGeom>
          <a:noFill/>
          <a:ln/>
        </p:spPr>
        <p:txBody>
          <a:bodyPr wrap="square" lIns="50800" tIns="50800" rIns="50800" bIns="50800" rtlCol="0" anchor="ctr"/>
          <a:lstStyle/>
          <a:p>
            <a:pPr rtl="1" algn="r" indent="0" marL="0">
              <a:lnSpc>
                <a:spcPct val="110000"/>
              </a:lnSpc>
              <a:spcAft>
                <a:spcPts val="1400"/>
              </a:spcAft>
              <a:buNone/>
            </a:pPr>
            <a:r>
              <a:rPr lang="he-IL" altLang="en-US" sz="2400" b="1" dirty="0">
                <a:solidFill>
                  <a:schemeClr val="tx2"/>
                </a:solidFill>
                <a:latin typeface="Arial" pitchFamily="34" charset="0"/>
                <a:ea typeface="Arial" pitchFamily="34" charset="-122"/>
                <a:cs typeface="Arial" pitchFamily="34" charset="-120"/>
              </a:rPr>
              <a:t>ניסיון להשפיע על מקבלי החלטות</a:t>
            </a:r>
            <a:endParaRPr lang="he-IL" sz="2400" dirty="0"/>
          </a:p>
          <a:p>
            <a:pPr rtl="1" algn="r" indent="0" marL="0">
              <a:lnSpc>
                <a:spcPct val="110000"/>
              </a:lnSpc>
              <a:spcAft>
                <a:spcPts val="1400"/>
              </a:spcAft>
              <a:buNone/>
            </a:pPr>
            <a:r>
              <a:rPr lang="he-IL" altLang="en-US" sz="2400" dirty="0">
                <a:solidFill>
                  <a:schemeClr val="tx1"/>
                </a:solidFill>
                <a:latin typeface="Arial" pitchFamily="34" charset="0"/>
                <a:ea typeface="Arial" pitchFamily="34" charset="-122"/>
                <a:cs typeface="Arial" pitchFamily="34" charset="-120"/>
              </a:rPr>
              <a:t>שילוב של פעולות פרטניות וחברתיות המכוונות להשגת מחויבות פוליטית, תמיכה במדיניות, מקובלות חברתית ותמיכה של מערכות במטרה בריאותית או תכנית מסוימת.</a:t>
            </a:r>
            <a:endParaRPr lang="he-IL" sz="24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accent4"/>
                </a:solidFill>
                <a:latin typeface="Arial" pitchFamily="34" charset="0"/>
                <a:ea typeface="Arial" pitchFamily="34" charset="-122"/>
                <a:cs typeface="Arial" pitchFamily="34" charset="-120"/>
              </a:rPr>
              <a:t>Mediate </a:t>
            </a:r>
            <a:pPr rtl="1" algn="r" indent="0" marL="0">
              <a:buNone/>
            </a:pPr>
            <a:r>
              <a:rPr lang="he-IL" altLang="en-US" sz="3000" b="1" dirty="0">
                <a:solidFill>
                  <a:schemeClr val="tx2"/>
                </a:solidFill>
                <a:latin typeface="Arial" pitchFamily="34" charset="0"/>
                <a:ea typeface="Arial" pitchFamily="34" charset="-122"/>
                <a:cs typeface="Arial" pitchFamily="34" charset="-120"/>
              </a:rPr>
              <a:t>גישור</a:t>
            </a:r>
            <a:endParaRPr lang="he-IL" sz="3000" dirty="0"/>
          </a:p>
        </p:txBody>
      </p:sp>
      <p:sp>
        <p:nvSpPr>
          <p:cNvPr id="3" name="Shape 1"/>
          <p:cNvSpPr/>
          <p:nvPr/>
        </p:nvSpPr>
        <p:spPr>
          <a:xfrm>
            <a:off x="548640" y="1463040"/>
            <a:ext cx="3108960" cy="4663440"/>
          </a:xfrm>
          <a:prstGeom prst="roundRect">
            <a:avLst>
              <a:gd name="adj" fmla="val 4412"/>
            </a:avLst>
          </a:prstGeom>
          <a:solidFill>
            <a:schemeClr val="bg2"/>
          </a:solidFill>
          <a:ln/>
        </p:spPr>
      </p:sp>
      <p:sp>
        <p:nvSpPr>
          <p:cNvPr id="4" name="Shape 2"/>
          <p:cNvSpPr/>
          <p:nvPr/>
        </p:nvSpPr>
        <p:spPr>
          <a:xfrm>
            <a:off x="1188720" y="2377440"/>
            <a:ext cx="1828800" cy="1828800"/>
          </a:xfrm>
          <a:prstGeom prst="ellipse">
            <a:avLst/>
          </a:prstGeom>
          <a:solidFill>
            <a:schemeClr val="accent4"/>
          </a:solidFill>
          <a:ln w="12700">
            <a:solidFill>
              <a:schemeClr val="accent4"/>
            </a:solidFill>
            <a:prstDash val="solid"/>
          </a:ln>
        </p:spPr>
      </p:sp>
      <p:pic>
        <p:nvPicPr>
          <p:cNvPr id="5" name="Image 0" descr="preencoded.png">    </p:cNvPr>
          <p:cNvPicPr>
            <a:picLocks noChangeAspect="1"/>
          </p:cNvPicPr>
          <p:nvPr/>
        </p:nvPicPr>
        <p:blipFill>
          <a:blip r:embed="rId1"/>
          <a:stretch>
            <a:fillRect/>
          </a:stretch>
        </p:blipFill>
        <p:spPr>
          <a:xfrm>
            <a:off x="1664208" y="2852928"/>
            <a:ext cx="877824" cy="877824"/>
          </a:xfrm>
          <a:prstGeom prst="rect">
            <a:avLst/>
          </a:prstGeom>
        </p:spPr>
      </p:pic>
      <p:sp>
        <p:nvSpPr>
          <p:cNvPr id="6" name="Text 3"/>
          <p:cNvSpPr txBox="1"/>
          <p:nvPr/>
        </p:nvSpPr>
        <p:spPr>
          <a:xfrm>
            <a:off x="548640" y="4434840"/>
            <a:ext cx="3108960" cy="640080"/>
          </a:xfrm>
          <a:prstGeom prst="rect">
            <a:avLst/>
          </a:prstGeom>
          <a:noFill/>
          <a:ln/>
        </p:spPr>
        <p:txBody>
          <a:bodyPr wrap="square" lIns="50800" tIns="50800" rIns="50800" bIns="50800" rtlCol="0" anchor="t"/>
          <a:lstStyle/>
          <a:p>
            <a:pPr rtl="1" algn="ctr" indent="0" marL="0">
              <a:buNone/>
            </a:pPr>
            <a:r>
              <a:rPr lang="en-US" altLang="en-US" sz="2800" b="1" dirty="0">
                <a:solidFill>
                  <a:schemeClr val="tx2"/>
                </a:solidFill>
                <a:latin typeface="Arial" pitchFamily="34" charset="0"/>
                <a:ea typeface="Arial" pitchFamily="34" charset="-122"/>
                <a:cs typeface="Arial" pitchFamily="34" charset="-120"/>
              </a:rPr>
              <a:t>Mediate</a:t>
            </a:r>
            <a:endParaRPr lang="en-US" sz="2800" dirty="0"/>
          </a:p>
        </p:txBody>
      </p:sp>
      <p:sp>
        <p:nvSpPr>
          <p:cNvPr id="7" name="Text 4"/>
          <p:cNvSpPr txBox="1"/>
          <p:nvPr/>
        </p:nvSpPr>
        <p:spPr>
          <a:xfrm>
            <a:off x="4114800" y="1554480"/>
            <a:ext cx="7525512" cy="4480560"/>
          </a:xfrm>
          <a:prstGeom prst="rect">
            <a:avLst/>
          </a:prstGeom>
          <a:noFill/>
          <a:ln/>
        </p:spPr>
        <p:txBody>
          <a:bodyPr wrap="square" lIns="50800" tIns="50800" rIns="50800" bIns="50800" rtlCol="0" anchor="ctr"/>
          <a:lstStyle/>
          <a:p>
            <a:pPr rtl="1" algn="r" indent="0" marL="0">
              <a:lnSpc>
                <a:spcPct val="110000"/>
              </a:lnSpc>
              <a:spcAft>
                <a:spcPts val="1400"/>
              </a:spcAft>
              <a:buNone/>
            </a:pPr>
            <a:r>
              <a:rPr lang="he-IL" altLang="en-US" sz="2400" dirty="0">
                <a:solidFill>
                  <a:schemeClr val="tx1"/>
                </a:solidFill>
                <a:latin typeface="Arial" pitchFamily="34" charset="0"/>
                <a:ea typeface="Arial" pitchFamily="34" charset="-122"/>
                <a:cs typeface="Arial" pitchFamily="34" charset="-120"/>
              </a:rPr>
              <a:t>בין סקטורים שונים, מערכות וארגונים.</a:t>
            </a:r>
            <a:endParaRPr lang="he-IL" sz="2400" dirty="0"/>
          </a:p>
          <a:p>
            <a:pPr rtl="1" algn="r" indent="0" marL="0">
              <a:lnSpc>
                <a:spcPct val="110000"/>
              </a:lnSpc>
              <a:spcAft>
                <a:spcPts val="1400"/>
              </a:spcAft>
              <a:buNone/>
            </a:pPr>
            <a:r>
              <a:rPr lang="he-IL" altLang="en-US" sz="2400" b="1" dirty="0">
                <a:solidFill>
                  <a:schemeClr val="tx2"/>
                </a:solidFill>
                <a:latin typeface="Arial" pitchFamily="34" charset="0"/>
                <a:ea typeface="Arial" pitchFamily="34" charset="-122"/>
                <a:cs typeface="Arial" pitchFamily="34" charset="-120"/>
              </a:rPr>
              <a:t>יש לשתף את כל המגזרים בחברה וליצור שותפויות !</a:t>
            </a:r>
            <a:endParaRPr lang="he-IL" sz="2400" dirty="0"/>
          </a:p>
          <a:p>
            <a:pPr rtl="1" algn="r" indent="0" marL="0">
              <a:lnSpc>
                <a:spcPct val="110000"/>
              </a:lnSpc>
              <a:spcAft>
                <a:spcPts val="1400"/>
              </a:spcAft>
              <a:buNone/>
            </a:pPr>
            <a:r>
              <a:rPr lang="he-IL" altLang="en-US" sz="2400" dirty="0">
                <a:solidFill>
                  <a:schemeClr val="tx1"/>
                </a:solidFill>
                <a:latin typeface="Arial" pitchFamily="34" charset="0"/>
                <a:ea typeface="Arial" pitchFamily="34" charset="-122"/>
                <a:cs typeface="Arial" pitchFamily="34" charset="-120"/>
              </a:rPr>
              <a:t>עבודה עם גורמים בעלי ניגוד אינטרסים - מעוניינים שכולם יעבדו יחד על אף האינטרסים השונים</a:t>
            </a:r>
            <a:endParaRPr lang="he-IL" sz="24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accent3"/>
                </a:solidFill>
                <a:latin typeface="Arial" pitchFamily="34" charset="0"/>
                <a:ea typeface="Arial" pitchFamily="34" charset="-122"/>
                <a:cs typeface="Arial" pitchFamily="34" charset="-120"/>
              </a:rPr>
              <a:t>Enable </a:t>
            </a:r>
            <a:pPr rtl="1" algn="r" indent="0" marL="0">
              <a:buNone/>
            </a:pPr>
            <a:r>
              <a:rPr lang="he-IL" altLang="en-US" sz="3000" b="1" dirty="0">
                <a:solidFill>
                  <a:schemeClr val="tx2"/>
                </a:solidFill>
                <a:latin typeface="Arial" pitchFamily="34" charset="0"/>
                <a:ea typeface="Arial" pitchFamily="34" charset="-122"/>
                <a:cs typeface="Arial" pitchFamily="34" charset="-120"/>
              </a:rPr>
              <a:t>אפשור</a:t>
            </a:r>
            <a:endParaRPr lang="he-IL" sz="3000" dirty="0"/>
          </a:p>
        </p:txBody>
      </p:sp>
      <p:sp>
        <p:nvSpPr>
          <p:cNvPr id="3" name="Shape 1"/>
          <p:cNvSpPr/>
          <p:nvPr/>
        </p:nvSpPr>
        <p:spPr>
          <a:xfrm>
            <a:off x="548640" y="1463040"/>
            <a:ext cx="3108960" cy="4663440"/>
          </a:xfrm>
          <a:prstGeom prst="roundRect">
            <a:avLst>
              <a:gd name="adj" fmla="val 4412"/>
            </a:avLst>
          </a:prstGeom>
          <a:solidFill>
            <a:schemeClr val="bg2"/>
          </a:solidFill>
          <a:ln/>
        </p:spPr>
      </p:sp>
      <p:sp>
        <p:nvSpPr>
          <p:cNvPr id="4" name="Shape 2"/>
          <p:cNvSpPr/>
          <p:nvPr/>
        </p:nvSpPr>
        <p:spPr>
          <a:xfrm>
            <a:off x="1188720" y="2377440"/>
            <a:ext cx="1828800" cy="182880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1664208" y="2852928"/>
            <a:ext cx="877824" cy="877824"/>
          </a:xfrm>
          <a:prstGeom prst="rect">
            <a:avLst/>
          </a:prstGeom>
        </p:spPr>
      </p:pic>
      <p:sp>
        <p:nvSpPr>
          <p:cNvPr id="6" name="Text 3"/>
          <p:cNvSpPr txBox="1"/>
          <p:nvPr/>
        </p:nvSpPr>
        <p:spPr>
          <a:xfrm>
            <a:off x="548640" y="4434840"/>
            <a:ext cx="3108960" cy="640080"/>
          </a:xfrm>
          <a:prstGeom prst="rect">
            <a:avLst/>
          </a:prstGeom>
          <a:noFill/>
          <a:ln/>
        </p:spPr>
        <p:txBody>
          <a:bodyPr wrap="square" lIns="50800" tIns="50800" rIns="50800" bIns="50800" rtlCol="0" anchor="t"/>
          <a:lstStyle/>
          <a:p>
            <a:pPr rtl="1" algn="ctr" indent="0" marL="0">
              <a:buNone/>
            </a:pPr>
            <a:r>
              <a:rPr lang="en-US" altLang="en-US" sz="2800" b="1" dirty="0">
                <a:solidFill>
                  <a:schemeClr val="tx2"/>
                </a:solidFill>
                <a:latin typeface="Arial" pitchFamily="34" charset="0"/>
                <a:ea typeface="Arial" pitchFamily="34" charset="-122"/>
                <a:cs typeface="Arial" pitchFamily="34" charset="-120"/>
              </a:rPr>
              <a:t>Enable</a:t>
            </a:r>
            <a:endParaRPr lang="en-US" sz="2800" dirty="0"/>
          </a:p>
        </p:txBody>
      </p:sp>
      <p:sp>
        <p:nvSpPr>
          <p:cNvPr id="7" name="Text 4"/>
          <p:cNvSpPr txBox="1"/>
          <p:nvPr/>
        </p:nvSpPr>
        <p:spPr>
          <a:xfrm>
            <a:off x="4114800" y="1554480"/>
            <a:ext cx="7525512" cy="4480560"/>
          </a:xfrm>
          <a:prstGeom prst="rect">
            <a:avLst/>
          </a:prstGeom>
          <a:noFill/>
          <a:ln/>
        </p:spPr>
        <p:txBody>
          <a:bodyPr wrap="square" lIns="50800" tIns="50800" rIns="50800" bIns="50800" rtlCol="0" anchor="ctr"/>
          <a:lstStyle/>
          <a:p>
            <a:pPr rtl="1" algn="r" indent="0" marL="0">
              <a:lnSpc>
                <a:spcPct val="110000"/>
              </a:lnSpc>
              <a:spcAft>
                <a:spcPts val="1400"/>
              </a:spcAft>
              <a:buNone/>
            </a:pPr>
            <a:r>
              <a:rPr lang="he-IL" altLang="en-US" sz="2400" b="1" dirty="0">
                <a:solidFill>
                  <a:schemeClr val="tx2"/>
                </a:solidFill>
                <a:latin typeface="Arial" pitchFamily="34" charset="0"/>
                <a:ea typeface="Arial" pitchFamily="34" charset="-122"/>
                <a:cs typeface="Arial" pitchFamily="34" charset="-120"/>
              </a:rPr>
              <a:t>יצירת תנאים המאפשרים לאנשים לבחור בהתנהגות הבריאה ולממש את פוטנציאל הבריאות האישי</a:t>
            </a:r>
            <a:endParaRPr lang="he-IL" sz="2400" dirty="0"/>
          </a:p>
          <a:p>
            <a:pPr rtl="1" algn="r" indent="0" marL="0">
              <a:lnSpc>
                <a:spcPct val="110000"/>
              </a:lnSpc>
              <a:spcAft>
                <a:spcPts val="1400"/>
              </a:spcAft>
              <a:buNone/>
            </a:pPr>
            <a:r>
              <a:rPr lang="he-IL" altLang="en-US" sz="2400" dirty="0">
                <a:solidFill>
                  <a:schemeClr val="tx1"/>
                </a:solidFill>
                <a:latin typeface="Arial" pitchFamily="34" charset="0"/>
                <a:ea typeface="Arial" pitchFamily="34" charset="-122"/>
                <a:cs typeface="Arial" pitchFamily="34" charset="-120"/>
              </a:rPr>
              <a:t>דוגמה: לאפשר לרכוש מזון בריא באמצעות הוזלת העלויות</a:t>
            </a:r>
            <a:endParaRPr lang="he-IL" sz="2400" dirty="0"/>
          </a:p>
          <a:p>
            <a:pPr rtl="1" algn="r" indent="0" marL="0">
              <a:lnSpc>
                <a:spcPct val="110000"/>
              </a:lnSpc>
              <a:spcAft>
                <a:spcPts val="1400"/>
              </a:spcAft>
              <a:buNone/>
            </a:pPr>
            <a:r>
              <a:rPr lang="he-IL" altLang="en-US" sz="2400" dirty="0">
                <a:solidFill>
                  <a:schemeClr val="tx1"/>
                </a:solidFill>
                <a:latin typeface="Arial" pitchFamily="34" charset="0"/>
                <a:ea typeface="Arial" pitchFamily="34" charset="-122"/>
                <a:cs typeface="Arial" pitchFamily="34" charset="-120"/>
              </a:rPr>
              <a:t>סביבה תומכת, נגישות למידע, כישורי חיים והזדמנויות לבצע בחירות בריאות</a:t>
            </a:r>
            <a:endParaRPr lang="he-IL" sz="24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חמשת תחומי הפעולה:</a:t>
            </a:r>
            <a:endParaRPr lang="he-IL" sz="3000" dirty="0"/>
          </a:p>
        </p:txBody>
      </p:sp>
      <p:sp>
        <p:nvSpPr>
          <p:cNvPr id="3" name="Text 1"/>
          <p:cNvSpPr/>
          <p:nvPr/>
        </p:nvSpPr>
        <p:spPr>
          <a:xfrm>
            <a:off x="4206240" y="566928"/>
            <a:ext cx="438912" cy="438912"/>
          </a:xfrm>
          <a:prstGeom prst="ellipse">
            <a:avLst/>
          </a:prstGeom>
          <a:solidFill>
            <a:schemeClr val="accent1"/>
          </a:solidFill>
          <a:ln>
            <a:solidFill>
              <a:schemeClr val="accent1"/>
            </a:solidFill>
          </a:ln>
        </p:spPr>
        <p:txBody>
          <a:bodyPr wrap="square" lIns="0" tIns="0" rIns="0" bIns="0" rtlCol="0" anchor="ctr"/>
          <a:lstStyle/>
          <a:p>
            <a:pPr rtl="1"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4" name="Text 2"/>
          <p:cNvSpPr/>
          <p:nvPr/>
        </p:nvSpPr>
        <p:spPr>
          <a:xfrm>
            <a:off x="3639312"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5" name="Text 3"/>
          <p:cNvSpPr/>
          <p:nvPr/>
        </p:nvSpPr>
        <p:spPr>
          <a:xfrm>
            <a:off x="3072384"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6" name="Text 4"/>
          <p:cNvSpPr/>
          <p:nvPr/>
        </p:nvSpPr>
        <p:spPr>
          <a:xfrm>
            <a:off x="2505456"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7" name="Text 5"/>
          <p:cNvSpPr/>
          <p:nvPr/>
        </p:nvSpPr>
        <p:spPr>
          <a:xfrm>
            <a:off x="1938528"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8" name="Shape 6"/>
          <p:cNvSpPr/>
          <p:nvPr/>
        </p:nvSpPr>
        <p:spPr>
          <a:xfrm>
            <a:off x="548640" y="1417320"/>
            <a:ext cx="11091672" cy="960120"/>
          </a:xfrm>
          <a:prstGeom prst="roundRect">
            <a:avLst>
              <a:gd name="adj" fmla="val 14286"/>
            </a:avLst>
          </a:prstGeom>
          <a:solidFill>
            <a:schemeClr val="accent1"/>
          </a:solidFill>
          <a:ln/>
        </p:spPr>
      </p:sp>
      <p:sp>
        <p:nvSpPr>
          <p:cNvPr id="9" name="Shape 7"/>
          <p:cNvSpPr/>
          <p:nvPr/>
        </p:nvSpPr>
        <p:spPr>
          <a:xfrm>
            <a:off x="10744200" y="1527048"/>
            <a:ext cx="731520" cy="731520"/>
          </a:xfrm>
          <a:prstGeom prst="ellipse">
            <a:avLst/>
          </a:prstGeom>
          <a:solidFill>
            <a:schemeClr val="bg1"/>
          </a:solidFill>
          <a:ln w="12700">
            <a:solidFill>
              <a:schemeClr val="bg1"/>
            </a:solidFill>
            <a:prstDash val="solid"/>
          </a:ln>
        </p:spPr>
      </p:sp>
      <p:pic>
        <p:nvPicPr>
          <p:cNvPr id="10" name="Image 0" descr="preencoded.png">    </p:cNvPr>
          <p:cNvPicPr>
            <a:picLocks noChangeAspect="1"/>
          </p:cNvPicPr>
          <p:nvPr/>
        </p:nvPicPr>
        <p:blipFill>
          <a:blip r:embed="rId1"/>
          <a:stretch>
            <a:fillRect/>
          </a:stretch>
        </p:blipFill>
        <p:spPr>
          <a:xfrm>
            <a:off x="10934395" y="1717243"/>
            <a:ext cx="351130" cy="351130"/>
          </a:xfrm>
          <a:prstGeom prst="rect">
            <a:avLst/>
          </a:prstGeom>
        </p:spPr>
      </p:pic>
      <p:sp>
        <p:nvSpPr>
          <p:cNvPr id="11" name="Text 8"/>
          <p:cNvSpPr txBox="1"/>
          <p:nvPr/>
        </p:nvSpPr>
        <p:spPr>
          <a:xfrm>
            <a:off x="822960" y="1417320"/>
            <a:ext cx="9692640" cy="960120"/>
          </a:xfrm>
          <a:prstGeom prst="rect">
            <a:avLst/>
          </a:prstGeom>
          <a:noFill/>
          <a:ln/>
        </p:spPr>
        <p:txBody>
          <a:bodyPr wrap="square" lIns="50800" tIns="50800" rIns="50800" bIns="50800" rtlCol="0" anchor="ctr"/>
          <a:lstStyle/>
          <a:p>
            <a:pPr rtl="1" algn="r" indent="0" marL="0">
              <a:buNone/>
            </a:pPr>
            <a:r>
              <a:rPr lang="he-IL" altLang="en-US" sz="2800" b="1" dirty="0">
                <a:solidFill>
                  <a:schemeClr val="bg1"/>
                </a:solidFill>
                <a:latin typeface="Arial" pitchFamily="34" charset="0"/>
                <a:ea typeface="Arial" pitchFamily="34" charset="-122"/>
                <a:cs typeface="Arial" pitchFamily="34" charset="-120"/>
              </a:rPr>
              <a:t>פיתוח מדיניות ציבורית בריאה</a:t>
            </a:r>
            <a:endParaRPr lang="he-IL" sz="2800" dirty="0"/>
          </a:p>
        </p:txBody>
      </p:sp>
      <p:sp>
        <p:nvSpPr>
          <p:cNvPr id="12" name="Text 9"/>
          <p:cNvSpPr txBox="1"/>
          <p:nvPr/>
        </p:nvSpPr>
        <p:spPr>
          <a:xfrm>
            <a:off x="1371600" y="2834640"/>
            <a:ext cx="10268712" cy="2560320"/>
          </a:xfrm>
          <a:prstGeom prst="rect">
            <a:avLst/>
          </a:prstGeom>
          <a:noFill/>
          <a:ln/>
        </p:spPr>
        <p:txBody>
          <a:bodyPr wrap="square" lIns="50800" tIns="50800" rIns="50800" bIns="50800" rtlCol="0" anchor="ctr"/>
          <a:lstStyle/>
          <a:p>
            <a:pPr rtl="1" algn="r" indent="0" marL="0">
              <a:lnSpc>
                <a:spcPct val="120000"/>
              </a:lnSpc>
              <a:buNone/>
            </a:pPr>
            <a:r>
              <a:rPr lang="he-IL" altLang="en-US" sz="2800" dirty="0">
                <a:solidFill>
                  <a:schemeClr val="tx1"/>
                </a:solidFill>
                <a:latin typeface="Arial" pitchFamily="34" charset="0"/>
                <a:ea typeface="Arial" pitchFamily="34" charset="-122"/>
                <a:cs typeface="Arial" pitchFamily="34" charset="-120"/>
              </a:rPr>
              <a:t>פעילות של מתווי המדיניות לקבלת אחריות לבריאות הציבור, על ידי חקיקה, הקצאת משאבים כספיים, גיבוש מדיניות מס ושינוי ארגוני.</a:t>
            </a:r>
            <a:endParaRPr lang="he-IL" sz="2800" dirty="0"/>
          </a:p>
        </p:txBody>
      </p:sp>
      <p:sp>
        <p:nvSpPr>
          <p:cNvPr id="13" name="Shape 10"/>
          <p:cNvSpPr/>
          <p:nvPr/>
        </p:nvSpPr>
        <p:spPr>
          <a:xfrm>
            <a:off x="548640" y="3520440"/>
            <a:ext cx="1097280" cy="1097280"/>
          </a:xfrm>
          <a:prstGeom prst="ellipse">
            <a:avLst/>
          </a:prstGeom>
          <a:solidFill>
            <a:schemeClr val="bg2"/>
          </a:solidFill>
          <a:ln w="12700">
            <a:solidFill>
              <a:schemeClr val="bg2"/>
            </a:solidFill>
            <a:prstDash val="solid"/>
          </a:ln>
        </p:spPr>
      </p:sp>
      <p:pic>
        <p:nvPicPr>
          <p:cNvPr id="14" name="Image 1" descr="preencoded.png">    </p:cNvPr>
          <p:cNvPicPr>
            <a:picLocks noChangeAspect="1"/>
          </p:cNvPicPr>
          <p:nvPr/>
        </p:nvPicPr>
        <p:blipFill>
          <a:blip r:embed="rId2"/>
          <a:stretch>
            <a:fillRect/>
          </a:stretch>
        </p:blipFill>
        <p:spPr>
          <a:xfrm>
            <a:off x="833933" y="3805733"/>
            <a:ext cx="526694" cy="526694"/>
          </a:xfrm>
          <a:prstGeom prst="rect">
            <a:avLst/>
          </a:prstGeom>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חמשת תחומי הפעולה:</a:t>
            </a:r>
            <a:endParaRPr lang="he-IL" sz="3000" dirty="0"/>
          </a:p>
        </p:txBody>
      </p:sp>
      <p:sp>
        <p:nvSpPr>
          <p:cNvPr id="3" name="Text 1"/>
          <p:cNvSpPr/>
          <p:nvPr/>
        </p:nvSpPr>
        <p:spPr>
          <a:xfrm>
            <a:off x="4206240"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4" name="Text 2"/>
          <p:cNvSpPr/>
          <p:nvPr/>
        </p:nvSpPr>
        <p:spPr>
          <a:xfrm>
            <a:off x="3639312" y="566928"/>
            <a:ext cx="438912" cy="438912"/>
          </a:xfrm>
          <a:prstGeom prst="ellipse">
            <a:avLst/>
          </a:prstGeom>
          <a:solidFill>
            <a:schemeClr val="accent2"/>
          </a:solidFill>
          <a:ln>
            <a:solidFill>
              <a:schemeClr val="accent2"/>
            </a:solidFill>
          </a:ln>
        </p:spPr>
        <p:txBody>
          <a:bodyPr wrap="square" lIns="0" tIns="0" rIns="0" bIns="0" rtlCol="0" anchor="ctr"/>
          <a:lstStyle/>
          <a:p>
            <a:pPr rtl="1"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5" name="Text 3"/>
          <p:cNvSpPr/>
          <p:nvPr/>
        </p:nvSpPr>
        <p:spPr>
          <a:xfrm>
            <a:off x="3072384"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6" name="Text 4"/>
          <p:cNvSpPr/>
          <p:nvPr/>
        </p:nvSpPr>
        <p:spPr>
          <a:xfrm>
            <a:off x="2505456"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7" name="Text 5"/>
          <p:cNvSpPr/>
          <p:nvPr/>
        </p:nvSpPr>
        <p:spPr>
          <a:xfrm>
            <a:off x="1938528"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8" name="Shape 6"/>
          <p:cNvSpPr/>
          <p:nvPr/>
        </p:nvSpPr>
        <p:spPr>
          <a:xfrm>
            <a:off x="548640" y="1417320"/>
            <a:ext cx="11091672" cy="960120"/>
          </a:xfrm>
          <a:prstGeom prst="roundRect">
            <a:avLst>
              <a:gd name="adj" fmla="val 14286"/>
            </a:avLst>
          </a:prstGeom>
          <a:solidFill>
            <a:schemeClr val="accent2"/>
          </a:solidFill>
          <a:ln/>
        </p:spPr>
      </p:sp>
      <p:sp>
        <p:nvSpPr>
          <p:cNvPr id="9" name="Shape 7"/>
          <p:cNvSpPr/>
          <p:nvPr/>
        </p:nvSpPr>
        <p:spPr>
          <a:xfrm>
            <a:off x="10744200" y="1527048"/>
            <a:ext cx="731520" cy="731520"/>
          </a:xfrm>
          <a:prstGeom prst="ellipse">
            <a:avLst/>
          </a:prstGeom>
          <a:solidFill>
            <a:schemeClr val="bg1"/>
          </a:solidFill>
          <a:ln w="12700">
            <a:solidFill>
              <a:schemeClr val="bg1"/>
            </a:solidFill>
            <a:prstDash val="solid"/>
          </a:ln>
        </p:spPr>
      </p:sp>
      <p:pic>
        <p:nvPicPr>
          <p:cNvPr id="10" name="Image 0" descr="preencoded.png">    </p:cNvPr>
          <p:cNvPicPr>
            <a:picLocks noChangeAspect="1"/>
          </p:cNvPicPr>
          <p:nvPr/>
        </p:nvPicPr>
        <p:blipFill>
          <a:blip r:embed="rId1"/>
          <a:stretch>
            <a:fillRect/>
          </a:stretch>
        </p:blipFill>
        <p:spPr>
          <a:xfrm>
            <a:off x="10934395" y="1717243"/>
            <a:ext cx="351130" cy="351130"/>
          </a:xfrm>
          <a:prstGeom prst="rect">
            <a:avLst/>
          </a:prstGeom>
        </p:spPr>
      </p:pic>
      <p:sp>
        <p:nvSpPr>
          <p:cNvPr id="11" name="Text 8"/>
          <p:cNvSpPr txBox="1"/>
          <p:nvPr/>
        </p:nvSpPr>
        <p:spPr>
          <a:xfrm>
            <a:off x="822960" y="1417320"/>
            <a:ext cx="9692640" cy="960120"/>
          </a:xfrm>
          <a:prstGeom prst="rect">
            <a:avLst/>
          </a:prstGeom>
          <a:noFill/>
          <a:ln/>
        </p:spPr>
        <p:txBody>
          <a:bodyPr wrap="square" lIns="50800" tIns="50800" rIns="50800" bIns="50800" rtlCol="0" anchor="ctr"/>
          <a:lstStyle/>
          <a:p>
            <a:pPr rtl="1" algn="r" indent="0" marL="0">
              <a:buNone/>
            </a:pPr>
            <a:r>
              <a:rPr lang="he-IL" altLang="en-US" sz="2800" b="1" dirty="0">
                <a:solidFill>
                  <a:schemeClr val="bg1"/>
                </a:solidFill>
                <a:latin typeface="Arial" pitchFamily="34" charset="0"/>
                <a:ea typeface="Arial" pitchFamily="34" charset="-122"/>
                <a:cs typeface="Arial" pitchFamily="34" charset="-120"/>
              </a:rPr>
              <a:t>יצירת סביבות תומכות בריאות</a:t>
            </a:r>
            <a:endParaRPr lang="he-IL" sz="2800" dirty="0"/>
          </a:p>
        </p:txBody>
      </p:sp>
      <p:sp>
        <p:nvSpPr>
          <p:cNvPr id="12" name="Text 9"/>
          <p:cNvSpPr/>
          <p:nvPr/>
        </p:nvSpPr>
        <p:spPr>
          <a:xfrm>
            <a:off x="8897112" y="2606040"/>
            <a:ext cx="2743200" cy="548640"/>
          </a:xfrm>
          <a:prstGeom prst="roundRect">
            <a:avLst>
              <a:gd name="adj" fmla="val 33333"/>
            </a:avLst>
          </a:prstGeom>
          <a:solidFill>
            <a:schemeClr val="accent1"/>
          </a:solidFill>
          <a:ln/>
        </p:spPr>
        <p:txBody>
          <a:bodyPr wrap="square" lIns="0" tIns="0" rIns="0" bIns="0" rtlCol="0" anchor="ctr"/>
          <a:lstStyle/>
          <a:p>
            <a:pPr rtl="1" algn="ctr" indent="0" marL="0">
              <a:buNone/>
            </a:pPr>
            <a:r>
              <a:rPr lang="he-IL" altLang="en-US" sz="2000" b="1" dirty="0">
                <a:solidFill>
                  <a:schemeClr val="bg1"/>
                </a:solidFill>
                <a:latin typeface="Arial" pitchFamily="34" charset="0"/>
                <a:ea typeface="Arial" pitchFamily="34" charset="-122"/>
                <a:cs typeface="Arial" pitchFamily="34" charset="-120"/>
              </a:rPr>
              <a:t>פיזית וחברתית</a:t>
            </a:r>
            <a:endParaRPr lang="he-IL" sz="2000" dirty="0"/>
          </a:p>
        </p:txBody>
      </p:sp>
      <p:sp>
        <p:nvSpPr>
          <p:cNvPr id="13" name="Text 10"/>
          <p:cNvSpPr txBox="1"/>
          <p:nvPr/>
        </p:nvSpPr>
        <p:spPr>
          <a:xfrm>
            <a:off x="548640" y="3337560"/>
            <a:ext cx="11091672" cy="457200"/>
          </a:xfrm>
          <a:prstGeom prst="rect">
            <a:avLst/>
          </a:prstGeom>
          <a:noFill/>
          <a:ln/>
        </p:spPr>
        <p:txBody>
          <a:bodyPr wrap="square" lIns="50800" tIns="50800" rIns="50800" bIns="50800" rtlCol="0" anchor="t"/>
          <a:lstStyle/>
          <a:p>
            <a:pPr rtl="1" algn="r" indent="0" marL="0">
              <a:buNone/>
            </a:pPr>
            <a:r>
              <a:rPr lang="he-IL" altLang="en-US" sz="2200" b="1" dirty="0">
                <a:solidFill>
                  <a:schemeClr val="tx2"/>
                </a:solidFill>
                <a:latin typeface="Arial" pitchFamily="34" charset="0"/>
                <a:ea typeface="Arial" pitchFamily="34" charset="-122"/>
                <a:cs typeface="Arial" pitchFamily="34" charset="-120"/>
              </a:rPr>
              <a:t>דוגמאות:</a:t>
            </a:r>
            <a:endParaRPr lang="he-IL" sz="2200" dirty="0"/>
          </a:p>
        </p:txBody>
      </p:sp>
      <p:sp>
        <p:nvSpPr>
          <p:cNvPr id="14" name="Shape 11"/>
          <p:cNvSpPr/>
          <p:nvPr/>
        </p:nvSpPr>
        <p:spPr>
          <a:xfrm>
            <a:off x="9037015" y="3931920"/>
            <a:ext cx="2606040" cy="2011680"/>
          </a:xfrm>
          <a:prstGeom prst="roundRect">
            <a:avLst>
              <a:gd name="adj" fmla="val 5455"/>
            </a:avLst>
          </a:prstGeom>
          <a:solidFill>
            <a:schemeClr val="bg2"/>
          </a:solidFill>
          <a:ln w="12700">
            <a:solidFill>
              <a:schemeClr val="bg2"/>
            </a:solidFill>
            <a:prstDash val="solid"/>
          </a:ln>
        </p:spPr>
      </p:sp>
      <p:sp>
        <p:nvSpPr>
          <p:cNvPr id="15" name="Shape 12"/>
          <p:cNvSpPr/>
          <p:nvPr/>
        </p:nvSpPr>
        <p:spPr>
          <a:xfrm>
            <a:off x="9974275" y="4160520"/>
            <a:ext cx="731520" cy="731520"/>
          </a:xfrm>
          <a:prstGeom prst="ellipse">
            <a:avLst/>
          </a:prstGeom>
          <a:solidFill>
            <a:schemeClr val="accent2"/>
          </a:solidFill>
          <a:ln w="12700">
            <a:solidFill>
              <a:schemeClr val="accent2"/>
            </a:solidFill>
            <a:prstDash val="solid"/>
          </a:ln>
        </p:spPr>
      </p:sp>
      <p:pic>
        <p:nvPicPr>
          <p:cNvPr id="16" name="Image 1" descr="preencoded.png">    </p:cNvPr>
          <p:cNvPicPr>
            <a:picLocks noChangeAspect="1"/>
          </p:cNvPicPr>
          <p:nvPr/>
        </p:nvPicPr>
        <p:blipFill>
          <a:blip r:embed="rId2"/>
          <a:stretch>
            <a:fillRect/>
          </a:stretch>
        </p:blipFill>
        <p:spPr>
          <a:xfrm>
            <a:off x="10164470" y="4350715"/>
            <a:ext cx="351130" cy="351130"/>
          </a:xfrm>
          <a:prstGeom prst="rect">
            <a:avLst/>
          </a:prstGeom>
        </p:spPr>
      </p:pic>
      <p:sp>
        <p:nvSpPr>
          <p:cNvPr id="17" name="Text 13"/>
          <p:cNvSpPr txBox="1"/>
          <p:nvPr/>
        </p:nvSpPr>
        <p:spPr>
          <a:xfrm>
            <a:off x="9128455" y="4983480"/>
            <a:ext cx="2423160" cy="822960"/>
          </a:xfrm>
          <a:prstGeom prst="rect">
            <a:avLst/>
          </a:prstGeom>
          <a:noFill/>
          <a:ln/>
        </p:spPr>
        <p:txBody>
          <a:bodyPr wrap="square" lIns="50800" tIns="50800" rIns="50800" bIns="50800" rtlCol="0" anchor="ctr"/>
          <a:lstStyle/>
          <a:p>
            <a:pPr rtl="1" algn="ctr" indent="0" marL="0">
              <a:buNone/>
            </a:pPr>
            <a:r>
              <a:rPr lang="he-IL" altLang="en-US" sz="1800" b="1" dirty="0">
                <a:solidFill>
                  <a:schemeClr val="tx1"/>
                </a:solidFill>
                <a:latin typeface="Arial" pitchFamily="34" charset="0"/>
                <a:ea typeface="Arial" pitchFamily="34" charset="-122"/>
                <a:cs typeface="Arial" pitchFamily="34" charset="-120"/>
              </a:rPr>
              <a:t>שבילי אופנייםuachkh vkhfv</a:t>
            </a:r>
            <a:endParaRPr lang="he-IL" sz="1800" dirty="0"/>
          </a:p>
        </p:txBody>
      </p:sp>
      <p:sp>
        <p:nvSpPr>
          <p:cNvPr id="18" name="Shape 14"/>
          <p:cNvSpPr/>
          <p:nvPr/>
        </p:nvSpPr>
        <p:spPr>
          <a:xfrm>
            <a:off x="6208776" y="3931920"/>
            <a:ext cx="2606040" cy="2011680"/>
          </a:xfrm>
          <a:prstGeom prst="roundRect">
            <a:avLst>
              <a:gd name="adj" fmla="val 5455"/>
            </a:avLst>
          </a:prstGeom>
          <a:solidFill>
            <a:schemeClr val="bg2"/>
          </a:solidFill>
          <a:ln w="12700">
            <a:solidFill>
              <a:schemeClr val="bg2"/>
            </a:solidFill>
            <a:prstDash val="solid"/>
          </a:ln>
        </p:spPr>
      </p:sp>
      <p:sp>
        <p:nvSpPr>
          <p:cNvPr id="19" name="Shape 15"/>
          <p:cNvSpPr/>
          <p:nvPr/>
        </p:nvSpPr>
        <p:spPr>
          <a:xfrm>
            <a:off x="7146036" y="4160520"/>
            <a:ext cx="731520" cy="731520"/>
          </a:xfrm>
          <a:prstGeom prst="ellipse">
            <a:avLst/>
          </a:prstGeom>
          <a:solidFill>
            <a:schemeClr val="accent2"/>
          </a:solidFill>
          <a:ln w="12700">
            <a:solidFill>
              <a:schemeClr val="accent2"/>
            </a:solidFill>
            <a:prstDash val="solid"/>
          </a:ln>
        </p:spPr>
      </p:sp>
      <p:pic>
        <p:nvPicPr>
          <p:cNvPr id="20" name="Image 2" descr="preencoded.png">    </p:cNvPr>
          <p:cNvPicPr>
            <a:picLocks noChangeAspect="1"/>
          </p:cNvPicPr>
          <p:nvPr/>
        </p:nvPicPr>
        <p:blipFill>
          <a:blip r:embed="rId3"/>
          <a:stretch>
            <a:fillRect/>
          </a:stretch>
        </p:blipFill>
        <p:spPr>
          <a:xfrm>
            <a:off x="7336231" y="4350715"/>
            <a:ext cx="351130" cy="351130"/>
          </a:xfrm>
          <a:prstGeom prst="rect">
            <a:avLst/>
          </a:prstGeom>
        </p:spPr>
      </p:pic>
      <p:sp>
        <p:nvSpPr>
          <p:cNvPr id="21" name="Text 16"/>
          <p:cNvSpPr txBox="1"/>
          <p:nvPr/>
        </p:nvSpPr>
        <p:spPr>
          <a:xfrm>
            <a:off x="6300216" y="4983480"/>
            <a:ext cx="2423160" cy="822960"/>
          </a:xfrm>
          <a:prstGeom prst="rect">
            <a:avLst/>
          </a:prstGeom>
          <a:noFill/>
          <a:ln/>
        </p:spPr>
        <p:txBody>
          <a:bodyPr wrap="square" lIns="50800" tIns="50800" rIns="50800" bIns="50800" rtlCol="0" anchor="ctr"/>
          <a:lstStyle/>
          <a:p>
            <a:pPr rtl="1" algn="ctr" indent="0" marL="0">
              <a:buNone/>
            </a:pPr>
            <a:r>
              <a:rPr lang="he-IL" altLang="en-US" sz="1800" b="1" dirty="0">
                <a:solidFill>
                  <a:schemeClr val="tx1"/>
                </a:solidFill>
                <a:latin typeface="Arial" pitchFamily="34" charset="0"/>
                <a:ea typeface="Arial" pitchFamily="34" charset="-122"/>
                <a:cs typeface="Arial" pitchFamily="34" charset="-120"/>
              </a:rPr>
              <a:t>מתקני כושר ציבוריים</a:t>
            </a:r>
            <a:endParaRPr lang="he-IL" sz="1800" dirty="0"/>
          </a:p>
        </p:txBody>
      </p:sp>
      <p:sp>
        <p:nvSpPr>
          <p:cNvPr id="22" name="Shape 17"/>
          <p:cNvSpPr/>
          <p:nvPr/>
        </p:nvSpPr>
        <p:spPr>
          <a:xfrm>
            <a:off x="3380537" y="3931920"/>
            <a:ext cx="2606040" cy="2011680"/>
          </a:xfrm>
          <a:prstGeom prst="roundRect">
            <a:avLst>
              <a:gd name="adj" fmla="val 5455"/>
            </a:avLst>
          </a:prstGeom>
          <a:solidFill>
            <a:schemeClr val="bg2"/>
          </a:solidFill>
          <a:ln w="12700">
            <a:solidFill>
              <a:schemeClr val="bg2"/>
            </a:solidFill>
            <a:prstDash val="solid"/>
          </a:ln>
        </p:spPr>
      </p:sp>
      <p:sp>
        <p:nvSpPr>
          <p:cNvPr id="23" name="Shape 18"/>
          <p:cNvSpPr/>
          <p:nvPr/>
        </p:nvSpPr>
        <p:spPr>
          <a:xfrm>
            <a:off x="4317797" y="4160520"/>
            <a:ext cx="731520" cy="731520"/>
          </a:xfrm>
          <a:prstGeom prst="ellipse">
            <a:avLst/>
          </a:prstGeom>
          <a:solidFill>
            <a:schemeClr val="accent2"/>
          </a:solidFill>
          <a:ln w="12700">
            <a:solidFill>
              <a:schemeClr val="accent2"/>
            </a:solidFill>
            <a:prstDash val="solid"/>
          </a:ln>
        </p:spPr>
      </p:sp>
      <p:pic>
        <p:nvPicPr>
          <p:cNvPr id="24" name="Image 3" descr="preencoded.png">    </p:cNvPr>
          <p:cNvPicPr>
            <a:picLocks noChangeAspect="1"/>
          </p:cNvPicPr>
          <p:nvPr/>
        </p:nvPicPr>
        <p:blipFill>
          <a:blip r:embed="rId4"/>
          <a:stretch>
            <a:fillRect/>
          </a:stretch>
        </p:blipFill>
        <p:spPr>
          <a:xfrm>
            <a:off x="4507992" y="4350715"/>
            <a:ext cx="351130" cy="351130"/>
          </a:xfrm>
          <a:prstGeom prst="rect">
            <a:avLst/>
          </a:prstGeom>
        </p:spPr>
      </p:pic>
      <p:sp>
        <p:nvSpPr>
          <p:cNvPr id="25" name="Text 19"/>
          <p:cNvSpPr txBox="1"/>
          <p:nvPr/>
        </p:nvSpPr>
        <p:spPr>
          <a:xfrm>
            <a:off x="3471977" y="4983480"/>
            <a:ext cx="2423160" cy="822960"/>
          </a:xfrm>
          <a:prstGeom prst="rect">
            <a:avLst/>
          </a:prstGeom>
          <a:noFill/>
          <a:ln/>
        </p:spPr>
        <p:txBody>
          <a:bodyPr wrap="square" lIns="50800" tIns="50800" rIns="50800" bIns="50800" rtlCol="0" anchor="ctr"/>
          <a:lstStyle/>
          <a:p>
            <a:pPr rtl="1" algn="ctr" indent="0" marL="0">
              <a:buNone/>
            </a:pPr>
            <a:r>
              <a:rPr lang="he-IL" altLang="en-US" sz="1800" b="1" dirty="0">
                <a:solidFill>
                  <a:schemeClr val="tx1"/>
                </a:solidFill>
                <a:latin typeface="Arial" pitchFamily="34" charset="0"/>
                <a:ea typeface="Arial" pitchFamily="34" charset="-122"/>
                <a:cs typeface="Arial" pitchFamily="34" charset="-120"/>
              </a:rPr>
              <a:t>גינות קהילתיות</a:t>
            </a:r>
            <a:endParaRPr lang="he-IL" sz="1800" dirty="0"/>
          </a:p>
        </p:txBody>
      </p:sp>
      <p:sp>
        <p:nvSpPr>
          <p:cNvPr id="26" name="Shape 20"/>
          <p:cNvSpPr/>
          <p:nvPr/>
        </p:nvSpPr>
        <p:spPr>
          <a:xfrm>
            <a:off x="552298" y="3931920"/>
            <a:ext cx="2606040" cy="2011680"/>
          </a:xfrm>
          <a:prstGeom prst="roundRect">
            <a:avLst>
              <a:gd name="adj" fmla="val 5455"/>
            </a:avLst>
          </a:prstGeom>
          <a:solidFill>
            <a:schemeClr val="bg2"/>
          </a:solidFill>
          <a:ln w="12700">
            <a:solidFill>
              <a:schemeClr val="bg2"/>
            </a:solidFill>
            <a:prstDash val="solid"/>
          </a:ln>
        </p:spPr>
      </p:sp>
      <p:sp>
        <p:nvSpPr>
          <p:cNvPr id="27" name="Shape 21"/>
          <p:cNvSpPr/>
          <p:nvPr/>
        </p:nvSpPr>
        <p:spPr>
          <a:xfrm>
            <a:off x="1489558" y="4160520"/>
            <a:ext cx="731520" cy="731520"/>
          </a:xfrm>
          <a:prstGeom prst="ellipse">
            <a:avLst/>
          </a:prstGeom>
          <a:solidFill>
            <a:schemeClr val="accent2"/>
          </a:solidFill>
          <a:ln w="12700">
            <a:solidFill>
              <a:schemeClr val="accent2"/>
            </a:solidFill>
            <a:prstDash val="solid"/>
          </a:ln>
        </p:spPr>
      </p:sp>
      <p:pic>
        <p:nvPicPr>
          <p:cNvPr id="28" name="Image 4" descr="preencoded.png">    </p:cNvPr>
          <p:cNvPicPr>
            <a:picLocks noChangeAspect="1"/>
          </p:cNvPicPr>
          <p:nvPr/>
        </p:nvPicPr>
        <p:blipFill>
          <a:blip r:embed="rId5"/>
          <a:stretch>
            <a:fillRect/>
          </a:stretch>
        </p:blipFill>
        <p:spPr>
          <a:xfrm>
            <a:off x="1679753" y="4350715"/>
            <a:ext cx="351130" cy="351130"/>
          </a:xfrm>
          <a:prstGeom prst="rect">
            <a:avLst/>
          </a:prstGeom>
        </p:spPr>
      </p:pic>
      <p:sp>
        <p:nvSpPr>
          <p:cNvPr id="29" name="Text 22"/>
          <p:cNvSpPr txBox="1"/>
          <p:nvPr/>
        </p:nvSpPr>
        <p:spPr>
          <a:xfrm>
            <a:off x="643738" y="4983480"/>
            <a:ext cx="2423160" cy="822960"/>
          </a:xfrm>
          <a:prstGeom prst="rect">
            <a:avLst/>
          </a:prstGeom>
          <a:noFill/>
          <a:ln/>
        </p:spPr>
        <p:txBody>
          <a:bodyPr wrap="square" lIns="50800" tIns="50800" rIns="50800" bIns="50800" rtlCol="0" anchor="ctr"/>
          <a:lstStyle/>
          <a:p>
            <a:pPr rtl="1" algn="ctr" indent="0" marL="0">
              <a:buNone/>
            </a:pPr>
            <a:r>
              <a:rPr lang="he-IL" altLang="en-US" sz="1800" b="1" dirty="0">
                <a:solidFill>
                  <a:schemeClr val="tx1"/>
                </a:solidFill>
                <a:latin typeface="Arial" pitchFamily="34" charset="0"/>
                <a:ea typeface="Arial" pitchFamily="34" charset="-122"/>
                <a:cs typeface="Arial" pitchFamily="34" charset="-120"/>
              </a:rPr>
              <a:t>קבוצות ברשתות החברתיות</a:t>
            </a:r>
            <a:endParaRPr lang="he-IL" sz="18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חמשת תחומי הפעולה:</a:t>
            </a:r>
            <a:endParaRPr lang="he-IL" sz="3000" dirty="0"/>
          </a:p>
        </p:txBody>
      </p:sp>
      <p:sp>
        <p:nvSpPr>
          <p:cNvPr id="3" name="Text 1"/>
          <p:cNvSpPr/>
          <p:nvPr/>
        </p:nvSpPr>
        <p:spPr>
          <a:xfrm>
            <a:off x="4206240"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4" name="Text 2"/>
          <p:cNvSpPr/>
          <p:nvPr/>
        </p:nvSpPr>
        <p:spPr>
          <a:xfrm>
            <a:off x="3639312"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5" name="Text 3"/>
          <p:cNvSpPr/>
          <p:nvPr/>
        </p:nvSpPr>
        <p:spPr>
          <a:xfrm>
            <a:off x="3072384" y="566928"/>
            <a:ext cx="438912" cy="438912"/>
          </a:xfrm>
          <a:prstGeom prst="ellipse">
            <a:avLst/>
          </a:prstGeom>
          <a:solidFill>
            <a:schemeClr val="accent3"/>
          </a:solidFill>
          <a:ln>
            <a:solidFill>
              <a:schemeClr val="accent3"/>
            </a:solidFill>
          </a:ln>
        </p:spPr>
        <p:txBody>
          <a:bodyPr wrap="square" lIns="0" tIns="0" rIns="0" bIns="0" rtlCol="0" anchor="ctr"/>
          <a:lstStyle/>
          <a:p>
            <a:pPr rtl="1"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6" name="Text 4"/>
          <p:cNvSpPr/>
          <p:nvPr/>
        </p:nvSpPr>
        <p:spPr>
          <a:xfrm>
            <a:off x="2505456"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7" name="Text 5"/>
          <p:cNvSpPr/>
          <p:nvPr/>
        </p:nvSpPr>
        <p:spPr>
          <a:xfrm>
            <a:off x="1938528"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8" name="Shape 6"/>
          <p:cNvSpPr/>
          <p:nvPr/>
        </p:nvSpPr>
        <p:spPr>
          <a:xfrm>
            <a:off x="548640" y="1417320"/>
            <a:ext cx="11091672" cy="960120"/>
          </a:xfrm>
          <a:prstGeom prst="roundRect">
            <a:avLst>
              <a:gd name="adj" fmla="val 14286"/>
            </a:avLst>
          </a:prstGeom>
          <a:solidFill>
            <a:schemeClr val="accent3"/>
          </a:solidFill>
          <a:ln/>
        </p:spPr>
      </p:sp>
      <p:sp>
        <p:nvSpPr>
          <p:cNvPr id="9" name="Shape 7"/>
          <p:cNvSpPr/>
          <p:nvPr/>
        </p:nvSpPr>
        <p:spPr>
          <a:xfrm>
            <a:off x="10744200" y="1527048"/>
            <a:ext cx="731520" cy="731520"/>
          </a:xfrm>
          <a:prstGeom prst="ellipse">
            <a:avLst/>
          </a:prstGeom>
          <a:solidFill>
            <a:schemeClr val="bg1"/>
          </a:solidFill>
          <a:ln w="12700">
            <a:solidFill>
              <a:schemeClr val="bg1"/>
            </a:solidFill>
            <a:prstDash val="solid"/>
          </a:ln>
        </p:spPr>
      </p:sp>
      <p:pic>
        <p:nvPicPr>
          <p:cNvPr id="10" name="Image 0" descr="preencoded.png">    </p:cNvPr>
          <p:cNvPicPr>
            <a:picLocks noChangeAspect="1"/>
          </p:cNvPicPr>
          <p:nvPr/>
        </p:nvPicPr>
        <p:blipFill>
          <a:blip r:embed="rId1"/>
          <a:stretch>
            <a:fillRect/>
          </a:stretch>
        </p:blipFill>
        <p:spPr>
          <a:xfrm>
            <a:off x="10934395" y="1717243"/>
            <a:ext cx="351130" cy="351130"/>
          </a:xfrm>
          <a:prstGeom prst="rect">
            <a:avLst/>
          </a:prstGeom>
        </p:spPr>
      </p:pic>
      <p:sp>
        <p:nvSpPr>
          <p:cNvPr id="11" name="Text 8"/>
          <p:cNvSpPr txBox="1"/>
          <p:nvPr/>
        </p:nvSpPr>
        <p:spPr>
          <a:xfrm>
            <a:off x="822960" y="1417320"/>
            <a:ext cx="9692640" cy="960120"/>
          </a:xfrm>
          <a:prstGeom prst="rect">
            <a:avLst/>
          </a:prstGeom>
          <a:noFill/>
          <a:ln/>
        </p:spPr>
        <p:txBody>
          <a:bodyPr wrap="square" lIns="50800" tIns="50800" rIns="50800" bIns="50800" rtlCol="0" anchor="ctr"/>
          <a:lstStyle/>
          <a:p>
            <a:pPr rtl="1" algn="r" indent="0" marL="0">
              <a:buNone/>
            </a:pPr>
            <a:r>
              <a:rPr lang="he-IL" altLang="en-US" sz="2800" b="1" dirty="0">
                <a:solidFill>
                  <a:schemeClr val="bg1"/>
                </a:solidFill>
                <a:latin typeface="Arial" pitchFamily="34" charset="0"/>
                <a:ea typeface="Arial" pitchFamily="34" charset="-122"/>
                <a:cs typeface="Arial" pitchFamily="34" charset="-120"/>
              </a:rPr>
              <a:t>חיזוק פעילות הקהילה</a:t>
            </a:r>
            <a:endParaRPr lang="he-IL" sz="2800" dirty="0"/>
          </a:p>
        </p:txBody>
      </p:sp>
      <p:sp>
        <p:nvSpPr>
          <p:cNvPr id="12" name="Text 9"/>
          <p:cNvSpPr txBox="1"/>
          <p:nvPr/>
        </p:nvSpPr>
        <p:spPr>
          <a:xfrm>
            <a:off x="548640" y="2697480"/>
            <a:ext cx="11091672" cy="1463040"/>
          </a:xfrm>
          <a:prstGeom prst="rect">
            <a:avLst/>
          </a:prstGeom>
          <a:noFill/>
          <a:ln/>
        </p:spPr>
        <p:txBody>
          <a:bodyPr wrap="square" lIns="50800" tIns="50800" rIns="50800" bIns="50800" rtlCol="0" anchor="ctr"/>
          <a:lstStyle/>
          <a:p>
            <a:pPr rtl="1" algn="r" indent="0" marL="0">
              <a:spcAft>
                <a:spcPts val="800"/>
              </a:spcAft>
              <a:buNone/>
            </a:pPr>
            <a:r>
              <a:rPr lang="he-IL" altLang="en-US" sz="2400" dirty="0">
                <a:solidFill>
                  <a:schemeClr val="tx1"/>
                </a:solidFill>
                <a:latin typeface="Arial" pitchFamily="34" charset="0"/>
                <a:ea typeface="Arial" pitchFamily="34" charset="-122"/>
                <a:cs typeface="Arial" pitchFamily="34" charset="-120"/>
              </a:rPr>
              <a:t>חשוב להשקיע במעורבות הקהילה ולשתף את הקהילה בתכנון ובקבלת החלטות.</a:t>
            </a:r>
            <a:endParaRPr lang="he-IL" sz="2400" dirty="0"/>
          </a:p>
          <a:p>
            <a:pPr rtl="1" algn="r" indent="0" marL="0">
              <a:spcAft>
                <a:spcPts val="800"/>
              </a:spcAft>
              <a:buNone/>
            </a:pPr>
            <a:r>
              <a:rPr lang="he-IL" altLang="en-US" sz="2400" b="1" dirty="0">
                <a:solidFill>
                  <a:schemeClr val="tx2"/>
                </a:solidFill>
                <a:latin typeface="Arial" pitchFamily="34" charset="0"/>
                <a:ea typeface="Arial" pitchFamily="34" charset="-122"/>
                <a:cs typeface="Arial" pitchFamily="34" charset="-120"/>
              </a:rPr>
              <a:t>הקהילה היא חלק אינטגרלי בכל התהליך !</a:t>
            </a:r>
            <a:endParaRPr lang="he-IL" sz="2400" dirty="0"/>
          </a:p>
        </p:txBody>
      </p:sp>
      <p:sp>
        <p:nvSpPr>
          <p:cNvPr id="13" name="Shape 10"/>
          <p:cNvSpPr/>
          <p:nvPr/>
        </p:nvSpPr>
        <p:spPr>
          <a:xfrm>
            <a:off x="548640" y="4389120"/>
            <a:ext cx="11091672" cy="1371600"/>
          </a:xfrm>
          <a:prstGeom prst="roundRect">
            <a:avLst>
              <a:gd name="adj" fmla="val 8000"/>
            </a:avLst>
          </a:prstGeom>
          <a:solidFill>
            <a:schemeClr val="bg2"/>
          </a:solidFill>
          <a:ln w="12700">
            <a:solidFill>
              <a:schemeClr val="bg2"/>
            </a:solidFill>
            <a:prstDash val="solid"/>
          </a:ln>
        </p:spPr>
      </p:sp>
      <p:sp>
        <p:nvSpPr>
          <p:cNvPr id="14" name="Shape 11"/>
          <p:cNvSpPr/>
          <p:nvPr/>
        </p:nvSpPr>
        <p:spPr>
          <a:xfrm>
            <a:off x="10652760" y="4663440"/>
            <a:ext cx="822960" cy="822960"/>
          </a:xfrm>
          <a:prstGeom prst="ellipse">
            <a:avLst/>
          </a:prstGeom>
          <a:solidFill>
            <a:schemeClr val="accent3"/>
          </a:solidFill>
          <a:ln w="12700">
            <a:solidFill>
              <a:schemeClr val="accent3"/>
            </a:solidFill>
            <a:prstDash val="solid"/>
          </a:ln>
        </p:spPr>
      </p:sp>
      <p:pic>
        <p:nvPicPr>
          <p:cNvPr id="15" name="Image 1" descr="preencoded.png">    </p:cNvPr>
          <p:cNvPicPr>
            <a:picLocks noChangeAspect="1"/>
          </p:cNvPicPr>
          <p:nvPr/>
        </p:nvPicPr>
        <p:blipFill>
          <a:blip r:embed="rId2"/>
          <a:stretch>
            <a:fillRect/>
          </a:stretch>
        </p:blipFill>
        <p:spPr>
          <a:xfrm>
            <a:off x="10866730" y="4877410"/>
            <a:ext cx="395021" cy="395021"/>
          </a:xfrm>
          <a:prstGeom prst="rect">
            <a:avLst/>
          </a:prstGeom>
        </p:spPr>
      </p:pic>
      <p:sp>
        <p:nvSpPr>
          <p:cNvPr id="16" name="Text 12"/>
          <p:cNvSpPr txBox="1"/>
          <p:nvPr/>
        </p:nvSpPr>
        <p:spPr>
          <a:xfrm>
            <a:off x="822960" y="4389120"/>
            <a:ext cx="9692640" cy="1371600"/>
          </a:xfrm>
          <a:prstGeom prst="rect">
            <a:avLst/>
          </a:prstGeom>
          <a:noFill/>
          <a:ln/>
        </p:spPr>
        <p:txBody>
          <a:bodyPr wrap="square" lIns="50800" tIns="50800" rIns="50800" bIns="50800" rtlCol="0" anchor="ctr"/>
          <a:lstStyle/>
          <a:p>
            <a:pPr rtl="1" algn="r" indent="0" marL="0">
              <a:buNone/>
            </a:pPr>
            <a:r>
              <a:rPr lang="he-IL" altLang="en-US" sz="2400" b="1" dirty="0">
                <a:solidFill>
                  <a:schemeClr val="tx2"/>
                </a:solidFill>
                <a:latin typeface="Arial" pitchFamily="34" charset="0"/>
                <a:ea typeface="Arial" pitchFamily="34" charset="-122"/>
                <a:cs typeface="Arial" pitchFamily="34" charset="-120"/>
              </a:rPr>
              <a:t>פועלים יחד עם הקהילה ולא מדברים "על" הקהילה- באופן חיצוני.</a:t>
            </a:r>
            <a:endParaRPr lang="he-IL" sz="24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חמשת תחומי הפעולה:</a:t>
            </a:r>
            <a:endParaRPr lang="he-IL" sz="3000" dirty="0"/>
          </a:p>
        </p:txBody>
      </p:sp>
      <p:sp>
        <p:nvSpPr>
          <p:cNvPr id="3" name="Text 1"/>
          <p:cNvSpPr/>
          <p:nvPr/>
        </p:nvSpPr>
        <p:spPr>
          <a:xfrm>
            <a:off x="4206240"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4" name="Text 2"/>
          <p:cNvSpPr/>
          <p:nvPr/>
        </p:nvSpPr>
        <p:spPr>
          <a:xfrm>
            <a:off x="3639312"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5" name="Text 3"/>
          <p:cNvSpPr/>
          <p:nvPr/>
        </p:nvSpPr>
        <p:spPr>
          <a:xfrm>
            <a:off x="3072384"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6" name="Text 4"/>
          <p:cNvSpPr/>
          <p:nvPr/>
        </p:nvSpPr>
        <p:spPr>
          <a:xfrm>
            <a:off x="2505456" y="566928"/>
            <a:ext cx="438912" cy="438912"/>
          </a:xfrm>
          <a:prstGeom prst="ellipse">
            <a:avLst/>
          </a:prstGeom>
          <a:solidFill>
            <a:schemeClr val="accent4"/>
          </a:solidFill>
          <a:ln>
            <a:solidFill>
              <a:schemeClr val="accent4"/>
            </a:solidFill>
          </a:ln>
        </p:spPr>
        <p:txBody>
          <a:bodyPr wrap="square" lIns="0" tIns="0" rIns="0" bIns="0" rtlCol="0" anchor="ctr"/>
          <a:lstStyle/>
          <a:p>
            <a:pPr rtl="1"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7" name="Text 5"/>
          <p:cNvSpPr/>
          <p:nvPr/>
        </p:nvSpPr>
        <p:spPr>
          <a:xfrm>
            <a:off x="1938528"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8" name="Shape 6"/>
          <p:cNvSpPr/>
          <p:nvPr/>
        </p:nvSpPr>
        <p:spPr>
          <a:xfrm>
            <a:off x="548640" y="1417320"/>
            <a:ext cx="11091672" cy="960120"/>
          </a:xfrm>
          <a:prstGeom prst="roundRect">
            <a:avLst>
              <a:gd name="adj" fmla="val 14286"/>
            </a:avLst>
          </a:prstGeom>
          <a:solidFill>
            <a:schemeClr val="accent4"/>
          </a:solidFill>
          <a:ln/>
        </p:spPr>
      </p:sp>
      <p:sp>
        <p:nvSpPr>
          <p:cNvPr id="9" name="Shape 7"/>
          <p:cNvSpPr/>
          <p:nvPr/>
        </p:nvSpPr>
        <p:spPr>
          <a:xfrm>
            <a:off x="10744200" y="1527048"/>
            <a:ext cx="731520" cy="731520"/>
          </a:xfrm>
          <a:prstGeom prst="ellipse">
            <a:avLst/>
          </a:prstGeom>
          <a:solidFill>
            <a:schemeClr val="bg1"/>
          </a:solidFill>
          <a:ln w="12700">
            <a:solidFill>
              <a:schemeClr val="bg1"/>
            </a:solidFill>
            <a:prstDash val="solid"/>
          </a:ln>
        </p:spPr>
      </p:sp>
      <p:pic>
        <p:nvPicPr>
          <p:cNvPr id="10" name="Image 0" descr="preencoded.png">    </p:cNvPr>
          <p:cNvPicPr>
            <a:picLocks noChangeAspect="1"/>
          </p:cNvPicPr>
          <p:nvPr/>
        </p:nvPicPr>
        <p:blipFill>
          <a:blip r:embed="rId1"/>
          <a:stretch>
            <a:fillRect/>
          </a:stretch>
        </p:blipFill>
        <p:spPr>
          <a:xfrm>
            <a:off x="10934395" y="1717243"/>
            <a:ext cx="351130" cy="351130"/>
          </a:xfrm>
          <a:prstGeom prst="rect">
            <a:avLst/>
          </a:prstGeom>
        </p:spPr>
      </p:pic>
      <p:sp>
        <p:nvSpPr>
          <p:cNvPr id="11" name="Text 8"/>
          <p:cNvSpPr txBox="1"/>
          <p:nvPr/>
        </p:nvSpPr>
        <p:spPr>
          <a:xfrm>
            <a:off x="822960" y="1417320"/>
            <a:ext cx="9692640" cy="960120"/>
          </a:xfrm>
          <a:prstGeom prst="rect">
            <a:avLst/>
          </a:prstGeom>
          <a:noFill/>
          <a:ln/>
        </p:spPr>
        <p:txBody>
          <a:bodyPr wrap="square" lIns="50800" tIns="50800" rIns="50800" bIns="50800" rtlCol="0" anchor="ctr"/>
          <a:lstStyle/>
          <a:p>
            <a:pPr rtl="1" algn="r" indent="0" marL="0">
              <a:buNone/>
            </a:pPr>
            <a:r>
              <a:rPr lang="he-IL" altLang="en-US" sz="2800" b="1" dirty="0">
                <a:solidFill>
                  <a:schemeClr val="bg1"/>
                </a:solidFill>
                <a:latin typeface="Arial" pitchFamily="34" charset="0"/>
                <a:ea typeface="Arial" pitchFamily="34" charset="-122"/>
                <a:cs typeface="Arial" pitchFamily="34" charset="-120"/>
              </a:rPr>
              <a:t>פיתוח מיומנויות אישיות</a:t>
            </a:r>
            <a:endParaRPr lang="he-IL" sz="2800" dirty="0"/>
          </a:p>
        </p:txBody>
      </p:sp>
      <p:sp>
        <p:nvSpPr>
          <p:cNvPr id="12" name="Text 9"/>
          <p:cNvSpPr txBox="1"/>
          <p:nvPr/>
        </p:nvSpPr>
        <p:spPr>
          <a:xfrm>
            <a:off x="1371600" y="2834640"/>
            <a:ext cx="10268712" cy="2560320"/>
          </a:xfrm>
          <a:prstGeom prst="rect">
            <a:avLst/>
          </a:prstGeom>
          <a:noFill/>
          <a:ln/>
        </p:spPr>
        <p:txBody>
          <a:bodyPr wrap="square" lIns="50800" tIns="50800" rIns="50800" bIns="50800" rtlCol="0" anchor="ctr"/>
          <a:lstStyle/>
          <a:p>
            <a:pPr rtl="1" algn="r" indent="0" marL="0">
              <a:lnSpc>
                <a:spcPct val="120000"/>
              </a:lnSpc>
              <a:buNone/>
            </a:pPr>
            <a:r>
              <a:rPr lang="he-IL" altLang="en-US" sz="2800" dirty="0">
                <a:solidFill>
                  <a:schemeClr val="tx1"/>
                </a:solidFill>
                <a:latin typeface="Arial" pitchFamily="34" charset="0"/>
                <a:ea typeface="Arial" pitchFamily="34" charset="-122"/>
                <a:cs typeface="Arial" pitchFamily="34" charset="-120"/>
              </a:rPr>
              <a:t>פעילות שתכליתה להשפיע על התנהגות הפרט, לפיתוח כישורים אישיים ומיומנויות להתמודדות עם לחץ חברתי, פתרון בעיות וקבלת החלטות לשיפור ולשמירה על בריאות.</a:t>
            </a:r>
            <a:endParaRPr lang="he-IL" sz="2800" dirty="0"/>
          </a:p>
        </p:txBody>
      </p:sp>
      <p:sp>
        <p:nvSpPr>
          <p:cNvPr id="13" name="Shape 10"/>
          <p:cNvSpPr/>
          <p:nvPr/>
        </p:nvSpPr>
        <p:spPr>
          <a:xfrm>
            <a:off x="548640" y="3520440"/>
            <a:ext cx="1097280" cy="1097280"/>
          </a:xfrm>
          <a:prstGeom prst="ellipse">
            <a:avLst/>
          </a:prstGeom>
          <a:solidFill>
            <a:schemeClr val="bg2"/>
          </a:solidFill>
          <a:ln w="12700">
            <a:solidFill>
              <a:schemeClr val="bg2"/>
            </a:solidFill>
            <a:prstDash val="solid"/>
          </a:ln>
        </p:spPr>
      </p:sp>
      <p:pic>
        <p:nvPicPr>
          <p:cNvPr id="14" name="Image 1" descr="preencoded.png">    </p:cNvPr>
          <p:cNvPicPr>
            <a:picLocks noChangeAspect="1"/>
          </p:cNvPicPr>
          <p:nvPr/>
        </p:nvPicPr>
        <p:blipFill>
          <a:blip r:embed="rId2"/>
          <a:stretch>
            <a:fillRect/>
          </a:stretch>
        </p:blipFill>
        <p:spPr>
          <a:xfrm>
            <a:off x="833933" y="3805733"/>
            <a:ext cx="526694" cy="526694"/>
          </a:xfrm>
          <a:prstGeom prst="rect">
            <a:avLst/>
          </a:prstGeom>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חמשת תחומי הפעולה:</a:t>
            </a:r>
            <a:endParaRPr lang="he-IL" sz="3000" dirty="0"/>
          </a:p>
        </p:txBody>
      </p:sp>
      <p:sp>
        <p:nvSpPr>
          <p:cNvPr id="3" name="Text 1"/>
          <p:cNvSpPr/>
          <p:nvPr/>
        </p:nvSpPr>
        <p:spPr>
          <a:xfrm>
            <a:off x="4206240"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4" name="Text 2"/>
          <p:cNvSpPr/>
          <p:nvPr/>
        </p:nvSpPr>
        <p:spPr>
          <a:xfrm>
            <a:off x="3639312"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5" name="Text 3"/>
          <p:cNvSpPr/>
          <p:nvPr/>
        </p:nvSpPr>
        <p:spPr>
          <a:xfrm>
            <a:off x="3072384"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6" name="Text 4"/>
          <p:cNvSpPr/>
          <p:nvPr/>
        </p:nvSpPr>
        <p:spPr>
          <a:xfrm>
            <a:off x="2505456" y="566928"/>
            <a:ext cx="438912" cy="438912"/>
          </a:xfrm>
          <a:prstGeom prst="ellipse">
            <a:avLst/>
          </a:prstGeom>
          <a:solidFill>
            <a:schemeClr val="bg2"/>
          </a:solidFill>
          <a:ln>
            <a:solidFill>
              <a:schemeClr val="bg2"/>
            </a:solidFill>
          </a:ln>
        </p:spPr>
        <p:txBody>
          <a:bodyPr wrap="square" lIns="0" tIns="0" rIns="0" bIns="0" rtlCol="0" anchor="ctr"/>
          <a:lstStyle/>
          <a:p>
            <a:pPr rtl="1" algn="ctr" indent="0" marL="0">
              <a:buNone/>
            </a:pPr>
            <a:r>
              <a:rPr 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7" name="Text 5"/>
          <p:cNvSpPr/>
          <p:nvPr/>
        </p:nvSpPr>
        <p:spPr>
          <a:xfrm>
            <a:off x="1938528" y="566928"/>
            <a:ext cx="438912" cy="438912"/>
          </a:xfrm>
          <a:prstGeom prst="ellipse">
            <a:avLst/>
          </a:prstGeom>
          <a:solidFill>
            <a:schemeClr val="accent6"/>
          </a:solidFill>
          <a:ln>
            <a:solidFill>
              <a:schemeClr val="accent6"/>
            </a:solidFill>
          </a:ln>
        </p:spPr>
        <p:txBody>
          <a:bodyPr wrap="square" lIns="0" tIns="0" rIns="0" bIns="0" rtlCol="0" anchor="ctr"/>
          <a:lstStyle/>
          <a:p>
            <a:pPr rtl="1"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8" name="Shape 6"/>
          <p:cNvSpPr/>
          <p:nvPr/>
        </p:nvSpPr>
        <p:spPr>
          <a:xfrm>
            <a:off x="548640" y="1417320"/>
            <a:ext cx="11091672" cy="960120"/>
          </a:xfrm>
          <a:prstGeom prst="roundRect">
            <a:avLst>
              <a:gd name="adj" fmla="val 14286"/>
            </a:avLst>
          </a:prstGeom>
          <a:solidFill>
            <a:schemeClr val="accent6"/>
          </a:solidFill>
          <a:ln/>
        </p:spPr>
      </p:sp>
      <p:sp>
        <p:nvSpPr>
          <p:cNvPr id="9" name="Shape 7"/>
          <p:cNvSpPr/>
          <p:nvPr/>
        </p:nvSpPr>
        <p:spPr>
          <a:xfrm>
            <a:off x="10744200" y="1527048"/>
            <a:ext cx="731520" cy="731520"/>
          </a:xfrm>
          <a:prstGeom prst="ellipse">
            <a:avLst/>
          </a:prstGeom>
          <a:solidFill>
            <a:schemeClr val="bg1"/>
          </a:solidFill>
          <a:ln w="12700">
            <a:solidFill>
              <a:schemeClr val="bg1"/>
            </a:solidFill>
            <a:prstDash val="solid"/>
          </a:ln>
        </p:spPr>
      </p:sp>
      <p:pic>
        <p:nvPicPr>
          <p:cNvPr id="10" name="Image 0" descr="preencoded.png">    </p:cNvPr>
          <p:cNvPicPr>
            <a:picLocks noChangeAspect="1"/>
          </p:cNvPicPr>
          <p:nvPr/>
        </p:nvPicPr>
        <p:blipFill>
          <a:blip r:embed="rId1"/>
          <a:stretch>
            <a:fillRect/>
          </a:stretch>
        </p:blipFill>
        <p:spPr>
          <a:xfrm>
            <a:off x="10934395" y="1717243"/>
            <a:ext cx="351130" cy="351130"/>
          </a:xfrm>
          <a:prstGeom prst="rect">
            <a:avLst/>
          </a:prstGeom>
        </p:spPr>
      </p:pic>
      <p:sp>
        <p:nvSpPr>
          <p:cNvPr id="11" name="Text 8"/>
          <p:cNvSpPr txBox="1"/>
          <p:nvPr/>
        </p:nvSpPr>
        <p:spPr>
          <a:xfrm>
            <a:off x="822960" y="1417320"/>
            <a:ext cx="9692640" cy="960120"/>
          </a:xfrm>
          <a:prstGeom prst="rect">
            <a:avLst/>
          </a:prstGeom>
          <a:noFill/>
          <a:ln/>
        </p:spPr>
        <p:txBody>
          <a:bodyPr wrap="square" lIns="50800" tIns="50800" rIns="50800" bIns="50800" rtlCol="0" anchor="ctr"/>
          <a:lstStyle/>
          <a:p>
            <a:pPr rtl="1" algn="r" indent="0" marL="0">
              <a:buNone/>
            </a:pPr>
            <a:r>
              <a:rPr lang="he-IL" altLang="en-US" sz="2800" b="1" dirty="0">
                <a:solidFill>
                  <a:schemeClr val="bg1"/>
                </a:solidFill>
                <a:latin typeface="Arial" pitchFamily="34" charset="0"/>
                <a:ea typeface="Arial" pitchFamily="34" charset="-122"/>
                <a:cs typeface="Arial" pitchFamily="34" charset="-120"/>
              </a:rPr>
              <a:t>אוריינטציה מחדש של שירותי הבריאות</a:t>
            </a:r>
            <a:endParaRPr lang="he-IL" sz="2800" dirty="0"/>
          </a:p>
        </p:txBody>
      </p:sp>
      <p:sp>
        <p:nvSpPr>
          <p:cNvPr id="12" name="Text 9"/>
          <p:cNvSpPr txBox="1"/>
          <p:nvPr/>
        </p:nvSpPr>
        <p:spPr>
          <a:xfrm>
            <a:off x="1371600" y="2834640"/>
            <a:ext cx="10268712" cy="2560320"/>
          </a:xfrm>
          <a:prstGeom prst="rect">
            <a:avLst/>
          </a:prstGeom>
          <a:noFill/>
          <a:ln/>
        </p:spPr>
        <p:txBody>
          <a:bodyPr wrap="square" lIns="50800" tIns="50800" rIns="50800" bIns="50800" rtlCol="0" anchor="ctr"/>
          <a:lstStyle/>
          <a:p>
            <a:pPr rtl="1" algn="r" indent="0" marL="0">
              <a:lnSpc>
                <a:spcPct val="120000"/>
              </a:lnSpc>
              <a:buNone/>
            </a:pPr>
            <a:r>
              <a:rPr lang="he-IL" altLang="en-US" sz="3000" dirty="0">
                <a:solidFill>
                  <a:schemeClr val="tx1"/>
                </a:solidFill>
                <a:latin typeface="Arial" pitchFamily="34" charset="0"/>
                <a:ea typeface="Arial" pitchFamily="34" charset="-122"/>
                <a:cs typeface="Arial" pitchFamily="34" charset="-120"/>
              </a:rPr>
              <a:t>להיות מכוונים יותר לקידום הבריאות,</a:t>
            </a:r>
            <a:endParaRPr lang="he-IL" sz="3000" dirty="0"/>
          </a:p>
          <a:p>
            <a:pPr rtl="1" algn="r" indent="0" marL="0">
              <a:lnSpc>
                <a:spcPct val="120000"/>
              </a:lnSpc>
              <a:buNone/>
            </a:pPr>
            <a:r>
              <a:rPr lang="he-IL" altLang="en-US" sz="3000" dirty="0">
                <a:solidFill>
                  <a:schemeClr val="tx1"/>
                </a:solidFill>
                <a:latin typeface="Arial" pitchFamily="34" charset="0"/>
                <a:ea typeface="Arial" pitchFamily="34" charset="-122"/>
                <a:cs typeface="Arial" pitchFamily="34" charset="-120"/>
              </a:rPr>
              <a:t>מעבר לאחריות לספק שירותים קליניים ורפואיים</a:t>
            </a:r>
            <a:endParaRPr lang="he-IL" sz="3000" dirty="0"/>
          </a:p>
        </p:txBody>
      </p:sp>
      <p:sp>
        <p:nvSpPr>
          <p:cNvPr id="13" name="Shape 10"/>
          <p:cNvSpPr/>
          <p:nvPr/>
        </p:nvSpPr>
        <p:spPr>
          <a:xfrm>
            <a:off x="548640" y="3520440"/>
            <a:ext cx="1097280" cy="1097280"/>
          </a:xfrm>
          <a:prstGeom prst="ellipse">
            <a:avLst/>
          </a:prstGeom>
          <a:solidFill>
            <a:schemeClr val="bg2"/>
          </a:solidFill>
          <a:ln w="12700">
            <a:solidFill>
              <a:schemeClr val="bg2"/>
            </a:solidFill>
            <a:prstDash val="solid"/>
          </a:ln>
        </p:spPr>
      </p:sp>
      <p:pic>
        <p:nvPicPr>
          <p:cNvPr id="14" name="Image 1" descr="preencoded.png">    </p:cNvPr>
          <p:cNvPicPr>
            <a:picLocks noChangeAspect="1"/>
          </p:cNvPicPr>
          <p:nvPr/>
        </p:nvPicPr>
        <p:blipFill>
          <a:blip r:embed="rId2"/>
          <a:stretch>
            <a:fillRect/>
          </a:stretch>
        </p:blipFill>
        <p:spPr>
          <a:xfrm>
            <a:off x="833933" y="3805733"/>
            <a:ext cx="526694" cy="526694"/>
          </a:xfrm>
          <a:prstGeom prst="rect">
            <a:avLst/>
          </a:prstGeom>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מה ההבדל בין חינוך לבריאות לקידום בריאות?</a:t>
            </a:r>
            <a:endParaRPr lang="he-IL" sz="3000" dirty="0"/>
          </a:p>
        </p:txBody>
      </p:sp>
      <p:sp>
        <p:nvSpPr>
          <p:cNvPr id="3" name="Shape 1"/>
          <p:cNvSpPr/>
          <p:nvPr/>
        </p:nvSpPr>
        <p:spPr>
          <a:xfrm>
            <a:off x="6522415" y="1508760"/>
            <a:ext cx="5120640" cy="4572000"/>
          </a:xfrm>
          <a:prstGeom prst="roundRect">
            <a:avLst>
              <a:gd name="adj" fmla="val 2400"/>
            </a:avLst>
          </a:prstGeom>
          <a:solidFill>
            <a:schemeClr val="bg1"/>
          </a:solidFill>
          <a:ln w="25400">
            <a:solidFill>
              <a:schemeClr val="accent2"/>
            </a:solidFill>
            <a:prstDash val="solid"/>
          </a:ln>
          <a:effectLst>
            <a:outerShdw sx="100000" sy="100000" kx="0" ky="0" algn="bl" rotWithShape="0" blurRad="101600" dist="25400" dir="5400000">
              <a:srgbClr val="0F4C5C">
                <a:alpha val="14000"/>
              </a:srgbClr>
            </a:outerShdw>
          </a:effectLst>
        </p:spPr>
      </p:sp>
      <p:sp>
        <p:nvSpPr>
          <p:cNvPr id="4" name="Shape 2"/>
          <p:cNvSpPr/>
          <p:nvPr/>
        </p:nvSpPr>
        <p:spPr>
          <a:xfrm>
            <a:off x="6522415" y="1508760"/>
            <a:ext cx="5120640" cy="1097280"/>
          </a:xfrm>
          <a:prstGeom prst="roundRect">
            <a:avLst>
              <a:gd name="adj" fmla="val 10000"/>
            </a:avLst>
          </a:prstGeom>
          <a:solidFill>
            <a:schemeClr val="accent2"/>
          </a:solidFill>
          <a:ln/>
        </p:spPr>
      </p:sp>
      <p:sp>
        <p:nvSpPr>
          <p:cNvPr id="5" name="Shape 3"/>
          <p:cNvSpPr/>
          <p:nvPr/>
        </p:nvSpPr>
        <p:spPr>
          <a:xfrm>
            <a:off x="10682935" y="1691640"/>
            <a:ext cx="731520" cy="731520"/>
          </a:xfrm>
          <a:prstGeom prst="ellipse">
            <a:avLst/>
          </a:prstGeom>
          <a:solidFill>
            <a:schemeClr val="bg1"/>
          </a:solidFill>
          <a:ln w="127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10873130" y="1881835"/>
            <a:ext cx="351130" cy="351130"/>
          </a:xfrm>
          <a:prstGeom prst="rect">
            <a:avLst/>
          </a:prstGeom>
        </p:spPr>
      </p:pic>
      <p:sp>
        <p:nvSpPr>
          <p:cNvPr id="7" name="Text 4"/>
          <p:cNvSpPr txBox="1"/>
          <p:nvPr/>
        </p:nvSpPr>
        <p:spPr>
          <a:xfrm>
            <a:off x="6796735" y="1508760"/>
            <a:ext cx="3794760" cy="1097280"/>
          </a:xfrm>
          <a:prstGeom prst="rect">
            <a:avLst/>
          </a:prstGeom>
          <a:noFill/>
          <a:ln/>
        </p:spPr>
        <p:txBody>
          <a:bodyPr wrap="square" lIns="50800" tIns="50800" rIns="50800" bIns="50800" rtlCol="0" anchor="ctr"/>
          <a:lstStyle/>
          <a:p>
            <a:pPr rtl="1" algn="r" indent="0" marL="0">
              <a:buNone/>
            </a:pPr>
            <a:r>
              <a:rPr lang="he-IL" altLang="en-US" sz="2800" b="1" dirty="0">
                <a:solidFill>
                  <a:schemeClr val="bg1"/>
                </a:solidFill>
                <a:latin typeface="Arial" pitchFamily="34" charset="0"/>
                <a:ea typeface="Arial" pitchFamily="34" charset="-122"/>
                <a:cs typeface="Arial" pitchFamily="34" charset="-120"/>
              </a:rPr>
              <a:t>קידום בריאות</a:t>
            </a:r>
            <a:endParaRPr lang="he-IL" sz="2800" dirty="0"/>
          </a:p>
        </p:txBody>
      </p:sp>
      <p:sp>
        <p:nvSpPr>
          <p:cNvPr id="8" name="Text 5"/>
          <p:cNvSpPr txBox="1"/>
          <p:nvPr/>
        </p:nvSpPr>
        <p:spPr>
          <a:xfrm>
            <a:off x="6842455" y="2880360"/>
            <a:ext cx="4480560" cy="2377440"/>
          </a:xfrm>
          <a:prstGeom prst="rect">
            <a:avLst/>
          </a:prstGeom>
          <a:noFill/>
          <a:ln/>
        </p:spPr>
        <p:txBody>
          <a:bodyPr wrap="square" lIns="50800" tIns="50800" rIns="50800" bIns="50800" rtlCol="0" anchor="ctr"/>
          <a:lstStyle/>
          <a:p>
            <a:pPr rtl="1" algn="ctr" indent="0" marL="0">
              <a:buNone/>
            </a:pPr>
            <a:r>
              <a:rPr lang="he-IL" altLang="en-US" sz="2200" dirty="0">
                <a:solidFill>
                  <a:schemeClr val="tx2"/>
                </a:solidFill>
                <a:latin typeface="Arial" pitchFamily="34" charset="0"/>
                <a:ea typeface="Arial" pitchFamily="34" charset="-122"/>
                <a:cs typeface="Arial" pitchFamily="34" charset="-120"/>
              </a:rPr>
              <a:t>"תהליך הנותן לפרט ולקהילה כלים לשלוט בבריאותם ולשפרה."</a:t>
            </a:r>
            <a:endParaRPr lang="he-IL" sz="2200" dirty="0"/>
          </a:p>
        </p:txBody>
      </p:sp>
      <p:sp>
        <p:nvSpPr>
          <p:cNvPr id="9" name="Text 6"/>
          <p:cNvSpPr txBox="1"/>
          <p:nvPr/>
        </p:nvSpPr>
        <p:spPr>
          <a:xfrm>
            <a:off x="6842455" y="5394960"/>
            <a:ext cx="4480560" cy="411480"/>
          </a:xfrm>
          <a:prstGeom prst="rect">
            <a:avLst/>
          </a:prstGeom>
          <a:noFill/>
          <a:ln/>
        </p:spPr>
        <p:txBody>
          <a:bodyPr wrap="square" lIns="50800" tIns="50800" rIns="50800" bIns="50800" rtlCol="0" anchor="t"/>
          <a:lstStyle/>
          <a:p>
            <a:pPr rtl="1" algn="ctr" indent="0" marL="0">
              <a:buNone/>
            </a:pPr>
            <a:r>
              <a:rPr lang="en-US" altLang="en-US" sz="1400" dirty="0">
                <a:solidFill>
                  <a:schemeClr val="accent1"/>
                </a:solidFill>
                <a:latin typeface="Arial" pitchFamily="34" charset="0"/>
                <a:ea typeface="Arial" pitchFamily="34" charset="-122"/>
                <a:cs typeface="Arial" pitchFamily="34" charset="-120"/>
              </a:rPr>
              <a:t>WHO, 1986</a:t>
            </a:r>
            <a:endParaRPr lang="en-US" sz="1400" dirty="0"/>
          </a:p>
        </p:txBody>
      </p:sp>
      <p:sp>
        <p:nvSpPr>
          <p:cNvPr id="10" name="Shape 7"/>
          <p:cNvSpPr/>
          <p:nvPr/>
        </p:nvSpPr>
        <p:spPr>
          <a:xfrm>
            <a:off x="548640" y="1508760"/>
            <a:ext cx="5120640" cy="4572000"/>
          </a:xfrm>
          <a:prstGeom prst="roundRect">
            <a:avLst>
              <a:gd name="adj" fmla="val 2400"/>
            </a:avLst>
          </a:prstGeom>
          <a:solidFill>
            <a:schemeClr val="bg1"/>
          </a:solidFill>
          <a:ln w="25400">
            <a:solidFill>
              <a:schemeClr val="accent3"/>
            </a:solidFill>
            <a:prstDash val="solid"/>
          </a:ln>
          <a:effectLst>
            <a:outerShdw sx="100000" sy="100000" kx="0" ky="0" algn="bl" rotWithShape="0" blurRad="101600" dist="25400" dir="5400000">
              <a:srgbClr val="0F4C5C">
                <a:alpha val="14000"/>
              </a:srgbClr>
            </a:outerShdw>
          </a:effectLst>
        </p:spPr>
      </p:sp>
      <p:sp>
        <p:nvSpPr>
          <p:cNvPr id="11" name="Shape 8"/>
          <p:cNvSpPr/>
          <p:nvPr/>
        </p:nvSpPr>
        <p:spPr>
          <a:xfrm>
            <a:off x="548640" y="1508760"/>
            <a:ext cx="5120640" cy="1097280"/>
          </a:xfrm>
          <a:prstGeom prst="roundRect">
            <a:avLst>
              <a:gd name="adj" fmla="val 10000"/>
            </a:avLst>
          </a:prstGeom>
          <a:solidFill>
            <a:schemeClr val="accent3"/>
          </a:solidFill>
          <a:ln/>
        </p:spPr>
      </p:sp>
      <p:sp>
        <p:nvSpPr>
          <p:cNvPr id="12" name="Shape 9"/>
          <p:cNvSpPr/>
          <p:nvPr/>
        </p:nvSpPr>
        <p:spPr>
          <a:xfrm>
            <a:off x="4709160" y="1691640"/>
            <a:ext cx="731520" cy="731520"/>
          </a:xfrm>
          <a:prstGeom prst="ellipse">
            <a:avLst/>
          </a:prstGeom>
          <a:solidFill>
            <a:schemeClr val="bg1"/>
          </a:solidFill>
          <a:ln w="12700">
            <a:solidFill>
              <a:schemeClr val="bg1"/>
            </a:solidFill>
            <a:prstDash val="solid"/>
          </a:ln>
        </p:spPr>
      </p:sp>
      <p:pic>
        <p:nvPicPr>
          <p:cNvPr id="13" name="Image 1" descr="preencoded.png">    </p:cNvPr>
          <p:cNvPicPr>
            <a:picLocks noChangeAspect="1"/>
          </p:cNvPicPr>
          <p:nvPr/>
        </p:nvPicPr>
        <p:blipFill>
          <a:blip r:embed="rId2"/>
          <a:stretch>
            <a:fillRect/>
          </a:stretch>
        </p:blipFill>
        <p:spPr>
          <a:xfrm>
            <a:off x="4899355" y="1881835"/>
            <a:ext cx="351130" cy="351130"/>
          </a:xfrm>
          <a:prstGeom prst="rect">
            <a:avLst/>
          </a:prstGeom>
        </p:spPr>
      </p:pic>
      <p:sp>
        <p:nvSpPr>
          <p:cNvPr id="14" name="Text 10"/>
          <p:cNvSpPr txBox="1"/>
          <p:nvPr/>
        </p:nvSpPr>
        <p:spPr>
          <a:xfrm>
            <a:off x="822960" y="1508760"/>
            <a:ext cx="3794760" cy="1097280"/>
          </a:xfrm>
          <a:prstGeom prst="rect">
            <a:avLst/>
          </a:prstGeom>
          <a:noFill/>
          <a:ln/>
        </p:spPr>
        <p:txBody>
          <a:bodyPr wrap="square" lIns="50800" tIns="50800" rIns="50800" bIns="50800" rtlCol="0" anchor="ctr"/>
          <a:lstStyle/>
          <a:p>
            <a:pPr rtl="1" algn="r" indent="0" marL="0">
              <a:buNone/>
            </a:pPr>
            <a:r>
              <a:rPr lang="he-IL" altLang="en-US" sz="2800" b="1" dirty="0">
                <a:solidFill>
                  <a:schemeClr val="bg1"/>
                </a:solidFill>
                <a:latin typeface="Arial" pitchFamily="34" charset="0"/>
                <a:ea typeface="Arial" pitchFamily="34" charset="-122"/>
                <a:cs typeface="Arial" pitchFamily="34" charset="-120"/>
              </a:rPr>
              <a:t>חינוך לבריאות</a:t>
            </a:r>
            <a:endParaRPr lang="he-IL" sz="2800" dirty="0"/>
          </a:p>
        </p:txBody>
      </p:sp>
      <p:sp>
        <p:nvSpPr>
          <p:cNvPr id="15" name="Text 11"/>
          <p:cNvSpPr txBox="1"/>
          <p:nvPr/>
        </p:nvSpPr>
        <p:spPr>
          <a:xfrm>
            <a:off x="868680" y="2880360"/>
            <a:ext cx="4480560" cy="2377440"/>
          </a:xfrm>
          <a:prstGeom prst="rect">
            <a:avLst/>
          </a:prstGeom>
          <a:noFill/>
          <a:ln/>
        </p:spPr>
        <p:txBody>
          <a:bodyPr wrap="square" lIns="50800" tIns="50800" rIns="50800" bIns="50800" rtlCol="0" anchor="ctr"/>
          <a:lstStyle/>
          <a:p>
            <a:pPr rtl="1" algn="ctr" indent="0" marL="0">
              <a:buNone/>
            </a:pPr>
            <a:r>
              <a:rPr lang="he-IL" altLang="en-US" sz="2200" dirty="0">
                <a:solidFill>
                  <a:schemeClr val="tx2"/>
                </a:solidFill>
                <a:latin typeface="Arial" pitchFamily="34" charset="0"/>
                <a:ea typeface="Arial" pitchFamily="34" charset="-122"/>
                <a:cs typeface="Arial" pitchFamily="34" charset="-120"/>
              </a:rPr>
              <a:t>"כל שילוב של פעילויות חינוכיות שמטרתן להשפיע באופן חיובי על אימוץ רצוני של התנהגות בריאותית"</a:t>
            </a:r>
            <a:endParaRPr lang="he-IL" sz="2200" dirty="0"/>
          </a:p>
        </p:txBody>
      </p:sp>
      <p:sp>
        <p:nvSpPr>
          <p:cNvPr id="16" name="Text 12"/>
          <p:cNvSpPr txBox="1"/>
          <p:nvPr/>
        </p:nvSpPr>
        <p:spPr>
          <a:xfrm>
            <a:off x="868680" y="5394960"/>
            <a:ext cx="4480560" cy="411480"/>
          </a:xfrm>
          <a:prstGeom prst="rect">
            <a:avLst/>
          </a:prstGeom>
          <a:noFill/>
          <a:ln/>
        </p:spPr>
        <p:txBody>
          <a:bodyPr wrap="square" lIns="50800" tIns="50800" rIns="50800" bIns="50800" rtlCol="0" anchor="t"/>
          <a:lstStyle/>
          <a:p>
            <a:pPr rtl="1" algn="ctr" indent="0" marL="0">
              <a:buNone/>
            </a:pPr>
            <a:r>
              <a:rPr lang="en-US" altLang="en-US" sz="1400" dirty="0">
                <a:solidFill>
                  <a:schemeClr val="accent1"/>
                </a:solidFill>
                <a:latin typeface="Arial" pitchFamily="34" charset="0"/>
                <a:ea typeface="Arial" pitchFamily="34" charset="-122"/>
                <a:cs typeface="Arial" pitchFamily="34" charset="-120"/>
              </a:rPr>
              <a:t>Green and Kreuter, 1994</a:t>
            </a:r>
            <a:endParaRPr lang="en-US" sz="1400" dirty="0"/>
          </a:p>
        </p:txBody>
      </p:sp>
      <p:sp>
        <p:nvSpPr>
          <p:cNvPr id="17" name="Shape 13"/>
          <p:cNvSpPr/>
          <p:nvPr/>
        </p:nvSpPr>
        <p:spPr>
          <a:xfrm>
            <a:off x="5730088" y="3474720"/>
            <a:ext cx="731520" cy="731520"/>
          </a:xfrm>
          <a:prstGeom prst="ellipse">
            <a:avLst/>
          </a:prstGeom>
          <a:solidFill>
            <a:schemeClr val="tx2"/>
          </a:solidFill>
          <a:ln w="12700">
            <a:solidFill>
              <a:schemeClr val="tx2"/>
            </a:solidFill>
            <a:prstDash val="solid"/>
          </a:ln>
        </p:spPr>
      </p:sp>
      <p:pic>
        <p:nvPicPr>
          <p:cNvPr id="18" name="Image 2" descr="preencoded.png">    </p:cNvPr>
          <p:cNvPicPr>
            <a:picLocks noChangeAspect="1"/>
          </p:cNvPicPr>
          <p:nvPr/>
        </p:nvPicPr>
        <p:blipFill>
          <a:blip r:embed="rId3"/>
          <a:stretch>
            <a:fillRect/>
          </a:stretch>
        </p:blipFill>
        <p:spPr>
          <a:xfrm>
            <a:off x="5920283" y="3664915"/>
            <a:ext cx="351130" cy="351130"/>
          </a:xfrm>
          <a:prstGeom prst="rect">
            <a:avLst/>
          </a:prstGeom>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חינוך לבריאות או קידום בריאות</a:t>
            </a:r>
            <a:endParaRPr lang="he-IL" sz="3000" dirty="0"/>
          </a:p>
        </p:txBody>
      </p:sp>
      <p:sp>
        <p:nvSpPr>
          <p:cNvPr id="3" name="Shape 1"/>
          <p:cNvSpPr/>
          <p:nvPr/>
        </p:nvSpPr>
        <p:spPr>
          <a:xfrm>
            <a:off x="914400" y="2148840"/>
            <a:ext cx="1188720" cy="1188720"/>
          </a:xfrm>
          <a:prstGeom prst="ellipse">
            <a:avLst/>
          </a:prstGeom>
          <a:solidFill>
            <a:schemeClr val="accent3"/>
          </a:solidFill>
          <a:ln w="12700">
            <a:solidFill>
              <a:schemeClr val="accent3"/>
            </a:solidFill>
            <a:prstDash val="solid"/>
          </a:ln>
        </p:spPr>
      </p:sp>
      <p:pic>
        <p:nvPicPr>
          <p:cNvPr id="4" name="Image 0" descr="preencoded.png">    </p:cNvPr>
          <p:cNvPicPr>
            <a:picLocks noChangeAspect="1"/>
          </p:cNvPicPr>
          <p:nvPr/>
        </p:nvPicPr>
        <p:blipFill>
          <a:blip r:embed="rId1"/>
          <a:stretch>
            <a:fillRect/>
          </a:stretch>
        </p:blipFill>
        <p:spPr>
          <a:xfrm>
            <a:off x="1223467" y="2457907"/>
            <a:ext cx="570586" cy="570586"/>
          </a:xfrm>
          <a:prstGeom prst="rect">
            <a:avLst/>
          </a:prstGeom>
        </p:spPr>
      </p:pic>
      <p:sp>
        <p:nvSpPr>
          <p:cNvPr id="5" name="Shape 2"/>
          <p:cNvSpPr/>
          <p:nvPr/>
        </p:nvSpPr>
        <p:spPr>
          <a:xfrm>
            <a:off x="1783080" y="3154680"/>
            <a:ext cx="1188720" cy="1188720"/>
          </a:xfrm>
          <a:prstGeom prst="ellipse">
            <a:avLst/>
          </a:prstGeom>
          <a:solidFill>
            <a:schemeClr val="accent2"/>
          </a:solidFill>
          <a:ln w="38100">
            <a:solidFill>
              <a:schemeClr val="bg1"/>
            </a:solidFill>
            <a:prstDash val="solid"/>
          </a:ln>
        </p:spPr>
      </p:sp>
      <p:pic>
        <p:nvPicPr>
          <p:cNvPr id="6" name="Image 1" descr="preencoded.png">    </p:cNvPr>
          <p:cNvPicPr>
            <a:picLocks noChangeAspect="1"/>
          </p:cNvPicPr>
          <p:nvPr/>
        </p:nvPicPr>
        <p:blipFill>
          <a:blip r:embed="rId2"/>
          <a:stretch>
            <a:fillRect/>
          </a:stretch>
        </p:blipFill>
        <p:spPr>
          <a:xfrm>
            <a:off x="2092147" y="3463747"/>
            <a:ext cx="570586" cy="570586"/>
          </a:xfrm>
          <a:prstGeom prst="rect">
            <a:avLst/>
          </a:prstGeom>
        </p:spPr>
      </p:pic>
      <p:pic>
        <p:nvPicPr>
          <p:cNvPr id="7" name="Image 2" descr="preencoded.png">    </p:cNvPr>
          <p:cNvPicPr>
            <a:picLocks noChangeAspect="1"/>
          </p:cNvPicPr>
          <p:nvPr/>
        </p:nvPicPr>
        <p:blipFill>
          <a:blip r:embed="rId3"/>
          <a:stretch>
            <a:fillRect/>
          </a:stretch>
        </p:blipFill>
        <p:spPr>
          <a:xfrm>
            <a:off x="1554480" y="4572000"/>
            <a:ext cx="548640" cy="548640"/>
          </a:xfrm>
          <a:prstGeom prst="rect">
            <a:avLst/>
          </a:prstGeom>
        </p:spPr>
      </p:pic>
      <p:sp>
        <p:nvSpPr>
          <p:cNvPr id="8" name="Shape 3"/>
          <p:cNvSpPr/>
          <p:nvPr/>
        </p:nvSpPr>
        <p:spPr>
          <a:xfrm>
            <a:off x="3566160" y="1508760"/>
            <a:ext cx="8074152" cy="4343400"/>
          </a:xfrm>
          <a:prstGeom prst="roundRect">
            <a:avLst>
              <a:gd name="adj" fmla="val 2526"/>
            </a:avLst>
          </a:prstGeom>
          <a:solidFill>
            <a:schemeClr val="bg2"/>
          </a:solidFill>
          <a:ln w="12700">
            <a:solidFill>
              <a:schemeClr val="bg2"/>
            </a:solidFill>
            <a:prstDash val="solid"/>
          </a:ln>
        </p:spPr>
      </p:sp>
      <p:sp>
        <p:nvSpPr>
          <p:cNvPr id="9" name="Text 4"/>
          <p:cNvSpPr txBox="1"/>
          <p:nvPr/>
        </p:nvSpPr>
        <p:spPr>
          <a:xfrm>
            <a:off x="3840480" y="1691640"/>
            <a:ext cx="7525512" cy="3474720"/>
          </a:xfrm>
          <a:prstGeom prst="rect">
            <a:avLst/>
          </a:prstGeom>
          <a:noFill/>
          <a:ln/>
        </p:spPr>
        <p:txBody>
          <a:bodyPr wrap="square" lIns="50800" tIns="50800" rIns="50800" bIns="50800" rtlCol="0" anchor="ctr"/>
          <a:lstStyle/>
          <a:p>
            <a:pPr rtl="1" algn="r" indent="0" marL="0">
              <a:lnSpc>
                <a:spcPct val="110000"/>
              </a:lnSpc>
              <a:spcAft>
                <a:spcPts val="1200"/>
              </a:spcAft>
              <a:buNone/>
            </a:pPr>
            <a:r>
              <a:rPr lang="he-IL" altLang="en-US" sz="2200" dirty="0">
                <a:solidFill>
                  <a:schemeClr val="tx1"/>
                </a:solidFill>
                <a:latin typeface="Arial" pitchFamily="34" charset="0"/>
                <a:ea typeface="Arial" pitchFamily="34" charset="-122"/>
                <a:cs typeface="Arial" pitchFamily="34" charset="-120"/>
              </a:rPr>
              <a:t>חינוך לבריאות נותן את המוטיבציה למעורבות של הציבור ולהתחייבות לשינוי חברתי.</a:t>
            </a:r>
            <a:endParaRPr lang="he-IL" sz="2200" dirty="0"/>
          </a:p>
          <a:p>
            <a:pPr rtl="1" algn="r" indent="0" marL="0">
              <a:lnSpc>
                <a:spcPct val="110000"/>
              </a:lnSpc>
              <a:spcAft>
                <a:spcPts val="1200"/>
              </a:spcAft>
              <a:buNone/>
            </a:pPr>
            <a:r>
              <a:rPr lang="he-IL" altLang="en-US" sz="2200" b="1" dirty="0">
                <a:solidFill>
                  <a:schemeClr val="tx2"/>
                </a:solidFill>
                <a:latin typeface="Arial" pitchFamily="34" charset="0"/>
                <a:ea typeface="Arial" pitchFamily="34" charset="-122"/>
                <a:cs typeface="Arial" pitchFamily="34" charset="-120"/>
              </a:rPr>
              <a:t>ללא חינוך לבריאות, קידום בריאות הופך למניפולציה חברתית.</a:t>
            </a:r>
            <a:endParaRPr lang="he-IL" sz="2200" dirty="0"/>
          </a:p>
          <a:p>
            <a:pPr rtl="1" algn="r" indent="0" marL="0">
              <a:lnSpc>
                <a:spcPct val="110000"/>
              </a:lnSpc>
              <a:spcAft>
                <a:spcPts val="1200"/>
              </a:spcAft>
              <a:buNone/>
            </a:pPr>
            <a:r>
              <a:rPr lang="he-IL" altLang="en-US" sz="2200" dirty="0">
                <a:solidFill>
                  <a:schemeClr val="tx1"/>
                </a:solidFill>
                <a:latin typeface="Arial" pitchFamily="34" charset="0"/>
                <a:ea typeface="Arial" pitchFamily="34" charset="-122"/>
                <a:cs typeface="Arial" pitchFamily="34" charset="-120"/>
              </a:rPr>
              <a:t>מאידך, ללא קידום בריאות, נשאר החינוך לבריאות חסר כוח במאמציו לסייע לאנשים להשיג את מטרתם</a:t>
            </a:r>
            <a:endParaRPr lang="he-IL" sz="2200" dirty="0"/>
          </a:p>
        </p:txBody>
      </p:sp>
      <p:sp>
        <p:nvSpPr>
          <p:cNvPr id="10" name="Text 5"/>
          <p:cNvSpPr txBox="1"/>
          <p:nvPr/>
        </p:nvSpPr>
        <p:spPr>
          <a:xfrm>
            <a:off x="3840480" y="5257800"/>
            <a:ext cx="7525512" cy="411480"/>
          </a:xfrm>
          <a:prstGeom prst="rect">
            <a:avLst/>
          </a:prstGeom>
          <a:noFill/>
          <a:ln/>
        </p:spPr>
        <p:txBody>
          <a:bodyPr wrap="square" lIns="50800" tIns="50800" rIns="50800" bIns="50800" rtlCol="0" anchor="t"/>
          <a:lstStyle/>
          <a:p>
            <a:pPr rtl="1" algn="r" indent="0" marL="0">
              <a:buNone/>
            </a:pPr>
            <a:r>
              <a:rPr lang="en-US" altLang="en-US" sz="1600" dirty="0">
                <a:solidFill>
                  <a:schemeClr val="accent1"/>
                </a:solidFill>
                <a:latin typeface="Arial" pitchFamily="34" charset="0"/>
                <a:ea typeface="Arial" pitchFamily="34" charset="-122"/>
                <a:cs typeface="Arial" pitchFamily="34" charset="-120"/>
              </a:rPr>
              <a:t>Green</a:t>
            </a:r>
            <a:endParaRPr lang="en-US" sz="16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accent3"/>
                </a:solidFill>
                <a:latin typeface="Arial" pitchFamily="34" charset="0"/>
                <a:ea typeface="Arial" pitchFamily="34" charset="-122"/>
                <a:cs typeface="Arial" pitchFamily="34" charset="-120"/>
              </a:rPr>
              <a:t>תרגיל 2: </a:t>
            </a:r>
            <a:pPr rtl="1" algn="r" indent="0" marL="0">
              <a:buNone/>
            </a:pPr>
            <a:r>
              <a:rPr lang="he-IL" altLang="en-US" sz="3000" b="1" dirty="0">
                <a:solidFill>
                  <a:schemeClr val="tx2"/>
                </a:solidFill>
                <a:latin typeface="Arial" pitchFamily="34" charset="0"/>
                <a:ea typeface="Arial" pitchFamily="34" charset="-122"/>
                <a:cs typeface="Arial" pitchFamily="34" charset="-120"/>
              </a:rPr>
              <a:t>אתגר בריאותי לאומי - הפחתת שיעורי סוכרת מסוג 2 בפריפריה</a:t>
            </a:r>
            <a:endParaRPr lang="he-IL" sz="3000" dirty="0"/>
          </a:p>
        </p:txBody>
      </p:sp>
      <p:sp>
        <p:nvSpPr>
          <p:cNvPr id="3" name="Text 1"/>
          <p:cNvSpPr txBox="1"/>
          <p:nvPr/>
        </p:nvSpPr>
        <p:spPr>
          <a:xfrm>
            <a:off x="548640" y="1417320"/>
            <a:ext cx="11091672" cy="548640"/>
          </a:xfrm>
          <a:prstGeom prst="rect">
            <a:avLst/>
          </a:prstGeom>
          <a:noFill/>
          <a:ln/>
        </p:spPr>
        <p:txBody>
          <a:bodyPr wrap="square" lIns="50800" tIns="50800" rIns="50800" bIns="50800" rtlCol="0" anchor="ctr"/>
          <a:lstStyle/>
          <a:p>
            <a:pPr rtl="1" algn="r" indent="0" marL="0">
              <a:buNone/>
            </a:pPr>
            <a:r>
              <a:rPr lang="he-IL" altLang="en-US" sz="2000" b="1" dirty="0">
                <a:solidFill>
                  <a:schemeClr val="tx2"/>
                </a:solidFill>
                <a:latin typeface="Arial" pitchFamily="34" charset="0"/>
                <a:ea typeface="Arial" pitchFamily="34" charset="-122"/>
                <a:cs typeface="Arial" pitchFamily="34" charset="-120"/>
              </a:rPr>
              <a:t>על מנת להתמודד עם האתגר, כל קבוצה תתייחס לכל אחד מ- 5 תחומי הפעולה באמנת אוטווה:</a:t>
            </a:r>
            <a:endParaRPr lang="he-IL" sz="2000" dirty="0"/>
          </a:p>
        </p:txBody>
      </p:sp>
      <p:sp>
        <p:nvSpPr>
          <p:cNvPr id="4" name="Shape 2"/>
          <p:cNvSpPr/>
          <p:nvPr/>
        </p:nvSpPr>
        <p:spPr>
          <a:xfrm>
            <a:off x="9585655" y="2240280"/>
            <a:ext cx="2057400" cy="38862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5" name="Text 3"/>
          <p:cNvSpPr/>
          <p:nvPr/>
        </p:nvSpPr>
        <p:spPr>
          <a:xfrm>
            <a:off x="10362895" y="2011680"/>
            <a:ext cx="502920" cy="502920"/>
          </a:xfrm>
          <a:prstGeom prst="ellipse">
            <a:avLst/>
          </a:prstGeom>
          <a:solidFill>
            <a:schemeClr val="accent1"/>
          </a:solidFill>
          <a:ln>
            <a:solidFill>
              <a:schemeClr val="accent1"/>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6" name="Shape 4"/>
          <p:cNvSpPr/>
          <p:nvPr/>
        </p:nvSpPr>
        <p:spPr>
          <a:xfrm>
            <a:off x="10225735" y="2697480"/>
            <a:ext cx="777240" cy="777240"/>
          </a:xfrm>
          <a:prstGeom prst="ellipse">
            <a:avLst/>
          </a:prstGeom>
          <a:solidFill>
            <a:schemeClr val="bg2"/>
          </a:solidFill>
          <a:ln w="12700">
            <a:solidFill>
              <a:schemeClr val="bg2"/>
            </a:solidFill>
            <a:prstDash val="solid"/>
          </a:ln>
        </p:spPr>
      </p:sp>
      <p:pic>
        <p:nvPicPr>
          <p:cNvPr id="7" name="Image 0" descr="preencoded.png">    </p:cNvPr>
          <p:cNvPicPr>
            <a:picLocks noChangeAspect="1"/>
          </p:cNvPicPr>
          <p:nvPr/>
        </p:nvPicPr>
        <p:blipFill>
          <a:blip r:embed="rId1"/>
          <a:stretch>
            <a:fillRect/>
          </a:stretch>
        </p:blipFill>
        <p:spPr>
          <a:xfrm>
            <a:off x="10427818" y="2899562"/>
            <a:ext cx="373075" cy="373075"/>
          </a:xfrm>
          <a:prstGeom prst="rect">
            <a:avLst/>
          </a:prstGeom>
        </p:spPr>
      </p:pic>
      <p:sp>
        <p:nvSpPr>
          <p:cNvPr id="8" name="Text 5"/>
          <p:cNvSpPr txBox="1"/>
          <p:nvPr/>
        </p:nvSpPr>
        <p:spPr>
          <a:xfrm>
            <a:off x="9677095" y="3611880"/>
            <a:ext cx="1874520" cy="2377440"/>
          </a:xfrm>
          <a:prstGeom prst="rect">
            <a:avLst/>
          </a:prstGeom>
          <a:noFill/>
          <a:ln/>
        </p:spPr>
        <p:txBody>
          <a:bodyPr wrap="square" lIns="50800" tIns="50800" rIns="50800" bIns="50800" rtlCol="0" anchor="t"/>
          <a:lstStyle/>
          <a:p>
            <a:pPr rtl="1" algn="ctr" indent="0" marL="0">
              <a:buNone/>
            </a:pPr>
            <a:r>
              <a:rPr lang="he-IL" altLang="en-US" sz="1600" dirty="0">
                <a:solidFill>
                  <a:schemeClr val="tx1"/>
                </a:solidFill>
                <a:latin typeface="Arial" pitchFamily="34" charset="0"/>
                <a:ea typeface="Arial" pitchFamily="34" charset="-122"/>
                <a:cs typeface="Arial" pitchFamily="34" charset="-120"/>
              </a:rPr>
              <a:t>מדיניות ציבורית בריאה</a:t>
            </a:r>
            <a:endParaRPr lang="he-IL" sz="1600" dirty="0"/>
          </a:p>
        </p:txBody>
      </p:sp>
      <p:sp>
        <p:nvSpPr>
          <p:cNvPr id="9" name="Shape 6"/>
          <p:cNvSpPr/>
          <p:nvPr/>
        </p:nvSpPr>
        <p:spPr>
          <a:xfrm>
            <a:off x="7327087" y="2240280"/>
            <a:ext cx="2057400" cy="38862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10" name="Text 7"/>
          <p:cNvSpPr/>
          <p:nvPr/>
        </p:nvSpPr>
        <p:spPr>
          <a:xfrm>
            <a:off x="8104327" y="2011680"/>
            <a:ext cx="502920" cy="502920"/>
          </a:xfrm>
          <a:prstGeom prst="ellipse">
            <a:avLst/>
          </a:prstGeom>
          <a:solidFill>
            <a:schemeClr val="accent2"/>
          </a:solidFill>
          <a:ln>
            <a:solidFill>
              <a:schemeClr val="accent2"/>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11" name="Shape 8"/>
          <p:cNvSpPr/>
          <p:nvPr/>
        </p:nvSpPr>
        <p:spPr>
          <a:xfrm>
            <a:off x="7967167" y="2697480"/>
            <a:ext cx="777240" cy="777240"/>
          </a:xfrm>
          <a:prstGeom prst="ellipse">
            <a:avLst/>
          </a:prstGeom>
          <a:solidFill>
            <a:schemeClr val="bg2"/>
          </a:solidFill>
          <a:ln w="12700">
            <a:solidFill>
              <a:schemeClr val="bg2"/>
            </a:solidFill>
            <a:prstDash val="solid"/>
          </a:ln>
        </p:spPr>
      </p:sp>
      <p:pic>
        <p:nvPicPr>
          <p:cNvPr id="12" name="Image 1" descr="preencoded.png">    </p:cNvPr>
          <p:cNvPicPr>
            <a:picLocks noChangeAspect="1"/>
          </p:cNvPicPr>
          <p:nvPr/>
        </p:nvPicPr>
        <p:blipFill>
          <a:blip r:embed="rId2"/>
          <a:stretch>
            <a:fillRect/>
          </a:stretch>
        </p:blipFill>
        <p:spPr>
          <a:xfrm>
            <a:off x="8169250" y="2899562"/>
            <a:ext cx="373075" cy="373075"/>
          </a:xfrm>
          <a:prstGeom prst="rect">
            <a:avLst/>
          </a:prstGeom>
        </p:spPr>
      </p:pic>
      <p:sp>
        <p:nvSpPr>
          <p:cNvPr id="13" name="Text 9"/>
          <p:cNvSpPr txBox="1"/>
          <p:nvPr/>
        </p:nvSpPr>
        <p:spPr>
          <a:xfrm>
            <a:off x="7418527" y="3611880"/>
            <a:ext cx="1874520" cy="2377440"/>
          </a:xfrm>
          <a:prstGeom prst="rect">
            <a:avLst/>
          </a:prstGeom>
          <a:noFill/>
          <a:ln/>
        </p:spPr>
        <p:txBody>
          <a:bodyPr wrap="square" lIns="50800" tIns="50800" rIns="50800" bIns="50800" rtlCol="0" anchor="t"/>
          <a:lstStyle/>
          <a:p>
            <a:pPr rtl="1" algn="ctr" indent="0" marL="0">
              <a:buNone/>
            </a:pPr>
            <a:r>
              <a:rPr lang="he-IL" altLang="en-US" sz="1600" dirty="0">
                <a:solidFill>
                  <a:schemeClr val="tx1"/>
                </a:solidFill>
                <a:latin typeface="Arial" pitchFamily="34" charset="0"/>
                <a:ea typeface="Arial" pitchFamily="34" charset="-122"/>
                <a:cs typeface="Arial" pitchFamily="34" charset="-120"/>
              </a:rPr>
              <a:t>סביבה תומכת</a:t>
            </a:r>
            <a:endParaRPr lang="he-IL" sz="1600" dirty="0"/>
          </a:p>
        </p:txBody>
      </p:sp>
      <p:sp>
        <p:nvSpPr>
          <p:cNvPr id="14" name="Shape 10"/>
          <p:cNvSpPr/>
          <p:nvPr/>
        </p:nvSpPr>
        <p:spPr>
          <a:xfrm>
            <a:off x="5068519" y="2240280"/>
            <a:ext cx="2057400" cy="38862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15" name="Text 11"/>
          <p:cNvSpPr/>
          <p:nvPr/>
        </p:nvSpPr>
        <p:spPr>
          <a:xfrm>
            <a:off x="5845759" y="2011680"/>
            <a:ext cx="502920" cy="502920"/>
          </a:xfrm>
          <a:prstGeom prst="ellipse">
            <a:avLst/>
          </a:prstGeom>
          <a:solidFill>
            <a:schemeClr val="accent3"/>
          </a:solidFill>
          <a:ln>
            <a:solidFill>
              <a:schemeClr val="accent3"/>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16" name="Shape 12"/>
          <p:cNvSpPr/>
          <p:nvPr/>
        </p:nvSpPr>
        <p:spPr>
          <a:xfrm>
            <a:off x="5708599" y="2697480"/>
            <a:ext cx="777240" cy="777240"/>
          </a:xfrm>
          <a:prstGeom prst="ellipse">
            <a:avLst/>
          </a:prstGeom>
          <a:solidFill>
            <a:schemeClr val="bg2"/>
          </a:solidFill>
          <a:ln w="12700">
            <a:solidFill>
              <a:schemeClr val="bg2"/>
            </a:solidFill>
            <a:prstDash val="solid"/>
          </a:ln>
        </p:spPr>
      </p:sp>
      <p:pic>
        <p:nvPicPr>
          <p:cNvPr id="17" name="Image 2" descr="preencoded.png">    </p:cNvPr>
          <p:cNvPicPr>
            <a:picLocks noChangeAspect="1"/>
          </p:cNvPicPr>
          <p:nvPr/>
        </p:nvPicPr>
        <p:blipFill>
          <a:blip r:embed="rId3"/>
          <a:stretch>
            <a:fillRect/>
          </a:stretch>
        </p:blipFill>
        <p:spPr>
          <a:xfrm>
            <a:off x="5910682" y="2899562"/>
            <a:ext cx="373075" cy="373075"/>
          </a:xfrm>
          <a:prstGeom prst="rect">
            <a:avLst/>
          </a:prstGeom>
        </p:spPr>
      </p:pic>
      <p:sp>
        <p:nvSpPr>
          <p:cNvPr id="18" name="Text 13"/>
          <p:cNvSpPr txBox="1"/>
          <p:nvPr/>
        </p:nvSpPr>
        <p:spPr>
          <a:xfrm>
            <a:off x="5159959" y="3611880"/>
            <a:ext cx="1874520" cy="2377440"/>
          </a:xfrm>
          <a:prstGeom prst="rect">
            <a:avLst/>
          </a:prstGeom>
          <a:noFill/>
          <a:ln/>
        </p:spPr>
        <p:txBody>
          <a:bodyPr wrap="square" lIns="50800" tIns="50800" rIns="50800" bIns="50800" rtlCol="0" anchor="t"/>
          <a:lstStyle/>
          <a:p>
            <a:pPr rtl="1" algn="ctr" indent="0" marL="0">
              <a:buNone/>
            </a:pPr>
            <a:r>
              <a:rPr lang="he-IL" altLang="en-US" sz="1600" dirty="0">
                <a:solidFill>
                  <a:schemeClr val="tx1"/>
                </a:solidFill>
                <a:latin typeface="Arial" pitchFamily="34" charset="0"/>
                <a:ea typeface="Arial" pitchFamily="34" charset="-122"/>
                <a:cs typeface="Arial" pitchFamily="34" charset="-120"/>
              </a:rPr>
              <a:t>חיזוק פעולה קהילתית - לתאר איך הקהילה עצמה לוקחת בעלות על הפרויקט</a:t>
            </a:r>
            <a:endParaRPr lang="he-IL" sz="1600" dirty="0"/>
          </a:p>
        </p:txBody>
      </p:sp>
      <p:sp>
        <p:nvSpPr>
          <p:cNvPr id="19" name="Shape 14"/>
          <p:cNvSpPr/>
          <p:nvPr/>
        </p:nvSpPr>
        <p:spPr>
          <a:xfrm>
            <a:off x="2809951" y="2240280"/>
            <a:ext cx="2057400" cy="38862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20" name="Text 15"/>
          <p:cNvSpPr/>
          <p:nvPr/>
        </p:nvSpPr>
        <p:spPr>
          <a:xfrm>
            <a:off x="3587191" y="2011680"/>
            <a:ext cx="502920" cy="502920"/>
          </a:xfrm>
          <a:prstGeom prst="ellipse">
            <a:avLst/>
          </a:prstGeom>
          <a:solidFill>
            <a:schemeClr val="accent4"/>
          </a:solidFill>
          <a:ln>
            <a:solidFill>
              <a:schemeClr val="accent4"/>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4</a:t>
            </a:r>
            <a:endParaRPr lang="en-US" sz="1800" dirty="0"/>
          </a:p>
        </p:txBody>
      </p:sp>
      <p:sp>
        <p:nvSpPr>
          <p:cNvPr id="21" name="Shape 16"/>
          <p:cNvSpPr/>
          <p:nvPr/>
        </p:nvSpPr>
        <p:spPr>
          <a:xfrm>
            <a:off x="3450031" y="2697480"/>
            <a:ext cx="777240" cy="777240"/>
          </a:xfrm>
          <a:prstGeom prst="ellipse">
            <a:avLst/>
          </a:prstGeom>
          <a:solidFill>
            <a:schemeClr val="bg2"/>
          </a:solidFill>
          <a:ln w="12700">
            <a:solidFill>
              <a:schemeClr val="bg2"/>
            </a:solidFill>
            <a:prstDash val="solid"/>
          </a:ln>
        </p:spPr>
      </p:sp>
      <p:pic>
        <p:nvPicPr>
          <p:cNvPr id="22" name="Image 3" descr="preencoded.png">    </p:cNvPr>
          <p:cNvPicPr>
            <a:picLocks noChangeAspect="1"/>
          </p:cNvPicPr>
          <p:nvPr/>
        </p:nvPicPr>
        <p:blipFill>
          <a:blip r:embed="rId4"/>
          <a:stretch>
            <a:fillRect/>
          </a:stretch>
        </p:blipFill>
        <p:spPr>
          <a:xfrm>
            <a:off x="3652114" y="2899562"/>
            <a:ext cx="373075" cy="373075"/>
          </a:xfrm>
          <a:prstGeom prst="rect">
            <a:avLst/>
          </a:prstGeom>
        </p:spPr>
      </p:pic>
      <p:sp>
        <p:nvSpPr>
          <p:cNvPr id="23" name="Text 17"/>
          <p:cNvSpPr txBox="1"/>
          <p:nvPr/>
        </p:nvSpPr>
        <p:spPr>
          <a:xfrm>
            <a:off x="2901391" y="3611880"/>
            <a:ext cx="1874520" cy="2377440"/>
          </a:xfrm>
          <a:prstGeom prst="rect">
            <a:avLst/>
          </a:prstGeom>
          <a:noFill/>
          <a:ln/>
        </p:spPr>
        <p:txBody>
          <a:bodyPr wrap="square" lIns="50800" tIns="50800" rIns="50800" bIns="50800" rtlCol="0" anchor="t"/>
          <a:lstStyle/>
          <a:p>
            <a:pPr rtl="1" algn="ctr" indent="0" marL="0">
              <a:buNone/>
            </a:pPr>
            <a:r>
              <a:rPr lang="he-IL" altLang="en-US" sz="1600" dirty="0">
                <a:solidFill>
                  <a:schemeClr val="tx1"/>
                </a:solidFill>
                <a:latin typeface="Arial" pitchFamily="34" charset="0"/>
                <a:ea typeface="Arial" pitchFamily="34" charset="-122"/>
                <a:cs typeface="Arial" pitchFamily="34" charset="-120"/>
              </a:rPr>
              <a:t>פיתוח מיומנויות אישיות</a:t>
            </a:r>
            <a:endParaRPr lang="he-IL" sz="1600" dirty="0"/>
          </a:p>
        </p:txBody>
      </p:sp>
      <p:sp>
        <p:nvSpPr>
          <p:cNvPr id="24" name="Shape 18"/>
          <p:cNvSpPr/>
          <p:nvPr/>
        </p:nvSpPr>
        <p:spPr>
          <a:xfrm>
            <a:off x="551383" y="2240280"/>
            <a:ext cx="2057400" cy="38862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25" name="Text 19"/>
          <p:cNvSpPr/>
          <p:nvPr/>
        </p:nvSpPr>
        <p:spPr>
          <a:xfrm>
            <a:off x="1328623" y="2011680"/>
            <a:ext cx="502920" cy="502920"/>
          </a:xfrm>
          <a:prstGeom prst="ellipse">
            <a:avLst/>
          </a:prstGeom>
          <a:solidFill>
            <a:schemeClr val="accent6"/>
          </a:solidFill>
          <a:ln>
            <a:solidFill>
              <a:schemeClr val="accent6"/>
            </a:solidFill>
          </a:ln>
        </p:spPr>
        <p:txBody>
          <a:bodyPr wrap="square" lIns="0" tIns="0" rIns="0" bIns="0" rtlCol="0" anchor="ctr"/>
          <a:lstStyle/>
          <a:p>
            <a:pPr rtl="1" algn="ctr" indent="0" marL="0">
              <a:buNone/>
            </a:pPr>
            <a:r>
              <a:rPr lang="en-US" sz="1800" b="1" dirty="0">
                <a:solidFill>
                  <a:schemeClr val="bg1"/>
                </a:solidFill>
                <a:latin typeface="Arial" pitchFamily="34" charset="0"/>
                <a:ea typeface="Arial" pitchFamily="34" charset="-122"/>
                <a:cs typeface="Arial" pitchFamily="34" charset="-120"/>
              </a:rPr>
              <a:t>5</a:t>
            </a:r>
            <a:endParaRPr lang="en-US" sz="1800" dirty="0"/>
          </a:p>
        </p:txBody>
      </p:sp>
      <p:sp>
        <p:nvSpPr>
          <p:cNvPr id="26" name="Shape 20"/>
          <p:cNvSpPr/>
          <p:nvPr/>
        </p:nvSpPr>
        <p:spPr>
          <a:xfrm>
            <a:off x="1191463" y="2697480"/>
            <a:ext cx="777240" cy="777240"/>
          </a:xfrm>
          <a:prstGeom prst="ellipse">
            <a:avLst/>
          </a:prstGeom>
          <a:solidFill>
            <a:schemeClr val="bg2"/>
          </a:solidFill>
          <a:ln w="12700">
            <a:solidFill>
              <a:schemeClr val="bg2"/>
            </a:solidFill>
            <a:prstDash val="solid"/>
          </a:ln>
        </p:spPr>
      </p:sp>
      <p:pic>
        <p:nvPicPr>
          <p:cNvPr id="27" name="Image 4" descr="preencoded.png">    </p:cNvPr>
          <p:cNvPicPr>
            <a:picLocks noChangeAspect="1"/>
          </p:cNvPicPr>
          <p:nvPr/>
        </p:nvPicPr>
        <p:blipFill>
          <a:blip r:embed="rId5"/>
          <a:stretch>
            <a:fillRect/>
          </a:stretch>
        </p:blipFill>
        <p:spPr>
          <a:xfrm>
            <a:off x="1393546" y="2899562"/>
            <a:ext cx="373075" cy="373075"/>
          </a:xfrm>
          <a:prstGeom prst="rect">
            <a:avLst/>
          </a:prstGeom>
        </p:spPr>
      </p:pic>
      <p:sp>
        <p:nvSpPr>
          <p:cNvPr id="28" name="Text 21"/>
          <p:cNvSpPr txBox="1"/>
          <p:nvPr/>
        </p:nvSpPr>
        <p:spPr>
          <a:xfrm>
            <a:off x="642823" y="3611880"/>
            <a:ext cx="1874520" cy="2377440"/>
          </a:xfrm>
          <a:prstGeom prst="rect">
            <a:avLst/>
          </a:prstGeom>
          <a:noFill/>
          <a:ln/>
        </p:spPr>
        <p:txBody>
          <a:bodyPr wrap="square" lIns="50800" tIns="50800" rIns="50800" bIns="50800" rtlCol="0" anchor="t"/>
          <a:lstStyle/>
          <a:p>
            <a:pPr rtl="1" algn="ctr" indent="0" marL="0">
              <a:buNone/>
            </a:pPr>
            <a:r>
              <a:rPr lang="he-IL" altLang="en-US" sz="1600" dirty="0">
                <a:solidFill>
                  <a:schemeClr val="tx1"/>
                </a:solidFill>
                <a:latin typeface="Arial" pitchFamily="34" charset="0"/>
                <a:ea typeface="Arial" pitchFamily="34" charset="-122"/>
                <a:cs typeface="Arial" pitchFamily="34" charset="-120"/>
              </a:rPr>
              <a:t>הפניית שירותי הבריאות לעבר מניעה ( Reorient Health Services )</a:t>
            </a:r>
            <a:endParaRPr lang="he-IL" sz="1600" dirty="0"/>
          </a:p>
          <a:p>
            <a:pPr rtl="1" algn="ctr" indent="0" marL="0">
              <a:buNone/>
            </a:pPr>
            <a:r>
              <a:rPr lang="he-IL" altLang="en-US" sz="1600" dirty="0">
                <a:solidFill>
                  <a:schemeClr val="tx1"/>
                </a:solidFill>
                <a:latin typeface="Arial" pitchFamily="34" charset="0"/>
                <a:ea typeface="Arial" pitchFamily="34" charset="-122"/>
                <a:cs typeface="Arial" pitchFamily="34" charset="-120"/>
              </a:rPr>
              <a:t>איך לשנות את מערכת הבריאות המקומית?</a:t>
            </a:r>
            <a:endParaRPr lang="he-IL" sz="16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accent3"/>
                </a:solidFill>
                <a:latin typeface="Arial" pitchFamily="34" charset="0"/>
                <a:ea typeface="Arial" pitchFamily="34" charset="-122"/>
                <a:cs typeface="Arial" pitchFamily="34" charset="-120"/>
              </a:rPr>
              <a:t>תרגיל 2: </a:t>
            </a:r>
            <a:pPr rtl="1" algn="r" indent="0" marL="0">
              <a:buNone/>
            </a:pPr>
            <a:r>
              <a:rPr lang="he-IL" altLang="en-US" sz="3000" b="1" dirty="0">
                <a:solidFill>
                  <a:schemeClr val="tx2"/>
                </a:solidFill>
                <a:latin typeface="Arial" pitchFamily="34" charset="0"/>
                <a:ea typeface="Arial" pitchFamily="34" charset="-122"/>
                <a:cs typeface="Arial" pitchFamily="34" charset="-120"/>
              </a:rPr>
              <a:t>אתגר בריאותי לאומי - הפחתת שיעורי סוכרת מסוג 2 בפריפריה - דוגמאות</a:t>
            </a:r>
            <a:endParaRPr lang="he-IL" sz="3000" dirty="0"/>
          </a:p>
        </p:txBody>
      </p:sp>
      <p:sp>
        <p:nvSpPr>
          <p:cNvPr id="3" name="Text 1"/>
          <p:cNvSpPr txBox="1"/>
          <p:nvPr/>
        </p:nvSpPr>
        <p:spPr>
          <a:xfrm>
            <a:off x="548640" y="1371600"/>
            <a:ext cx="11091672" cy="457200"/>
          </a:xfrm>
          <a:prstGeom prst="rect">
            <a:avLst/>
          </a:prstGeom>
          <a:noFill/>
          <a:ln/>
        </p:spPr>
        <p:txBody>
          <a:bodyPr wrap="square" lIns="50800" tIns="50800" rIns="50800" bIns="50800" rtlCol="0" anchor="ctr"/>
          <a:lstStyle/>
          <a:p>
            <a:pPr rtl="1" algn="r" indent="0" marL="0">
              <a:buNone/>
            </a:pPr>
            <a:r>
              <a:rPr lang="he-IL" altLang="en-US" sz="1800" b="1" dirty="0">
                <a:solidFill>
                  <a:schemeClr val="tx2"/>
                </a:solidFill>
                <a:latin typeface="Arial" pitchFamily="34" charset="0"/>
                <a:ea typeface="Arial" pitchFamily="34" charset="-122"/>
                <a:cs typeface="Arial" pitchFamily="34" charset="-120"/>
              </a:rPr>
              <a:t>על מנת להתמודד עם האתגר, כל קבוצה תתייחס לכל אחד מ- 5 תחומי הפעולה באמנת אוטווה:</a:t>
            </a:r>
            <a:endParaRPr lang="he-IL" sz="1800" dirty="0"/>
          </a:p>
        </p:txBody>
      </p:sp>
      <p:sp>
        <p:nvSpPr>
          <p:cNvPr id="4" name="Shape 2"/>
          <p:cNvSpPr/>
          <p:nvPr/>
        </p:nvSpPr>
        <p:spPr>
          <a:xfrm>
            <a:off x="548640" y="1874520"/>
            <a:ext cx="11091672" cy="777240"/>
          </a:xfrm>
          <a:prstGeom prst="roundRect">
            <a:avLst>
              <a:gd name="adj" fmla="val 14118"/>
            </a:avLst>
          </a:prstGeom>
          <a:solidFill>
            <a:schemeClr val="bg1"/>
          </a:solidFill>
          <a:ln w="12700">
            <a:solidFill>
              <a:schemeClr val="bg1"/>
            </a:solidFill>
            <a:prstDash val="solid"/>
          </a:ln>
        </p:spPr>
      </p:sp>
      <p:sp>
        <p:nvSpPr>
          <p:cNvPr id="5" name="Text 3"/>
          <p:cNvSpPr/>
          <p:nvPr/>
        </p:nvSpPr>
        <p:spPr>
          <a:xfrm>
            <a:off x="11018520" y="2039112"/>
            <a:ext cx="457200" cy="457200"/>
          </a:xfrm>
          <a:prstGeom prst="ellipse">
            <a:avLst/>
          </a:prstGeom>
          <a:solidFill>
            <a:schemeClr val="accent1"/>
          </a:solidFill>
          <a:ln>
            <a:solidFill>
              <a:schemeClr val="accent1"/>
            </a:solidFill>
          </a:ln>
        </p:spPr>
        <p:txBody>
          <a:bodyPr wrap="square" lIns="0" tIns="0" rIns="0" bIns="0" rtlCol="0" anchor="ctr"/>
          <a:lstStyle/>
          <a:p>
            <a:pPr rtl="1" algn="ctr" indent="0" marL="0">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685800" y="1874520"/>
            <a:ext cx="10195560" cy="777240"/>
          </a:xfrm>
          <a:prstGeom prst="rect">
            <a:avLst/>
          </a:prstGeom>
          <a:noFill/>
          <a:ln/>
        </p:spPr>
        <p:txBody>
          <a:bodyPr wrap="square" lIns="50800" tIns="50800" rIns="50800" bIns="50800" rtlCol="0" anchor="ctr"/>
          <a:lstStyle/>
          <a:p>
            <a:pPr rtl="1" algn="r" indent="0" marL="0">
              <a:buNone/>
            </a:pPr>
            <a:r>
              <a:rPr lang="he-IL" altLang="en-US" sz="1500" b="1" dirty="0">
                <a:solidFill>
                  <a:schemeClr val="tx2"/>
                </a:solidFill>
                <a:latin typeface="Arial" pitchFamily="34" charset="0"/>
                <a:ea typeface="Arial" pitchFamily="34" charset="-122"/>
                <a:cs typeface="Arial" pitchFamily="34" charset="-120"/>
              </a:rPr>
              <a:t>מדיניות ציבורית בריאה</a:t>
            </a:r>
            <a:pPr rtl="1" algn="r" indent="0" marL="0">
              <a:buNone/>
            </a:pPr>
            <a:r>
              <a:rPr lang="he-IL" altLang="en-US" sz="1500" dirty="0">
                <a:solidFill>
                  <a:schemeClr val="tx1"/>
                </a:solidFill>
                <a:latin typeface="Arial" pitchFamily="34" charset="0"/>
                <a:ea typeface="Arial" pitchFamily="34" charset="-122"/>
                <a:cs typeface="Arial" pitchFamily="34" charset="-120"/>
              </a:rPr>
              <a:t> - חוק מיסוי משקאות ממותקים, הכרה בשעות אימון גופני כשעות עבודה, כיבוד בריא בישיבות ובארועים של הרשות, הנחה בארנונה לקיוסקים במוסדות חינוך שמספקים מזון בריא...</a:t>
            </a:r>
            <a:endParaRPr lang="he-IL" sz="1500" dirty="0"/>
          </a:p>
        </p:txBody>
      </p:sp>
      <p:sp>
        <p:nvSpPr>
          <p:cNvPr id="7" name="Shape 5"/>
          <p:cNvSpPr/>
          <p:nvPr/>
        </p:nvSpPr>
        <p:spPr>
          <a:xfrm>
            <a:off x="548640" y="2761488"/>
            <a:ext cx="11091672" cy="777240"/>
          </a:xfrm>
          <a:prstGeom prst="roundRect">
            <a:avLst>
              <a:gd name="adj" fmla="val 14118"/>
            </a:avLst>
          </a:prstGeom>
          <a:solidFill>
            <a:schemeClr val="bg1"/>
          </a:solidFill>
          <a:ln w="12700">
            <a:solidFill>
              <a:schemeClr val="bg1"/>
            </a:solidFill>
            <a:prstDash val="solid"/>
          </a:ln>
        </p:spPr>
      </p:sp>
      <p:sp>
        <p:nvSpPr>
          <p:cNvPr id="8" name="Text 6"/>
          <p:cNvSpPr/>
          <p:nvPr/>
        </p:nvSpPr>
        <p:spPr>
          <a:xfrm>
            <a:off x="11018520" y="2926080"/>
            <a:ext cx="457200" cy="457200"/>
          </a:xfrm>
          <a:prstGeom prst="ellipse">
            <a:avLst/>
          </a:prstGeom>
          <a:solidFill>
            <a:schemeClr val="accent2"/>
          </a:solidFill>
          <a:ln>
            <a:solidFill>
              <a:schemeClr val="accent2"/>
            </a:solidFill>
          </a:ln>
        </p:spPr>
        <p:txBody>
          <a:bodyPr wrap="square" lIns="0" tIns="0" rIns="0" bIns="0" rtlCol="0" anchor="ctr"/>
          <a:lstStyle/>
          <a:p>
            <a:pPr rtl="1" algn="ctr" indent="0" marL="0">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685800" y="2761488"/>
            <a:ext cx="10195560" cy="777240"/>
          </a:xfrm>
          <a:prstGeom prst="rect">
            <a:avLst/>
          </a:prstGeom>
          <a:noFill/>
          <a:ln/>
        </p:spPr>
        <p:txBody>
          <a:bodyPr wrap="square" lIns="50800" tIns="50800" rIns="50800" bIns="50800" rtlCol="0" anchor="ctr"/>
          <a:lstStyle/>
          <a:p>
            <a:pPr rtl="1" algn="r" indent="0" marL="0">
              <a:buNone/>
            </a:pPr>
            <a:r>
              <a:rPr lang="he-IL" altLang="en-US" sz="1500" b="1" dirty="0">
                <a:solidFill>
                  <a:schemeClr val="tx2"/>
                </a:solidFill>
                <a:latin typeface="Arial" pitchFamily="34" charset="0"/>
                <a:ea typeface="Arial" pitchFamily="34" charset="-122"/>
                <a:cs typeface="Arial" pitchFamily="34" charset="-120"/>
              </a:rPr>
              <a:t>סביבה תומכת</a:t>
            </a:r>
            <a:pPr rtl="1" algn="r" indent="0" marL="0">
              <a:buNone/>
            </a:pPr>
            <a:r>
              <a:rPr lang="he-IL" altLang="en-US" sz="1500" dirty="0">
                <a:solidFill>
                  <a:schemeClr val="tx1"/>
                </a:solidFill>
                <a:latin typeface="Arial" pitchFamily="34" charset="0"/>
                <a:ea typeface="Arial" pitchFamily="34" charset="-122"/>
                <a:cs typeface="Arial" pitchFamily="34" charset="-120"/>
              </a:rPr>
              <a:t> - עמדות חלוקת ירקות ופירות של לקט ישראל בבתי ספר בשכונות מצוקה, גינות קהילתיות, סימון בחזית האריזה...</a:t>
            </a:r>
            <a:endParaRPr lang="he-IL" sz="1500" dirty="0"/>
          </a:p>
        </p:txBody>
      </p:sp>
      <p:sp>
        <p:nvSpPr>
          <p:cNvPr id="10" name="Shape 8"/>
          <p:cNvSpPr/>
          <p:nvPr/>
        </p:nvSpPr>
        <p:spPr>
          <a:xfrm>
            <a:off x="548640" y="3648456"/>
            <a:ext cx="11091672" cy="777240"/>
          </a:xfrm>
          <a:prstGeom prst="roundRect">
            <a:avLst>
              <a:gd name="adj" fmla="val 14118"/>
            </a:avLst>
          </a:prstGeom>
          <a:solidFill>
            <a:schemeClr val="bg1"/>
          </a:solidFill>
          <a:ln w="12700">
            <a:solidFill>
              <a:schemeClr val="bg1"/>
            </a:solidFill>
            <a:prstDash val="solid"/>
          </a:ln>
        </p:spPr>
      </p:sp>
      <p:sp>
        <p:nvSpPr>
          <p:cNvPr id="11" name="Text 9"/>
          <p:cNvSpPr/>
          <p:nvPr/>
        </p:nvSpPr>
        <p:spPr>
          <a:xfrm>
            <a:off x="11018520" y="3813048"/>
            <a:ext cx="457200" cy="457200"/>
          </a:xfrm>
          <a:prstGeom prst="ellipse">
            <a:avLst/>
          </a:prstGeom>
          <a:solidFill>
            <a:schemeClr val="accent3"/>
          </a:solidFill>
          <a:ln>
            <a:solidFill>
              <a:schemeClr val="accent3"/>
            </a:solidFill>
          </a:ln>
        </p:spPr>
        <p:txBody>
          <a:bodyPr wrap="square" lIns="0" tIns="0" rIns="0" bIns="0" rtlCol="0" anchor="ctr"/>
          <a:lstStyle/>
          <a:p>
            <a:pPr rtl="1" algn="ctr" indent="0" marL="0">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685800" y="3648456"/>
            <a:ext cx="10195560" cy="777240"/>
          </a:xfrm>
          <a:prstGeom prst="rect">
            <a:avLst/>
          </a:prstGeom>
          <a:noFill/>
          <a:ln/>
        </p:spPr>
        <p:txBody>
          <a:bodyPr wrap="square" lIns="50800" tIns="50800" rIns="50800" bIns="50800" rtlCol="0" anchor="ctr"/>
          <a:lstStyle/>
          <a:p>
            <a:pPr rtl="1" algn="r" indent="0" marL="0">
              <a:buNone/>
            </a:pPr>
            <a:r>
              <a:rPr lang="he-IL" altLang="en-US" sz="1500" b="1" dirty="0">
                <a:solidFill>
                  <a:schemeClr val="tx2"/>
                </a:solidFill>
                <a:latin typeface="Arial" pitchFamily="34" charset="0"/>
                <a:ea typeface="Arial" pitchFamily="34" charset="-122"/>
                <a:cs typeface="Arial" pitchFamily="34" charset="-120"/>
              </a:rPr>
              <a:t>חיזוק פעולה קהילתית</a:t>
            </a:r>
            <a:pPr rtl="1" algn="r" indent="0" marL="0">
              <a:buNone/>
            </a:pPr>
            <a:r>
              <a:rPr lang="he-IL" altLang="en-US" sz="1500" dirty="0">
                <a:solidFill>
                  <a:schemeClr val="tx1"/>
                </a:solidFill>
                <a:latin typeface="Arial" pitchFamily="34" charset="0"/>
                <a:ea typeface="Arial" pitchFamily="34" charset="-122"/>
                <a:cs typeface="Arial" pitchFamily="34" charset="-120"/>
              </a:rPr>
              <a:t> - ועדת בריאות יישובית הכוללת נציגות תושבים, הדרכות קבוצות מתנדבים להוות סוכני שינוי בקהילה....</a:t>
            </a:r>
            <a:endParaRPr lang="he-IL" sz="1500" dirty="0"/>
          </a:p>
        </p:txBody>
      </p:sp>
      <p:sp>
        <p:nvSpPr>
          <p:cNvPr id="13" name="Shape 11"/>
          <p:cNvSpPr/>
          <p:nvPr/>
        </p:nvSpPr>
        <p:spPr>
          <a:xfrm>
            <a:off x="548640" y="4535424"/>
            <a:ext cx="11091672" cy="777240"/>
          </a:xfrm>
          <a:prstGeom prst="roundRect">
            <a:avLst>
              <a:gd name="adj" fmla="val 14118"/>
            </a:avLst>
          </a:prstGeom>
          <a:solidFill>
            <a:schemeClr val="bg1"/>
          </a:solidFill>
          <a:ln w="12700">
            <a:solidFill>
              <a:schemeClr val="bg1"/>
            </a:solidFill>
            <a:prstDash val="solid"/>
          </a:ln>
        </p:spPr>
      </p:sp>
      <p:sp>
        <p:nvSpPr>
          <p:cNvPr id="14" name="Text 12"/>
          <p:cNvSpPr/>
          <p:nvPr/>
        </p:nvSpPr>
        <p:spPr>
          <a:xfrm>
            <a:off x="11018520" y="4700016"/>
            <a:ext cx="457200" cy="457200"/>
          </a:xfrm>
          <a:prstGeom prst="ellipse">
            <a:avLst/>
          </a:prstGeom>
          <a:solidFill>
            <a:schemeClr val="accent4"/>
          </a:solidFill>
          <a:ln>
            <a:solidFill>
              <a:schemeClr val="accent4"/>
            </a:solidFill>
          </a:ln>
        </p:spPr>
        <p:txBody>
          <a:bodyPr wrap="square" lIns="0" tIns="0" rIns="0" bIns="0" rtlCol="0" anchor="ctr"/>
          <a:lstStyle/>
          <a:p>
            <a:pPr rtl="1" algn="ctr" indent="0" marL="0">
              <a:buNone/>
            </a:pPr>
            <a:r>
              <a:rPr lang="en-US" sz="1600" b="1" dirty="0">
                <a:solidFill>
                  <a:schemeClr val="bg1"/>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685800" y="4535424"/>
            <a:ext cx="10195560" cy="777240"/>
          </a:xfrm>
          <a:prstGeom prst="rect">
            <a:avLst/>
          </a:prstGeom>
          <a:noFill/>
          <a:ln/>
        </p:spPr>
        <p:txBody>
          <a:bodyPr wrap="square" lIns="50800" tIns="50800" rIns="50800" bIns="50800" rtlCol="0" anchor="ctr"/>
          <a:lstStyle/>
          <a:p>
            <a:pPr rtl="1" algn="r" indent="0" marL="0">
              <a:buNone/>
            </a:pPr>
            <a:r>
              <a:rPr lang="he-IL" altLang="en-US" sz="1500" b="1" dirty="0">
                <a:solidFill>
                  <a:schemeClr val="tx2"/>
                </a:solidFill>
                <a:latin typeface="Arial" pitchFamily="34" charset="0"/>
                <a:ea typeface="Arial" pitchFamily="34" charset="-122"/>
                <a:cs typeface="Arial" pitchFamily="34" charset="-120"/>
              </a:rPr>
              <a:t>פיתוח מיומנויות אישיות</a:t>
            </a:r>
            <a:pPr rtl="1" algn="r" indent="0" marL="0">
              <a:buNone/>
            </a:pPr>
            <a:r>
              <a:rPr lang="he-IL" altLang="en-US" sz="1500" dirty="0">
                <a:solidFill>
                  <a:schemeClr val="tx1"/>
                </a:solidFill>
                <a:latin typeface="Arial" pitchFamily="34" charset="0"/>
                <a:ea typeface="Arial" pitchFamily="34" charset="-122"/>
                <a:cs typeface="Arial" pitchFamily="34" charset="-120"/>
              </a:rPr>
              <a:t> – הפקת והפצת סרטונים במדיה חברתית, סדנאות בישול בריא לצוותי חינוך...</a:t>
            </a:r>
            <a:endParaRPr lang="he-IL" sz="1500" dirty="0"/>
          </a:p>
        </p:txBody>
      </p:sp>
      <p:sp>
        <p:nvSpPr>
          <p:cNvPr id="16" name="Shape 14"/>
          <p:cNvSpPr/>
          <p:nvPr/>
        </p:nvSpPr>
        <p:spPr>
          <a:xfrm>
            <a:off x="548640" y="5422392"/>
            <a:ext cx="11091672" cy="777240"/>
          </a:xfrm>
          <a:prstGeom prst="roundRect">
            <a:avLst>
              <a:gd name="adj" fmla="val 14118"/>
            </a:avLst>
          </a:prstGeom>
          <a:solidFill>
            <a:schemeClr val="bg1"/>
          </a:solidFill>
          <a:ln w="12700">
            <a:solidFill>
              <a:schemeClr val="bg1"/>
            </a:solidFill>
            <a:prstDash val="solid"/>
          </a:ln>
        </p:spPr>
      </p:sp>
      <p:sp>
        <p:nvSpPr>
          <p:cNvPr id="17" name="Text 15"/>
          <p:cNvSpPr/>
          <p:nvPr/>
        </p:nvSpPr>
        <p:spPr>
          <a:xfrm>
            <a:off x="11018520" y="5586984"/>
            <a:ext cx="457200" cy="457200"/>
          </a:xfrm>
          <a:prstGeom prst="ellipse">
            <a:avLst/>
          </a:prstGeom>
          <a:solidFill>
            <a:schemeClr val="accent6"/>
          </a:solidFill>
          <a:ln>
            <a:solidFill>
              <a:schemeClr val="accent6"/>
            </a:solidFill>
          </a:ln>
        </p:spPr>
        <p:txBody>
          <a:bodyPr wrap="square" lIns="0" tIns="0" rIns="0" bIns="0" rtlCol="0" anchor="ctr"/>
          <a:lstStyle/>
          <a:p>
            <a:pPr rtl="1" algn="ctr" indent="0" marL="0">
              <a:buNone/>
            </a:pPr>
            <a:r>
              <a:rPr lang="en-US" sz="1600" b="1" dirty="0">
                <a:solidFill>
                  <a:schemeClr val="bg1"/>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685800" y="5422392"/>
            <a:ext cx="10195560" cy="777240"/>
          </a:xfrm>
          <a:prstGeom prst="rect">
            <a:avLst/>
          </a:prstGeom>
          <a:noFill/>
          <a:ln/>
        </p:spPr>
        <p:txBody>
          <a:bodyPr wrap="square" lIns="50800" tIns="50800" rIns="50800" bIns="50800" rtlCol="0" anchor="ctr"/>
          <a:lstStyle/>
          <a:p>
            <a:pPr rtl="1" algn="r" indent="0" marL="0">
              <a:buNone/>
            </a:pPr>
            <a:r>
              <a:rPr lang="he-IL" altLang="en-US" sz="1500" b="1" dirty="0">
                <a:solidFill>
                  <a:schemeClr val="tx2"/>
                </a:solidFill>
                <a:latin typeface="Arial" pitchFamily="34" charset="0"/>
                <a:ea typeface="Arial" pitchFamily="34" charset="-122"/>
                <a:cs typeface="Arial" pitchFamily="34" charset="-120"/>
              </a:rPr>
              <a:t>הפניית שירותי הבריאות לעבר מניעה ( Reorient Health Services )</a:t>
            </a:r>
            <a:endParaRPr lang="he-IL" sz="1500" dirty="0"/>
          </a:p>
          <a:p>
            <a:pPr rtl="1" algn="r" indent="0" marL="0">
              <a:buNone/>
            </a:pPr>
            <a:r>
              <a:rPr lang="he-IL" altLang="en-US" sz="1500" dirty="0">
                <a:solidFill>
                  <a:schemeClr val="tx1"/>
                </a:solidFill>
                <a:latin typeface="Arial" pitchFamily="34" charset="0"/>
                <a:ea typeface="Arial" pitchFamily="34" charset="-122"/>
                <a:cs typeface="Arial" pitchFamily="34" charset="-120"/>
              </a:rPr>
              <a:t>- שותפות קופ"ח בפעילות קידום בריאות של הרשות, הכשרת רופאי.אות משפחה לקידום בריאות...</a:t>
            </a:r>
            <a:endParaRPr lang="he-IL" sz="15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ההבדל בין בריאות הציבור לקליניקה</a:t>
            </a:r>
            <a:endParaRPr lang="he-IL" sz="3000" dirty="0"/>
          </a:p>
        </p:txBody>
      </p:sp>
      <p:sp>
        <p:nvSpPr>
          <p:cNvPr id="3" name="Shape 1"/>
          <p:cNvSpPr/>
          <p:nvPr/>
        </p:nvSpPr>
        <p:spPr>
          <a:xfrm>
            <a:off x="2011680" y="1828800"/>
            <a:ext cx="8165592" cy="1371600"/>
          </a:xfrm>
          <a:prstGeom prst="roundRect">
            <a:avLst>
              <a:gd name="adj" fmla="val 13333"/>
            </a:avLst>
          </a:prstGeom>
          <a:solidFill>
            <a:schemeClr val="accent2"/>
          </a:solidFill>
          <a:ln/>
          <a:effectLst>
            <a:outerShdw sx="100000" sy="100000" kx="0" ky="0" algn="bl" rotWithShape="0" blurRad="101600" dist="25400" dir="5400000">
              <a:srgbClr val="0F4C5C">
                <a:alpha val="14000"/>
              </a:srgbClr>
            </a:outerShdw>
          </a:effectLst>
        </p:spPr>
      </p:sp>
      <p:sp>
        <p:nvSpPr>
          <p:cNvPr id="4" name="Shape 2"/>
          <p:cNvSpPr/>
          <p:nvPr/>
        </p:nvSpPr>
        <p:spPr>
          <a:xfrm>
            <a:off x="8915400" y="2057400"/>
            <a:ext cx="914400" cy="914400"/>
          </a:xfrm>
          <a:prstGeom prst="ellipse">
            <a:avLst/>
          </a:prstGeom>
          <a:solidFill>
            <a:schemeClr val="bg1"/>
          </a:solidFill>
          <a:ln w="12700">
            <a:solidFill>
              <a:schemeClr val="bg1"/>
            </a:solidFill>
            <a:prstDash val="solid"/>
          </a:ln>
        </p:spPr>
      </p:sp>
      <p:pic>
        <p:nvPicPr>
          <p:cNvPr id="5" name="Image 0" descr="preencoded.png">    </p:cNvPr>
          <p:cNvPicPr>
            <a:picLocks noChangeAspect="1"/>
          </p:cNvPicPr>
          <p:nvPr/>
        </p:nvPicPr>
        <p:blipFill>
          <a:blip r:embed="rId1"/>
          <a:stretch>
            <a:fillRect/>
          </a:stretch>
        </p:blipFill>
        <p:spPr>
          <a:xfrm>
            <a:off x="9153144" y="2295144"/>
            <a:ext cx="438912" cy="438912"/>
          </a:xfrm>
          <a:prstGeom prst="rect">
            <a:avLst/>
          </a:prstGeom>
        </p:spPr>
      </p:pic>
      <p:sp>
        <p:nvSpPr>
          <p:cNvPr id="6" name="Text 3"/>
          <p:cNvSpPr txBox="1"/>
          <p:nvPr/>
        </p:nvSpPr>
        <p:spPr>
          <a:xfrm>
            <a:off x="2286000" y="1828800"/>
            <a:ext cx="6400800" cy="1371600"/>
          </a:xfrm>
          <a:prstGeom prst="rect">
            <a:avLst/>
          </a:prstGeom>
          <a:noFill/>
          <a:ln/>
        </p:spPr>
        <p:txBody>
          <a:bodyPr wrap="square" lIns="50800" tIns="50800" rIns="50800" bIns="50800" rtlCol="0" anchor="ctr"/>
          <a:lstStyle/>
          <a:p>
            <a:pPr rtl="1" algn="ctr" indent="0" marL="0">
              <a:buNone/>
            </a:pPr>
            <a:r>
              <a:rPr lang="he-IL" altLang="en-US" sz="3200" b="1" dirty="0">
                <a:solidFill>
                  <a:schemeClr val="bg1"/>
                </a:solidFill>
                <a:latin typeface="Arial" pitchFamily="34" charset="0"/>
                <a:ea typeface="Arial" pitchFamily="34" charset="-122"/>
                <a:cs typeface="Arial" pitchFamily="34" charset="-120"/>
              </a:rPr>
              <a:t>ה"מטופל" = הקהילה</a:t>
            </a:r>
            <a:endParaRPr lang="he-IL" sz="3200" dirty="0"/>
          </a:p>
        </p:txBody>
      </p:sp>
      <p:sp>
        <p:nvSpPr>
          <p:cNvPr id="7" name="Shape 4"/>
          <p:cNvSpPr/>
          <p:nvPr/>
        </p:nvSpPr>
        <p:spPr>
          <a:xfrm>
            <a:off x="2011680" y="3520440"/>
            <a:ext cx="8165592" cy="1371600"/>
          </a:xfrm>
          <a:prstGeom prst="roundRect">
            <a:avLst>
              <a:gd name="adj" fmla="val 13333"/>
            </a:avLst>
          </a:prstGeom>
          <a:solidFill>
            <a:schemeClr val="accent1"/>
          </a:solidFill>
          <a:ln/>
          <a:effectLst>
            <a:outerShdw sx="100000" sy="100000" kx="0" ky="0" algn="bl" rotWithShape="0" blurRad="101600" dist="25400" dir="5400000">
              <a:srgbClr val="0F4C5C">
                <a:alpha val="14000"/>
              </a:srgbClr>
            </a:outerShdw>
          </a:effectLst>
        </p:spPr>
      </p:sp>
      <p:sp>
        <p:nvSpPr>
          <p:cNvPr id="8" name="Shape 5"/>
          <p:cNvSpPr/>
          <p:nvPr/>
        </p:nvSpPr>
        <p:spPr>
          <a:xfrm>
            <a:off x="8915400" y="3749040"/>
            <a:ext cx="914400" cy="914400"/>
          </a:xfrm>
          <a:prstGeom prst="ellipse">
            <a:avLst/>
          </a:prstGeom>
          <a:solidFill>
            <a:schemeClr val="bg1"/>
          </a:solidFill>
          <a:ln w="12700">
            <a:solidFill>
              <a:schemeClr val="bg1"/>
            </a:solidFill>
            <a:prstDash val="solid"/>
          </a:ln>
        </p:spPr>
      </p:sp>
      <p:pic>
        <p:nvPicPr>
          <p:cNvPr id="9" name="Image 1" descr="preencoded.png">    </p:cNvPr>
          <p:cNvPicPr>
            <a:picLocks noChangeAspect="1"/>
          </p:cNvPicPr>
          <p:nvPr/>
        </p:nvPicPr>
        <p:blipFill>
          <a:blip r:embed="rId2"/>
          <a:stretch>
            <a:fillRect/>
          </a:stretch>
        </p:blipFill>
        <p:spPr>
          <a:xfrm>
            <a:off x="9153144" y="3986784"/>
            <a:ext cx="438912" cy="438912"/>
          </a:xfrm>
          <a:prstGeom prst="rect">
            <a:avLst/>
          </a:prstGeom>
        </p:spPr>
      </p:pic>
      <p:sp>
        <p:nvSpPr>
          <p:cNvPr id="10" name="Text 6"/>
          <p:cNvSpPr txBox="1"/>
          <p:nvPr/>
        </p:nvSpPr>
        <p:spPr>
          <a:xfrm>
            <a:off x="2286000" y="3520440"/>
            <a:ext cx="6400800" cy="1371600"/>
          </a:xfrm>
          <a:prstGeom prst="rect">
            <a:avLst/>
          </a:prstGeom>
          <a:noFill/>
          <a:ln/>
        </p:spPr>
        <p:txBody>
          <a:bodyPr wrap="square" lIns="50800" tIns="50800" rIns="50800" bIns="50800" rtlCol="0" anchor="ctr"/>
          <a:lstStyle/>
          <a:p>
            <a:pPr rtl="1" algn="ctr" indent="0" marL="0">
              <a:buNone/>
            </a:pPr>
            <a:r>
              <a:rPr lang="he-IL" altLang="en-US" sz="2400" b="1" dirty="0">
                <a:solidFill>
                  <a:schemeClr val="bg1"/>
                </a:solidFill>
                <a:latin typeface="Arial" pitchFamily="34" charset="0"/>
                <a:ea typeface="Arial" pitchFamily="34" charset="-122"/>
                <a:cs typeface="Arial" pitchFamily="34" charset="-120"/>
              </a:rPr>
              <a:t>מתמקדים באוכלוסייה, בעודה בריאה ולא בפרטים חולים</a:t>
            </a:r>
            <a:endParaRPr lang="he-IL" sz="24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תזונה בבריאות הציבור:</a:t>
            </a:r>
            <a:endParaRPr lang="he-IL" sz="3000" dirty="0"/>
          </a:p>
        </p:txBody>
      </p:sp>
      <p:sp>
        <p:nvSpPr>
          <p:cNvPr id="3" name="Shape 1"/>
          <p:cNvSpPr/>
          <p:nvPr/>
        </p:nvSpPr>
        <p:spPr>
          <a:xfrm>
            <a:off x="548640" y="1463040"/>
            <a:ext cx="11091672" cy="1828800"/>
          </a:xfrm>
          <a:prstGeom prst="roundRect">
            <a:avLst>
              <a:gd name="adj" fmla="val 6000"/>
            </a:avLst>
          </a:prstGeom>
          <a:solidFill>
            <a:schemeClr val="bg2"/>
          </a:solidFill>
          <a:ln w="12700">
            <a:solidFill>
              <a:schemeClr val="bg2"/>
            </a:solidFill>
            <a:prstDash val="solid"/>
          </a:ln>
        </p:spPr>
      </p:sp>
      <p:sp>
        <p:nvSpPr>
          <p:cNvPr id="4" name="Shape 2"/>
          <p:cNvSpPr/>
          <p:nvPr/>
        </p:nvSpPr>
        <p:spPr>
          <a:xfrm>
            <a:off x="10607040" y="1938528"/>
            <a:ext cx="868680" cy="86868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10832897" y="2164385"/>
            <a:ext cx="416966" cy="416966"/>
          </a:xfrm>
          <a:prstGeom prst="rect">
            <a:avLst/>
          </a:prstGeom>
        </p:spPr>
      </p:pic>
      <p:sp>
        <p:nvSpPr>
          <p:cNvPr id="6" name="Text 3"/>
          <p:cNvSpPr txBox="1"/>
          <p:nvPr/>
        </p:nvSpPr>
        <p:spPr>
          <a:xfrm>
            <a:off x="822960" y="1508760"/>
            <a:ext cx="9601200" cy="173736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יישום עקרונות תזונתיים ועקרונות של בריאות הציבור ליצירת תכניות, מערכות, מדיניות וסביבה מוכוונות לשיפור מצב בריאות מייטבי של אוכלוסיות וקבוצות יעד ולשימורו.</a:t>
            </a:r>
            <a:endParaRPr lang="he-IL" sz="2200" dirty="0"/>
          </a:p>
        </p:txBody>
      </p:sp>
      <p:sp>
        <p:nvSpPr>
          <p:cNvPr id="7" name="Shape 4"/>
          <p:cNvSpPr/>
          <p:nvPr/>
        </p:nvSpPr>
        <p:spPr>
          <a:xfrm>
            <a:off x="548640" y="3520440"/>
            <a:ext cx="11091672" cy="1508760"/>
          </a:xfrm>
          <a:prstGeom prst="roundRect">
            <a:avLst>
              <a:gd name="adj" fmla="val 7273"/>
            </a:avLst>
          </a:prstGeom>
          <a:solidFill>
            <a:schemeClr val="bg2"/>
          </a:solidFill>
          <a:ln w="12700">
            <a:solidFill>
              <a:schemeClr val="bg2"/>
            </a:solidFill>
            <a:prstDash val="solid"/>
          </a:ln>
        </p:spPr>
      </p:sp>
      <p:sp>
        <p:nvSpPr>
          <p:cNvPr id="8" name="Shape 5"/>
          <p:cNvSpPr/>
          <p:nvPr/>
        </p:nvSpPr>
        <p:spPr>
          <a:xfrm>
            <a:off x="10607040" y="3840480"/>
            <a:ext cx="868680" cy="868680"/>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10832897" y="4066337"/>
            <a:ext cx="416966" cy="416966"/>
          </a:xfrm>
          <a:prstGeom prst="rect">
            <a:avLst/>
          </a:prstGeom>
        </p:spPr>
      </p:pic>
      <p:sp>
        <p:nvSpPr>
          <p:cNvPr id="10" name="Text 6"/>
          <p:cNvSpPr txBox="1"/>
          <p:nvPr/>
        </p:nvSpPr>
        <p:spPr>
          <a:xfrm>
            <a:off x="822960" y="3566160"/>
            <a:ext cx="9601200" cy="141732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התערבויות תזונתיות קהילתיות מביאות לשינויים בידע, עמדות, התנהגות ותוצאי בריאות בפרטים, משפחות או קבוצות בקהילה.</a:t>
            </a:r>
            <a:endParaRPr lang="he-IL" sz="2200" dirty="0"/>
          </a:p>
        </p:txBody>
      </p:sp>
      <p:sp>
        <p:nvSpPr>
          <p:cNvPr id="11" name="Text 7">
            <a:hlinkClick r:id="rId3" tooltip=""/>
          </p:cNvPr>
          <p:cNvSpPr/>
          <p:nvPr/>
        </p:nvSpPr>
        <p:spPr>
          <a:xfrm>
            <a:off x="548640" y="5349240"/>
            <a:ext cx="11091672" cy="411480"/>
          </a:xfrm>
          <a:prstGeom prst="rect">
            <a:avLst/>
          </a:prstGeom>
          <a:noFill/>
          <a:ln/>
        </p:spPr>
        <p:txBody>
          <a:bodyPr wrap="square" lIns="0" tIns="0" rIns="0" bIns="0" rtlCol="0" anchor="ctr"/>
          <a:lstStyle/>
          <a:p>
            <a:pPr rtl="1" algn="r" indent="0" marL="0">
              <a:buNone/>
            </a:pPr>
            <a:r>
              <a:rPr lang="en-US" sz="1400" u="sng" dirty="0">
                <a:solidFill>
                  <a:schemeClr val="accent6"/>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https://www.eatrightpro.org/practice/practice-resources/public-health-and-community</a:t>
            </a:r>
            <a:endParaRPr lang="en-US" sz="14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היעדים המרכזיים של תזונאים בבריאות הציבור</a:t>
            </a:r>
            <a:endParaRPr lang="he-IL" sz="3000" dirty="0"/>
          </a:p>
        </p:txBody>
      </p:sp>
      <p:sp>
        <p:nvSpPr>
          <p:cNvPr id="3" name="Shape 1"/>
          <p:cNvSpPr/>
          <p:nvPr/>
        </p:nvSpPr>
        <p:spPr>
          <a:xfrm>
            <a:off x="8122615" y="1463040"/>
            <a:ext cx="3520440" cy="2514600"/>
          </a:xfrm>
          <a:prstGeom prst="roundRect">
            <a:avLst>
              <a:gd name="adj" fmla="val 4364"/>
            </a:avLst>
          </a:prstGeom>
          <a:solidFill>
            <a:schemeClr val="bg1"/>
          </a:solidFill>
          <a:ln w="19050">
            <a:solidFill>
              <a:schemeClr val="accent1"/>
            </a:solidFill>
            <a:prstDash val="solid"/>
          </a:ln>
          <a:effectLst>
            <a:outerShdw sx="100000" sy="100000" kx="0" ky="0" algn="bl" rotWithShape="0" blurRad="101600" dist="25400" dir="5400000">
              <a:srgbClr val="0F4C5C">
                <a:alpha val="14000"/>
              </a:srgbClr>
            </a:outerShdw>
          </a:effectLst>
        </p:spPr>
      </p:sp>
      <p:sp>
        <p:nvSpPr>
          <p:cNvPr id="4" name="Shape 2"/>
          <p:cNvSpPr/>
          <p:nvPr/>
        </p:nvSpPr>
        <p:spPr>
          <a:xfrm>
            <a:off x="10774375" y="169164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940796" y="1858061"/>
            <a:ext cx="307238" cy="307238"/>
          </a:xfrm>
          <a:prstGeom prst="rect">
            <a:avLst/>
          </a:prstGeom>
        </p:spPr>
      </p:pic>
      <p:sp>
        <p:nvSpPr>
          <p:cNvPr id="6" name="Text 3"/>
          <p:cNvSpPr txBox="1"/>
          <p:nvPr/>
        </p:nvSpPr>
        <p:spPr>
          <a:xfrm>
            <a:off x="8305495" y="2423160"/>
            <a:ext cx="3154680" cy="1463040"/>
          </a:xfrm>
          <a:prstGeom prst="rect">
            <a:avLst/>
          </a:prstGeom>
          <a:noFill/>
          <a:ln/>
        </p:spPr>
        <p:txBody>
          <a:bodyPr wrap="square" lIns="50800" tIns="50800" rIns="50800" bIns="50800" rtlCol="0" anchor="t"/>
          <a:lstStyle/>
          <a:p>
            <a:pPr rtl="1" algn="r" indent="0" marL="0">
              <a:buNone/>
            </a:pPr>
            <a:r>
              <a:rPr lang="he-IL" altLang="en-US" sz="1700" b="1" dirty="0">
                <a:solidFill>
                  <a:schemeClr val="tx1"/>
                </a:solidFill>
                <a:latin typeface="Arial" pitchFamily="34" charset="0"/>
                <a:ea typeface="Arial" pitchFamily="34" charset="-122"/>
                <a:cs typeface="Arial" pitchFamily="34" charset="-120"/>
              </a:rPr>
              <a:t>קידום בריאות של האוכלוסייה</a:t>
            </a:r>
            <a:endParaRPr lang="he-IL" sz="1700" dirty="0"/>
          </a:p>
        </p:txBody>
      </p:sp>
      <p:sp>
        <p:nvSpPr>
          <p:cNvPr id="7" name="Shape 4"/>
          <p:cNvSpPr/>
          <p:nvPr/>
        </p:nvSpPr>
        <p:spPr>
          <a:xfrm>
            <a:off x="4336999" y="1463040"/>
            <a:ext cx="3520440" cy="2514600"/>
          </a:xfrm>
          <a:prstGeom prst="roundRect">
            <a:avLst>
              <a:gd name="adj" fmla="val 4364"/>
            </a:avLst>
          </a:prstGeom>
          <a:solidFill>
            <a:schemeClr val="bg1"/>
          </a:solidFill>
          <a:ln w="19050">
            <a:solidFill>
              <a:schemeClr val="accent3"/>
            </a:solidFill>
            <a:prstDash val="solid"/>
          </a:ln>
          <a:effectLst>
            <a:outerShdw sx="100000" sy="100000" kx="0" ky="0" algn="bl" rotWithShape="0" blurRad="101600" dist="25400" dir="5400000">
              <a:srgbClr val="0F4C5C">
                <a:alpha val="14000"/>
              </a:srgbClr>
            </a:outerShdw>
          </a:effectLst>
        </p:spPr>
      </p:sp>
      <p:sp>
        <p:nvSpPr>
          <p:cNvPr id="8" name="Shape 5"/>
          <p:cNvSpPr/>
          <p:nvPr/>
        </p:nvSpPr>
        <p:spPr>
          <a:xfrm>
            <a:off x="6988759" y="1691640"/>
            <a:ext cx="640080" cy="640080"/>
          </a:xfrm>
          <a:prstGeom prst="ellipse">
            <a:avLst/>
          </a:prstGeom>
          <a:solidFill>
            <a:schemeClr val="accent3"/>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7155180" y="1858061"/>
            <a:ext cx="307238" cy="307238"/>
          </a:xfrm>
          <a:prstGeom prst="rect">
            <a:avLst/>
          </a:prstGeom>
        </p:spPr>
      </p:pic>
      <p:sp>
        <p:nvSpPr>
          <p:cNvPr id="10" name="Text 6"/>
          <p:cNvSpPr txBox="1"/>
          <p:nvPr/>
        </p:nvSpPr>
        <p:spPr>
          <a:xfrm>
            <a:off x="4519879" y="2423160"/>
            <a:ext cx="3154680" cy="1463040"/>
          </a:xfrm>
          <a:prstGeom prst="rect">
            <a:avLst/>
          </a:prstGeom>
          <a:noFill/>
          <a:ln/>
        </p:spPr>
        <p:txBody>
          <a:bodyPr wrap="square" lIns="50800" tIns="50800" rIns="50800" bIns="50800" rtlCol="0" anchor="t"/>
          <a:lstStyle/>
          <a:p>
            <a:pPr rtl="1" algn="r" indent="0" marL="0">
              <a:buNone/>
            </a:pPr>
            <a:r>
              <a:rPr lang="he-IL" altLang="en-US" sz="1700" b="1" dirty="0">
                <a:solidFill>
                  <a:schemeClr val="tx1"/>
                </a:solidFill>
                <a:latin typeface="Arial" pitchFamily="34" charset="0"/>
                <a:ea typeface="Arial" pitchFamily="34" charset="-122"/>
                <a:cs typeface="Arial" pitchFamily="34" charset="-120"/>
              </a:rPr>
              <a:t>איתור ומניעה ראשונית של מחלות הקשורות בתחום התזונה</a:t>
            </a:r>
            <a:endParaRPr lang="he-IL" sz="1700" dirty="0"/>
          </a:p>
        </p:txBody>
      </p:sp>
      <p:sp>
        <p:nvSpPr>
          <p:cNvPr id="11" name="Shape 7"/>
          <p:cNvSpPr/>
          <p:nvPr/>
        </p:nvSpPr>
        <p:spPr>
          <a:xfrm>
            <a:off x="551383" y="1463040"/>
            <a:ext cx="3520440" cy="2514600"/>
          </a:xfrm>
          <a:prstGeom prst="roundRect">
            <a:avLst>
              <a:gd name="adj" fmla="val 4364"/>
            </a:avLst>
          </a:prstGeom>
          <a:solidFill>
            <a:schemeClr val="bg1"/>
          </a:solidFill>
          <a:ln w="19050">
            <a:solidFill>
              <a:schemeClr val="accent2"/>
            </a:solidFill>
            <a:prstDash val="solid"/>
          </a:ln>
          <a:effectLst>
            <a:outerShdw sx="100000" sy="100000" kx="0" ky="0" algn="bl" rotWithShape="0" blurRad="101600" dist="25400" dir="5400000">
              <a:srgbClr val="0F4C5C">
                <a:alpha val="14000"/>
              </a:srgbClr>
            </a:outerShdw>
          </a:effectLst>
        </p:spPr>
      </p:sp>
      <p:sp>
        <p:nvSpPr>
          <p:cNvPr id="12" name="Shape 8"/>
          <p:cNvSpPr/>
          <p:nvPr/>
        </p:nvSpPr>
        <p:spPr>
          <a:xfrm>
            <a:off x="3203143" y="1691640"/>
            <a:ext cx="640080" cy="64008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3369564" y="1858061"/>
            <a:ext cx="307238" cy="307238"/>
          </a:xfrm>
          <a:prstGeom prst="rect">
            <a:avLst/>
          </a:prstGeom>
        </p:spPr>
      </p:pic>
      <p:sp>
        <p:nvSpPr>
          <p:cNvPr id="14" name="Text 9"/>
          <p:cNvSpPr txBox="1"/>
          <p:nvPr/>
        </p:nvSpPr>
        <p:spPr>
          <a:xfrm>
            <a:off x="734263" y="2423160"/>
            <a:ext cx="3154680" cy="1463040"/>
          </a:xfrm>
          <a:prstGeom prst="rect">
            <a:avLst/>
          </a:prstGeom>
          <a:noFill/>
          <a:ln/>
        </p:spPr>
        <p:txBody>
          <a:bodyPr wrap="square" lIns="50800" tIns="50800" rIns="50800" bIns="50800" rtlCol="0" anchor="t"/>
          <a:lstStyle/>
          <a:p>
            <a:pPr rtl="1" algn="r" indent="0" marL="0">
              <a:buNone/>
            </a:pPr>
            <a:r>
              <a:rPr lang="he-IL" altLang="en-US" sz="1700" b="1" dirty="0">
                <a:solidFill>
                  <a:schemeClr val="tx1"/>
                </a:solidFill>
                <a:latin typeface="Arial" pitchFamily="34" charset="0"/>
                <a:ea typeface="Arial" pitchFamily="34" charset="-122"/>
                <a:cs typeface="Arial" pitchFamily="34" charset="-120"/>
              </a:rPr>
              <a:t>יצירת סביבה מקדמת תזונה בריאה ומקיימת במסגרות ארגוניות וחינוכיות כחלק משיפור הביטחון התזונתי של הציבור</a:t>
            </a:r>
            <a:endParaRPr lang="he-IL" sz="1700" dirty="0"/>
          </a:p>
        </p:txBody>
      </p:sp>
      <p:sp>
        <p:nvSpPr>
          <p:cNvPr id="15" name="Shape 10"/>
          <p:cNvSpPr/>
          <p:nvPr/>
        </p:nvSpPr>
        <p:spPr>
          <a:xfrm>
            <a:off x="2468880" y="4297680"/>
            <a:ext cx="9171432" cy="1417320"/>
          </a:xfrm>
          <a:prstGeom prst="roundRect">
            <a:avLst>
              <a:gd name="adj" fmla="val 9677"/>
            </a:avLst>
          </a:prstGeom>
          <a:solidFill>
            <a:schemeClr val="tx2"/>
          </a:solidFill>
          <a:ln/>
        </p:spPr>
      </p:sp>
      <p:sp>
        <p:nvSpPr>
          <p:cNvPr id="16" name="Text 11"/>
          <p:cNvSpPr txBox="1"/>
          <p:nvPr/>
        </p:nvSpPr>
        <p:spPr>
          <a:xfrm>
            <a:off x="2743200" y="4297680"/>
            <a:ext cx="8686800" cy="1417320"/>
          </a:xfrm>
          <a:prstGeom prst="rect">
            <a:avLst/>
          </a:prstGeom>
          <a:noFill/>
          <a:ln/>
        </p:spPr>
        <p:txBody>
          <a:bodyPr wrap="square" lIns="50800" tIns="50800" rIns="50800" bIns="50800" rtlCol="0" anchor="ctr"/>
          <a:lstStyle/>
          <a:p>
            <a:pPr rtl="1" algn="r" indent="0" marL="0">
              <a:buNone/>
            </a:pPr>
            <a:r>
              <a:rPr lang="he-IL" altLang="en-US" sz="2000" b="1" dirty="0">
                <a:solidFill>
                  <a:schemeClr val="accent3"/>
                </a:solidFill>
                <a:latin typeface="Arial" pitchFamily="34" charset="0"/>
                <a:ea typeface="Arial" pitchFamily="34" charset="-122"/>
                <a:cs typeface="Arial" pitchFamily="34" charset="-120"/>
              </a:rPr>
              <a:t>בטחון תזונתי</a:t>
            </a:r>
            <a:pPr rtl="1" algn="r" indent="0" marL="0">
              <a:buNone/>
            </a:pPr>
            <a:r>
              <a:rPr lang="he-IL" altLang="en-US" sz="2000" dirty="0">
                <a:solidFill>
                  <a:schemeClr val="bg1"/>
                </a:solidFill>
                <a:latin typeface="Arial" pitchFamily="34" charset="0"/>
                <a:ea typeface="Arial" pitchFamily="34" charset="-122"/>
                <a:cs typeface="Arial" pitchFamily="34" charset="-120"/>
              </a:rPr>
              <a:t>= מגוון המזונות, העומדים בבסיס ההמלצות התזונתיות הלאומיות, בהישג יד לכלל האוכלוסייה</a:t>
            </a:r>
            <a:endParaRPr lang="he-IL" sz="2000" dirty="0"/>
          </a:p>
        </p:txBody>
      </p:sp>
      <p:pic>
        <p:nvPicPr>
          <p:cNvPr id="17" name="Image 3" descr="אייקון צלחת, תפוח וסכו&quot;ם">    </p:cNvPr>
          <p:cNvPicPr>
            <a:picLocks noChangeAspect="1"/>
          </p:cNvPicPr>
          <p:nvPr/>
        </p:nvPicPr>
        <p:blipFill>
          <a:blip r:embed="rId4"/>
          <a:stretch>
            <a:fillRect/>
          </a:stretch>
        </p:blipFill>
        <p:spPr>
          <a:xfrm>
            <a:off x="685800" y="4160520"/>
            <a:ext cx="1417320" cy="1417320"/>
          </a:xfrm>
          <a:prstGeom prst="rect">
            <a:avLst/>
          </a:prstGeom>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שותפים פוטנציאלים לקידום תזונה בריאה</a:t>
            </a:r>
            <a:endParaRPr lang="he-IL" sz="3000" dirty="0"/>
          </a:p>
        </p:txBody>
      </p:sp>
      <p:sp>
        <p:nvSpPr>
          <p:cNvPr id="3" name="Shape 1"/>
          <p:cNvSpPr/>
          <p:nvPr/>
        </p:nvSpPr>
        <p:spPr>
          <a:xfrm>
            <a:off x="8138160" y="2148840"/>
            <a:ext cx="914" cy="1783080"/>
          </a:xfrm>
          <a:prstGeom prst="line">
            <a:avLst/>
          </a:prstGeom>
          <a:noFill/>
          <a:ln w="15875">
            <a:solidFill>
              <a:schemeClr val="accent1"/>
            </a:solidFill>
            <a:prstDash val="solid"/>
          </a:ln>
        </p:spPr>
      </p:sp>
      <p:sp>
        <p:nvSpPr>
          <p:cNvPr id="4" name="Shape 2"/>
          <p:cNvSpPr/>
          <p:nvPr/>
        </p:nvSpPr>
        <p:spPr>
          <a:xfrm flipH="1">
            <a:off x="8138160" y="2820188"/>
            <a:ext cx="1394068" cy="1111732"/>
          </a:xfrm>
          <a:prstGeom prst="line">
            <a:avLst/>
          </a:prstGeom>
          <a:noFill/>
          <a:ln w="15875">
            <a:solidFill>
              <a:schemeClr val="accent1"/>
            </a:solidFill>
            <a:prstDash val="solid"/>
          </a:ln>
        </p:spPr>
      </p:sp>
      <p:sp>
        <p:nvSpPr>
          <p:cNvPr id="5" name="Shape 3"/>
          <p:cNvSpPr/>
          <p:nvPr/>
        </p:nvSpPr>
        <p:spPr>
          <a:xfrm>
            <a:off x="8138160" y="3931920"/>
            <a:ext cx="1738374" cy="396773"/>
          </a:xfrm>
          <a:prstGeom prst="line">
            <a:avLst/>
          </a:prstGeom>
          <a:noFill/>
          <a:ln w="15875">
            <a:solidFill>
              <a:schemeClr val="accent1"/>
            </a:solidFill>
            <a:prstDash val="solid"/>
          </a:ln>
        </p:spPr>
      </p:sp>
      <p:sp>
        <p:nvSpPr>
          <p:cNvPr id="6" name="Shape 4"/>
          <p:cNvSpPr/>
          <p:nvPr/>
        </p:nvSpPr>
        <p:spPr>
          <a:xfrm>
            <a:off x="8138160" y="3931920"/>
            <a:ext cx="773649" cy="1606500"/>
          </a:xfrm>
          <a:prstGeom prst="line">
            <a:avLst/>
          </a:prstGeom>
          <a:noFill/>
          <a:ln w="15875">
            <a:solidFill>
              <a:schemeClr val="accent1"/>
            </a:solidFill>
            <a:prstDash val="solid"/>
          </a:ln>
        </p:spPr>
      </p:sp>
      <p:sp>
        <p:nvSpPr>
          <p:cNvPr id="7" name="Shape 5"/>
          <p:cNvSpPr/>
          <p:nvPr/>
        </p:nvSpPr>
        <p:spPr>
          <a:xfrm flipH="1">
            <a:off x="7364511" y="3931920"/>
            <a:ext cx="773649" cy="1606500"/>
          </a:xfrm>
          <a:prstGeom prst="line">
            <a:avLst/>
          </a:prstGeom>
          <a:noFill/>
          <a:ln w="15875">
            <a:solidFill>
              <a:schemeClr val="accent1"/>
            </a:solidFill>
            <a:prstDash val="solid"/>
          </a:ln>
        </p:spPr>
      </p:sp>
      <p:sp>
        <p:nvSpPr>
          <p:cNvPr id="8" name="Shape 6"/>
          <p:cNvSpPr/>
          <p:nvPr/>
        </p:nvSpPr>
        <p:spPr>
          <a:xfrm flipH="1">
            <a:off x="6399786" y="3931920"/>
            <a:ext cx="1738374" cy="396773"/>
          </a:xfrm>
          <a:prstGeom prst="line">
            <a:avLst/>
          </a:prstGeom>
          <a:noFill/>
          <a:ln w="15875">
            <a:solidFill>
              <a:schemeClr val="accent1"/>
            </a:solidFill>
            <a:prstDash val="solid"/>
          </a:ln>
        </p:spPr>
      </p:sp>
      <p:sp>
        <p:nvSpPr>
          <p:cNvPr id="9" name="Shape 7"/>
          <p:cNvSpPr/>
          <p:nvPr/>
        </p:nvSpPr>
        <p:spPr>
          <a:xfrm>
            <a:off x="6744092" y="2820188"/>
            <a:ext cx="1394068" cy="1111732"/>
          </a:xfrm>
          <a:prstGeom prst="line">
            <a:avLst/>
          </a:prstGeom>
          <a:noFill/>
          <a:ln w="15875">
            <a:solidFill>
              <a:schemeClr val="accent1"/>
            </a:solidFill>
            <a:prstDash val="solid"/>
          </a:ln>
        </p:spPr>
      </p:sp>
      <p:sp>
        <p:nvSpPr>
          <p:cNvPr id="10" name="Text 8"/>
          <p:cNvSpPr/>
          <p:nvPr/>
        </p:nvSpPr>
        <p:spPr>
          <a:xfrm>
            <a:off x="7269480" y="3063240"/>
            <a:ext cx="1737360" cy="1737360"/>
          </a:xfrm>
          <a:prstGeom prst="ellipse">
            <a:avLst/>
          </a:prstGeom>
          <a:solidFill>
            <a:schemeClr val="tx2"/>
          </a:solidFill>
          <a:ln w="38100">
            <a:solidFill>
              <a:schemeClr val="bg1"/>
            </a:solidFill>
          </a:ln>
          <a:effectLst>
            <a:outerShdw sx="100000" sy="100000" kx="0" ky="0" algn="bl" rotWithShape="0" blurRad="101600" dist="25400" dir="5400000">
              <a:srgbClr val="0F4C5C">
                <a:alpha val="14000"/>
              </a:srgbClr>
            </a:outerShdw>
          </a:effectLst>
        </p:spPr>
        <p:txBody>
          <a:bodyPr wrap="square" lIns="50800" tIns="50800" rIns="50800" bIns="50800" rtlCol="0" anchor="ctr"/>
          <a:lstStyle/>
          <a:p>
            <a:pPr rtl="1" algn="ctr" indent="0" marL="0">
              <a:buNone/>
            </a:pPr>
            <a:r>
              <a:rPr lang="he-IL" altLang="en-US" sz="1600" b="1" dirty="0">
                <a:solidFill>
                  <a:schemeClr val="bg1"/>
                </a:solidFill>
                <a:latin typeface="Arial" pitchFamily="34" charset="0"/>
                <a:ea typeface="Arial" pitchFamily="34" charset="-122"/>
                <a:cs typeface="Arial" pitchFamily="34" charset="-120"/>
              </a:rPr>
              <a:t>תזונאית מחוזית/ אזורית</a:t>
            </a:r>
            <a:endParaRPr lang="he-IL" sz="1600" dirty="0"/>
          </a:p>
        </p:txBody>
      </p:sp>
      <p:sp>
        <p:nvSpPr>
          <p:cNvPr id="11" name="Text 9"/>
          <p:cNvSpPr/>
          <p:nvPr/>
        </p:nvSpPr>
        <p:spPr>
          <a:xfrm>
            <a:off x="7488936" y="1499616"/>
            <a:ext cx="1298448" cy="1298448"/>
          </a:xfrm>
          <a:prstGeom prst="ellipse">
            <a:avLst/>
          </a:prstGeom>
          <a:solidFill>
            <a:schemeClr val="accent2"/>
          </a:solidFill>
          <a:ln w="25400">
            <a:solidFill>
              <a:schemeClr val="bg1"/>
            </a:solidFill>
          </a:ln>
        </p:spPr>
        <p:txBody>
          <a:bodyPr wrap="square" lIns="25400" tIns="25400" rIns="25400" bIns="25400" rtlCol="0" anchor="ctr"/>
          <a:lstStyle/>
          <a:p>
            <a:pPr rtl="1" algn="ctr" indent="0" marL="0">
              <a:buNone/>
            </a:pPr>
            <a:r>
              <a:rPr lang="he-IL" altLang="en-US" sz="1150" b="1" dirty="0">
                <a:solidFill>
                  <a:schemeClr val="bg1"/>
                </a:solidFill>
                <a:latin typeface="Arial" pitchFamily="34" charset="0"/>
                <a:ea typeface="Arial" pitchFamily="34" charset="-122"/>
                <a:cs typeface="Arial" pitchFamily="34" charset="-120"/>
              </a:rPr>
              <a:t>רשויות מקומיות</a:t>
            </a:r>
            <a:endParaRPr lang="he-IL" sz="1150" dirty="0"/>
          </a:p>
        </p:txBody>
      </p:sp>
      <p:sp>
        <p:nvSpPr>
          <p:cNvPr id="12" name="Text 10"/>
          <p:cNvSpPr/>
          <p:nvPr/>
        </p:nvSpPr>
        <p:spPr>
          <a:xfrm>
            <a:off x="8883004" y="2170964"/>
            <a:ext cx="1298448" cy="1298448"/>
          </a:xfrm>
          <a:prstGeom prst="ellipse">
            <a:avLst/>
          </a:prstGeom>
          <a:solidFill>
            <a:schemeClr val="accent5"/>
          </a:solidFill>
          <a:ln w="25400">
            <a:solidFill>
              <a:schemeClr val="bg1"/>
            </a:solidFill>
          </a:ln>
        </p:spPr>
        <p:txBody>
          <a:bodyPr wrap="square" lIns="25400" tIns="25400" rIns="25400" bIns="25400" rtlCol="0" anchor="ctr"/>
          <a:lstStyle/>
          <a:p>
            <a:pPr rtl="1" algn="ctr" indent="0" marL="0">
              <a:buNone/>
            </a:pPr>
            <a:r>
              <a:rPr lang="he-IL" altLang="en-US" sz="1150" b="1" dirty="0">
                <a:solidFill>
                  <a:schemeClr val="bg1"/>
                </a:solidFill>
                <a:latin typeface="Arial" pitchFamily="34" charset="0"/>
                <a:ea typeface="Arial" pitchFamily="34" charset="-122"/>
                <a:cs typeface="Arial" pitchFamily="34" charset="-120"/>
              </a:rPr>
              <a:t>חברות למטפלות בית בקשישים</a:t>
            </a:r>
            <a:endParaRPr lang="he-IL" sz="1150" dirty="0"/>
          </a:p>
        </p:txBody>
      </p:sp>
      <p:sp>
        <p:nvSpPr>
          <p:cNvPr id="13" name="Text 11"/>
          <p:cNvSpPr/>
          <p:nvPr/>
        </p:nvSpPr>
        <p:spPr>
          <a:xfrm>
            <a:off x="9227310" y="3679469"/>
            <a:ext cx="1298448" cy="1298448"/>
          </a:xfrm>
          <a:prstGeom prst="ellipse">
            <a:avLst/>
          </a:prstGeom>
          <a:solidFill>
            <a:schemeClr val="accent6"/>
          </a:solidFill>
          <a:ln w="25400">
            <a:solidFill>
              <a:schemeClr val="bg1"/>
            </a:solidFill>
          </a:ln>
        </p:spPr>
        <p:txBody>
          <a:bodyPr wrap="square" lIns="25400" tIns="25400" rIns="25400" bIns="25400" rtlCol="0" anchor="ctr"/>
          <a:lstStyle/>
          <a:p>
            <a:pPr rtl="1" algn="ctr" indent="0" marL="0">
              <a:buNone/>
            </a:pPr>
            <a:r>
              <a:rPr lang="he-IL" altLang="en-US" sz="1150" b="1" dirty="0">
                <a:solidFill>
                  <a:schemeClr val="bg1"/>
                </a:solidFill>
                <a:latin typeface="Arial" pitchFamily="34" charset="0"/>
                <a:ea typeface="Arial" pitchFamily="34" charset="-122"/>
                <a:cs typeface="Arial" pitchFamily="34" charset="-120"/>
              </a:rPr>
              <a:t>מרכזי שיקום בקהילה (הוסטלים, דיור מוגן)</a:t>
            </a:r>
            <a:endParaRPr lang="he-IL" sz="1150" dirty="0"/>
          </a:p>
        </p:txBody>
      </p:sp>
      <p:sp>
        <p:nvSpPr>
          <p:cNvPr id="14" name="Text 12"/>
          <p:cNvSpPr/>
          <p:nvPr/>
        </p:nvSpPr>
        <p:spPr>
          <a:xfrm>
            <a:off x="8262585" y="4889196"/>
            <a:ext cx="1298448" cy="1298448"/>
          </a:xfrm>
          <a:prstGeom prst="ellipse">
            <a:avLst/>
          </a:prstGeom>
          <a:solidFill>
            <a:schemeClr val="accent3"/>
          </a:solidFill>
          <a:ln w="25400">
            <a:solidFill>
              <a:schemeClr val="bg1"/>
            </a:solidFill>
          </a:ln>
        </p:spPr>
        <p:txBody>
          <a:bodyPr wrap="square" lIns="25400" tIns="25400" rIns="25400" bIns="25400" rtlCol="0" anchor="ctr"/>
          <a:lstStyle/>
          <a:p>
            <a:pPr rtl="1" algn="ctr" indent="0" marL="0">
              <a:buNone/>
            </a:pPr>
            <a:r>
              <a:rPr lang="he-IL" altLang="en-US" sz="1150" b="1" dirty="0">
                <a:solidFill>
                  <a:schemeClr val="bg1"/>
                </a:solidFill>
                <a:latin typeface="Arial" pitchFamily="34" charset="0"/>
                <a:ea typeface="Arial" pitchFamily="34" charset="-122"/>
                <a:cs typeface="Arial" pitchFamily="34" charset="-120"/>
              </a:rPr>
              <a:t>ארגוני חברה אזרחית עמותות חסד</a:t>
            </a:r>
            <a:endParaRPr lang="he-IL" sz="1150" dirty="0"/>
          </a:p>
        </p:txBody>
      </p:sp>
      <p:sp>
        <p:nvSpPr>
          <p:cNvPr id="15" name="Text 13"/>
          <p:cNvSpPr/>
          <p:nvPr/>
        </p:nvSpPr>
        <p:spPr>
          <a:xfrm>
            <a:off x="6715287" y="4889196"/>
            <a:ext cx="1298448" cy="1298448"/>
          </a:xfrm>
          <a:prstGeom prst="ellipse">
            <a:avLst/>
          </a:prstGeom>
          <a:solidFill>
            <a:schemeClr val="accent4"/>
          </a:solidFill>
          <a:ln w="25400">
            <a:solidFill>
              <a:schemeClr val="bg1"/>
            </a:solidFill>
          </a:ln>
        </p:spPr>
        <p:txBody>
          <a:bodyPr wrap="square" lIns="25400" tIns="25400" rIns="25400" bIns="25400" rtlCol="0" anchor="ctr"/>
          <a:lstStyle/>
          <a:p>
            <a:pPr rtl="1" algn="ctr" indent="0" marL="0">
              <a:buNone/>
            </a:pPr>
            <a:r>
              <a:rPr lang="he-IL" altLang="en-US" sz="1150" b="1" dirty="0">
                <a:solidFill>
                  <a:schemeClr val="bg1"/>
                </a:solidFill>
                <a:latin typeface="Arial" pitchFamily="34" charset="0"/>
                <a:ea typeface="Arial" pitchFamily="34" charset="-122"/>
                <a:cs typeface="Arial" pitchFamily="34" charset="-120"/>
              </a:rPr>
              <a:t>ארגוני נשים (ויצו, נעמת, אמונה) – מעונות יום</a:t>
            </a:r>
            <a:endParaRPr lang="he-IL" sz="1150" dirty="0"/>
          </a:p>
        </p:txBody>
      </p:sp>
      <p:sp>
        <p:nvSpPr>
          <p:cNvPr id="16" name="Text 14"/>
          <p:cNvSpPr/>
          <p:nvPr/>
        </p:nvSpPr>
        <p:spPr>
          <a:xfrm>
            <a:off x="5750562" y="3679469"/>
            <a:ext cx="1298448" cy="1298448"/>
          </a:xfrm>
          <a:prstGeom prst="ellipse">
            <a:avLst/>
          </a:prstGeom>
          <a:solidFill>
            <a:schemeClr val="accent2"/>
          </a:solidFill>
          <a:ln w="25400">
            <a:solidFill>
              <a:schemeClr val="bg1"/>
            </a:solidFill>
          </a:ln>
        </p:spPr>
        <p:txBody>
          <a:bodyPr wrap="square" lIns="25400" tIns="25400" rIns="25400" bIns="25400" rtlCol="0" anchor="ctr"/>
          <a:lstStyle/>
          <a:p>
            <a:pPr rtl="1" algn="ctr" indent="0" marL="0">
              <a:buNone/>
            </a:pPr>
            <a:r>
              <a:rPr lang="he-IL" altLang="en-US" sz="1150" b="1" dirty="0">
                <a:solidFill>
                  <a:schemeClr val="bg1"/>
                </a:solidFill>
                <a:latin typeface="Arial" pitchFamily="34" charset="0"/>
                <a:ea typeface="Arial" pitchFamily="34" charset="-122"/>
                <a:cs typeface="Arial" pitchFamily="34" charset="-120"/>
              </a:rPr>
              <a:t>קופות חולים</a:t>
            </a:r>
            <a:endParaRPr lang="he-IL" sz="1150" dirty="0"/>
          </a:p>
        </p:txBody>
      </p:sp>
      <p:sp>
        <p:nvSpPr>
          <p:cNvPr id="17" name="Text 15"/>
          <p:cNvSpPr/>
          <p:nvPr/>
        </p:nvSpPr>
        <p:spPr>
          <a:xfrm>
            <a:off x="6094868" y="2170964"/>
            <a:ext cx="1298448" cy="1298448"/>
          </a:xfrm>
          <a:prstGeom prst="ellipse">
            <a:avLst/>
          </a:prstGeom>
          <a:solidFill>
            <a:schemeClr val="accent5"/>
          </a:solidFill>
          <a:ln w="25400">
            <a:solidFill>
              <a:schemeClr val="bg1"/>
            </a:solidFill>
          </a:ln>
        </p:spPr>
        <p:txBody>
          <a:bodyPr wrap="square" lIns="25400" tIns="25400" rIns="25400" bIns="25400" rtlCol="0" anchor="ctr"/>
          <a:lstStyle/>
          <a:p>
            <a:pPr rtl="1" algn="ctr" indent="0" marL="0">
              <a:buNone/>
            </a:pPr>
            <a:r>
              <a:rPr lang="he-IL" altLang="en-US" sz="1150" b="1" dirty="0">
                <a:solidFill>
                  <a:schemeClr val="bg1"/>
                </a:solidFill>
                <a:latin typeface="Arial" pitchFamily="34" charset="0"/>
                <a:ea typeface="Arial" pitchFamily="34" charset="-122"/>
                <a:cs typeface="Arial" pitchFamily="34" charset="-120"/>
              </a:rPr>
              <a:t>מילגם (פיקוח על צהרונים)</a:t>
            </a:r>
            <a:endParaRPr lang="he-IL" sz="1150" dirty="0"/>
          </a:p>
        </p:txBody>
      </p:sp>
      <p:sp>
        <p:nvSpPr>
          <p:cNvPr id="18" name="Shape 16"/>
          <p:cNvSpPr/>
          <p:nvPr/>
        </p:nvSpPr>
        <p:spPr>
          <a:xfrm>
            <a:off x="548640" y="1417320"/>
            <a:ext cx="4206240" cy="3108960"/>
          </a:xfrm>
          <a:prstGeom prst="roundRect">
            <a:avLst>
              <a:gd name="adj" fmla="val 3529"/>
            </a:avLst>
          </a:prstGeom>
          <a:solidFill>
            <a:schemeClr val="bg2"/>
          </a:solidFill>
          <a:ln w="19050">
            <a:solidFill>
              <a:schemeClr val="accent2"/>
            </a:solidFill>
            <a:prstDash val="solid"/>
          </a:ln>
        </p:spPr>
      </p:sp>
      <p:sp>
        <p:nvSpPr>
          <p:cNvPr id="19" name="Text 17"/>
          <p:cNvSpPr txBox="1"/>
          <p:nvPr/>
        </p:nvSpPr>
        <p:spPr>
          <a:xfrm>
            <a:off x="685800" y="1508760"/>
            <a:ext cx="3931920" cy="2926080"/>
          </a:xfrm>
          <a:prstGeom prst="rect">
            <a:avLst/>
          </a:prstGeom>
          <a:noFill/>
          <a:ln/>
        </p:spPr>
        <p:txBody>
          <a:bodyPr wrap="square" lIns="50800" tIns="50800" rIns="50800" bIns="50800" rtlCol="0" anchor="ctr"/>
          <a:lstStyle/>
          <a:p>
            <a:pPr rtl="1" algn="r" indent="0" marL="0">
              <a:spcAft>
                <a:spcPts val="300"/>
              </a:spcAft>
              <a:buNone/>
            </a:pPr>
            <a:r>
              <a:rPr lang="he-IL" altLang="en-US" sz="1300" b="1" dirty="0">
                <a:solidFill>
                  <a:schemeClr val="tx1"/>
                </a:solidFill>
                <a:latin typeface="Arial" pitchFamily="34" charset="0"/>
                <a:ea typeface="Arial" pitchFamily="34" charset="-122"/>
                <a:cs typeface="Arial" pitchFamily="34" charset="-120"/>
              </a:rPr>
              <a:t>בריאות: </a:t>
            </a:r>
            <a:pPr rtl="1" algn="r" indent="0" marL="0">
              <a:spcAft>
                <a:spcPts val="300"/>
              </a:spcAft>
              <a:buNone/>
            </a:pPr>
            <a:r>
              <a:rPr lang="he-IL" altLang="en-US" sz="1300" dirty="0">
                <a:solidFill>
                  <a:schemeClr val="tx1"/>
                </a:solidFill>
                <a:latin typeface="Arial" pitchFamily="34" charset="0"/>
                <a:ea typeface="Arial" pitchFamily="34" charset="-122"/>
                <a:cs typeface="Arial" pitchFamily="34" charset="-120"/>
              </a:rPr>
              <a:t>מתאמי בריאות, תזונאיות עירונית, </a:t>
            </a:r>
            <a:pPr rtl="1" algn="r" indent="0" marL="0">
              <a:spcAft>
                <a:spcPts val="300"/>
              </a:spcAft>
              <a:buNone/>
            </a:pPr>
            <a:r>
              <a:rPr lang="he-IL" altLang="en-US" sz="1300" b="1" u="sng" dirty="0">
                <a:solidFill>
                  <a:schemeClr val="tx1"/>
                </a:solidFill>
                <a:latin typeface="Arial" pitchFamily="34" charset="0"/>
                <a:ea typeface="Arial" pitchFamily="34" charset="-122"/>
                <a:cs typeface="Arial" pitchFamily="34" charset="-120"/>
              </a:rPr>
              <a:t>אשכולות</a:t>
            </a:r>
            <a:endParaRPr lang="he-IL" sz="1300" dirty="0"/>
          </a:p>
          <a:p>
            <a:pPr rtl="1" algn="r" indent="0" marL="0">
              <a:spcAft>
                <a:spcPts val="300"/>
              </a:spcAft>
              <a:buNone/>
            </a:pPr>
            <a:r>
              <a:rPr lang="he-IL" altLang="en-US" sz="1300" b="1" dirty="0">
                <a:solidFill>
                  <a:schemeClr val="tx1"/>
                </a:solidFill>
                <a:latin typeface="Arial" pitchFamily="34" charset="0"/>
                <a:ea typeface="Arial" pitchFamily="34" charset="-122"/>
                <a:cs typeface="Arial" pitchFamily="34" charset="-120"/>
              </a:rPr>
              <a:t>חינוך: </a:t>
            </a:r>
            <a:pPr rtl="1" algn="r" indent="0" marL="0">
              <a:spcAft>
                <a:spcPts val="300"/>
              </a:spcAft>
              <a:buNone/>
            </a:pPr>
            <a:r>
              <a:rPr lang="he-IL" altLang="en-US" sz="1300" dirty="0">
                <a:solidFill>
                  <a:schemeClr val="tx1"/>
                </a:solidFill>
                <a:latin typeface="Arial" pitchFamily="34" charset="0"/>
                <a:ea typeface="Arial" pitchFamily="34" charset="-122"/>
                <a:cs typeface="Arial" pitchFamily="34" charset="-120"/>
              </a:rPr>
              <a:t>צהרונים, גנים</a:t>
            </a:r>
            <a:endParaRPr lang="he-IL" sz="1300" dirty="0"/>
          </a:p>
          <a:p>
            <a:pPr rtl="1" algn="r" indent="0" marL="0">
              <a:spcAft>
                <a:spcPts val="300"/>
              </a:spcAft>
              <a:buNone/>
            </a:pPr>
            <a:r>
              <a:rPr lang="he-IL" altLang="en-US" sz="1300" b="1" dirty="0">
                <a:solidFill>
                  <a:schemeClr val="tx1"/>
                </a:solidFill>
                <a:latin typeface="Arial" pitchFamily="34" charset="0"/>
                <a:ea typeface="Arial" pitchFamily="34" charset="-122"/>
                <a:cs typeface="Arial" pitchFamily="34" charset="-120"/>
              </a:rPr>
              <a:t>רווחה: </a:t>
            </a:r>
            <a:pPr rtl="1" algn="r" indent="0" marL="0">
              <a:spcAft>
                <a:spcPts val="300"/>
              </a:spcAft>
              <a:buNone/>
            </a:pPr>
            <a:r>
              <a:rPr lang="he-IL" altLang="en-US" sz="1300" dirty="0">
                <a:solidFill>
                  <a:schemeClr val="tx1"/>
                </a:solidFill>
                <a:latin typeface="Arial" pitchFamily="34" charset="0"/>
                <a:ea typeface="Arial" pitchFamily="34" charset="-122"/>
                <a:cs typeface="Arial" pitchFamily="34" charset="-120"/>
              </a:rPr>
              <a:t>בטחון תזונתי, משפחתונים, מועדוניות, מבקשי מקלט, בתים חמים, מרכזי קליטה, מועדונים ומרכזי יום לקשישים</a:t>
            </a:r>
            <a:endParaRPr lang="he-IL" sz="1300" dirty="0"/>
          </a:p>
          <a:p>
            <a:pPr rtl="1" algn="r" indent="0" marL="0">
              <a:spcAft>
                <a:spcPts val="300"/>
              </a:spcAft>
              <a:buNone/>
            </a:pPr>
            <a:r>
              <a:rPr lang="he-IL" altLang="en-US" sz="1300" b="1" dirty="0">
                <a:solidFill>
                  <a:schemeClr val="tx1"/>
                </a:solidFill>
                <a:latin typeface="Arial" pitchFamily="34" charset="0"/>
                <a:ea typeface="Arial" pitchFamily="34" charset="-122"/>
                <a:cs typeface="Arial" pitchFamily="34" charset="-120"/>
              </a:rPr>
              <a:t>ספורט ונוער: </a:t>
            </a:r>
            <a:pPr rtl="1" algn="r" indent="0" marL="0">
              <a:spcAft>
                <a:spcPts val="300"/>
              </a:spcAft>
              <a:buNone/>
            </a:pPr>
            <a:r>
              <a:rPr lang="he-IL" altLang="en-US" sz="1300" dirty="0">
                <a:solidFill>
                  <a:schemeClr val="tx1"/>
                </a:solidFill>
                <a:latin typeface="Arial" pitchFamily="34" charset="0"/>
                <a:ea typeface="Arial" pitchFamily="34" charset="-122"/>
                <a:cs typeface="Arial" pitchFamily="34" charset="-120"/>
              </a:rPr>
              <a:t>מרכזים קהילתיים</a:t>
            </a:r>
            <a:endParaRPr lang="he-IL" sz="1300" dirty="0"/>
          </a:p>
          <a:p>
            <a:pPr rtl="1" algn="r" indent="0" marL="0">
              <a:spcAft>
                <a:spcPts val="300"/>
              </a:spcAft>
              <a:buNone/>
            </a:pPr>
            <a:r>
              <a:rPr lang="he-IL" altLang="en-US" sz="1300" b="1" dirty="0">
                <a:solidFill>
                  <a:schemeClr val="tx1"/>
                </a:solidFill>
                <a:latin typeface="Arial" pitchFamily="34" charset="0"/>
                <a:ea typeface="Arial" pitchFamily="34" charset="-122"/>
                <a:cs typeface="Arial" pitchFamily="34" charset="-120"/>
              </a:rPr>
              <a:t>סביבה וקיימות: </a:t>
            </a:r>
            <a:pPr rtl="1" algn="r" indent="0" marL="0">
              <a:spcAft>
                <a:spcPts val="300"/>
              </a:spcAft>
              <a:buNone/>
            </a:pPr>
            <a:r>
              <a:rPr lang="he-IL" altLang="en-US" sz="1300" dirty="0">
                <a:solidFill>
                  <a:schemeClr val="tx1"/>
                </a:solidFill>
                <a:latin typeface="Arial" pitchFamily="34" charset="0"/>
                <a:ea typeface="Arial" pitchFamily="34" charset="-122"/>
                <a:cs typeface="Arial" pitchFamily="34" charset="-120"/>
              </a:rPr>
              <a:t>גינות קהילתיות</a:t>
            </a:r>
            <a:endParaRPr lang="he-IL" sz="1300" dirty="0"/>
          </a:p>
        </p:txBody>
      </p:sp>
      <p:sp>
        <p:nvSpPr>
          <p:cNvPr id="20" name="Shape 18"/>
          <p:cNvSpPr/>
          <p:nvPr/>
        </p:nvSpPr>
        <p:spPr>
          <a:xfrm flipH="1">
            <a:off x="4800600" y="2103120"/>
            <a:ext cx="2642616" cy="0"/>
          </a:xfrm>
          <a:prstGeom prst="line">
            <a:avLst/>
          </a:prstGeom>
          <a:noFill/>
          <a:ln w="25400">
            <a:solidFill>
              <a:schemeClr val="accent5"/>
            </a:solidFill>
            <a:prstDash val="solid"/>
            <a:tailEnd type="triangle"/>
          </a:ln>
        </p:spPr>
      </p:sp>
      <p:sp>
        <p:nvSpPr>
          <p:cNvPr id="21" name="Text 19"/>
          <p:cNvSpPr/>
          <p:nvPr/>
        </p:nvSpPr>
        <p:spPr>
          <a:xfrm>
            <a:off x="548640" y="4846320"/>
            <a:ext cx="3291840" cy="1188720"/>
          </a:xfrm>
          <a:prstGeom prst="roundRect">
            <a:avLst>
              <a:gd name="adj" fmla="val 9231"/>
            </a:avLst>
          </a:prstGeom>
          <a:solidFill>
            <a:schemeClr val="accent2"/>
          </a:solidFill>
          <a:ln/>
        </p:spPr>
        <p:txBody>
          <a:bodyPr wrap="square" lIns="76200" tIns="76200" rIns="76200" bIns="76200" rtlCol="0" anchor="ctr"/>
          <a:lstStyle/>
          <a:p>
            <a:pPr rtl="1" algn="ctr" indent="0" marL="0">
              <a:buNone/>
            </a:pPr>
            <a:r>
              <a:rPr lang="he-IL" altLang="en-US" sz="1500" b="1" dirty="0">
                <a:solidFill>
                  <a:schemeClr val="bg1"/>
                </a:solidFill>
                <a:latin typeface="Arial" pitchFamily="34" charset="0"/>
                <a:ea typeface="Arial" pitchFamily="34" charset="-122"/>
                <a:cs typeface="Arial" pitchFamily="34" charset="-120"/>
              </a:rPr>
              <a:t>משרד החינוך – רפרנטיות לבריאות בתי ספר, גנים, פנימיות</a:t>
            </a:r>
            <a:endParaRPr lang="he-IL" sz="15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דוגמאות למקומות נוספים בהם מועסקים תזונאים העוסקים בבריאות הציבור</a:t>
            </a:r>
            <a:endParaRPr lang="he-IL" sz="3000" dirty="0"/>
          </a:p>
        </p:txBody>
      </p:sp>
      <p:sp>
        <p:nvSpPr>
          <p:cNvPr id="3" name="Shape 1"/>
          <p:cNvSpPr/>
          <p:nvPr/>
        </p:nvSpPr>
        <p:spPr>
          <a:xfrm>
            <a:off x="8122615" y="1508760"/>
            <a:ext cx="3520440" cy="2148840"/>
          </a:xfrm>
          <a:prstGeom prst="roundRect">
            <a:avLst>
              <a:gd name="adj" fmla="val 5106"/>
            </a:avLst>
          </a:prstGeom>
          <a:solidFill>
            <a:schemeClr val="bg2"/>
          </a:solidFill>
          <a:ln w="12700">
            <a:solidFill>
              <a:schemeClr val="bg2"/>
            </a:solidFill>
            <a:prstDash val="solid"/>
          </a:ln>
        </p:spPr>
      </p:sp>
      <p:sp>
        <p:nvSpPr>
          <p:cNvPr id="4" name="Shape 2"/>
          <p:cNvSpPr/>
          <p:nvPr/>
        </p:nvSpPr>
        <p:spPr>
          <a:xfrm>
            <a:off x="10774375" y="1737360"/>
            <a:ext cx="658368" cy="658368"/>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945551" y="1908536"/>
            <a:ext cx="316017" cy="316017"/>
          </a:xfrm>
          <a:prstGeom prst="rect">
            <a:avLst/>
          </a:prstGeom>
        </p:spPr>
      </p:pic>
      <p:sp>
        <p:nvSpPr>
          <p:cNvPr id="6" name="Text 3"/>
          <p:cNvSpPr txBox="1"/>
          <p:nvPr/>
        </p:nvSpPr>
        <p:spPr>
          <a:xfrm>
            <a:off x="8305495" y="2468880"/>
            <a:ext cx="3154680" cy="1097280"/>
          </a:xfrm>
          <a:prstGeom prst="rect">
            <a:avLst/>
          </a:prstGeom>
          <a:noFill/>
          <a:ln/>
        </p:spPr>
        <p:txBody>
          <a:bodyPr wrap="square" lIns="50800" tIns="50800" rIns="50800" bIns="50800" rtlCol="0" anchor="t"/>
          <a:lstStyle/>
          <a:p>
            <a:pPr rtl="1" algn="r" indent="0" marL="0">
              <a:buNone/>
            </a:pPr>
            <a:r>
              <a:rPr lang="he-IL" altLang="en-US" sz="1900" b="1" dirty="0">
                <a:solidFill>
                  <a:schemeClr val="tx1"/>
                </a:solidFill>
                <a:latin typeface="Arial" pitchFamily="34" charset="0"/>
                <a:ea typeface="Arial" pitchFamily="34" charset="-122"/>
                <a:cs typeface="Arial" pitchFamily="34" charset="-120"/>
              </a:rPr>
              <a:t>רשויות מקומיות</a:t>
            </a:r>
            <a:endParaRPr lang="he-IL" sz="1900" dirty="0"/>
          </a:p>
        </p:txBody>
      </p:sp>
      <p:sp>
        <p:nvSpPr>
          <p:cNvPr id="7" name="Shape 4"/>
          <p:cNvSpPr/>
          <p:nvPr/>
        </p:nvSpPr>
        <p:spPr>
          <a:xfrm>
            <a:off x="4336999" y="1508760"/>
            <a:ext cx="3520440" cy="2148840"/>
          </a:xfrm>
          <a:prstGeom prst="roundRect">
            <a:avLst>
              <a:gd name="adj" fmla="val 5106"/>
            </a:avLst>
          </a:prstGeom>
          <a:solidFill>
            <a:schemeClr val="bg2"/>
          </a:solidFill>
          <a:ln w="12700">
            <a:solidFill>
              <a:schemeClr val="bg2"/>
            </a:solidFill>
            <a:prstDash val="solid"/>
          </a:ln>
        </p:spPr>
      </p:sp>
      <p:sp>
        <p:nvSpPr>
          <p:cNvPr id="8" name="Shape 5"/>
          <p:cNvSpPr/>
          <p:nvPr/>
        </p:nvSpPr>
        <p:spPr>
          <a:xfrm>
            <a:off x="6988759" y="1737360"/>
            <a:ext cx="658368" cy="658368"/>
          </a:xfrm>
          <a:prstGeom prst="ellipse">
            <a:avLst/>
          </a:prstGeom>
          <a:solidFill>
            <a:schemeClr val="accent6"/>
          </a:solidFill>
          <a:ln w="12700">
            <a:solidFill>
              <a:schemeClr val="accent6"/>
            </a:solidFill>
            <a:prstDash val="solid"/>
          </a:ln>
        </p:spPr>
      </p:sp>
      <p:pic>
        <p:nvPicPr>
          <p:cNvPr id="9" name="Image 1" descr="preencoded.png">    </p:cNvPr>
          <p:cNvPicPr>
            <a:picLocks noChangeAspect="1"/>
          </p:cNvPicPr>
          <p:nvPr/>
        </p:nvPicPr>
        <p:blipFill>
          <a:blip r:embed="rId2"/>
          <a:stretch>
            <a:fillRect/>
          </a:stretch>
        </p:blipFill>
        <p:spPr>
          <a:xfrm>
            <a:off x="7159935" y="1908536"/>
            <a:ext cx="316017" cy="316017"/>
          </a:xfrm>
          <a:prstGeom prst="rect">
            <a:avLst/>
          </a:prstGeom>
        </p:spPr>
      </p:pic>
      <p:sp>
        <p:nvSpPr>
          <p:cNvPr id="10" name="Text 6"/>
          <p:cNvSpPr txBox="1"/>
          <p:nvPr/>
        </p:nvSpPr>
        <p:spPr>
          <a:xfrm>
            <a:off x="4519879" y="2468880"/>
            <a:ext cx="3154680" cy="1097280"/>
          </a:xfrm>
          <a:prstGeom prst="rect">
            <a:avLst/>
          </a:prstGeom>
          <a:noFill/>
          <a:ln/>
        </p:spPr>
        <p:txBody>
          <a:bodyPr wrap="square" lIns="50800" tIns="50800" rIns="50800" bIns="50800" rtlCol="0" anchor="t"/>
          <a:lstStyle/>
          <a:p>
            <a:pPr rtl="1" algn="r" indent="0" marL="0">
              <a:buNone/>
            </a:pPr>
            <a:r>
              <a:rPr lang="he-IL" altLang="en-US" sz="1900" b="1" dirty="0">
                <a:solidFill>
                  <a:schemeClr val="tx1"/>
                </a:solidFill>
                <a:latin typeface="Arial" pitchFamily="34" charset="0"/>
                <a:ea typeface="Arial" pitchFamily="34" charset="-122"/>
                <a:cs typeface="Arial" pitchFamily="34" charset="-120"/>
              </a:rPr>
              <a:t>צבא</a:t>
            </a:r>
            <a:endParaRPr lang="he-IL" sz="1900" dirty="0"/>
          </a:p>
        </p:txBody>
      </p:sp>
      <p:sp>
        <p:nvSpPr>
          <p:cNvPr id="11" name="Shape 7"/>
          <p:cNvSpPr/>
          <p:nvPr/>
        </p:nvSpPr>
        <p:spPr>
          <a:xfrm>
            <a:off x="551383" y="1508760"/>
            <a:ext cx="3520440" cy="2148840"/>
          </a:xfrm>
          <a:prstGeom prst="roundRect">
            <a:avLst>
              <a:gd name="adj" fmla="val 5106"/>
            </a:avLst>
          </a:prstGeom>
          <a:solidFill>
            <a:schemeClr val="bg2"/>
          </a:solidFill>
          <a:ln w="12700">
            <a:solidFill>
              <a:schemeClr val="bg2"/>
            </a:solidFill>
            <a:prstDash val="solid"/>
          </a:ln>
        </p:spPr>
      </p:sp>
      <p:sp>
        <p:nvSpPr>
          <p:cNvPr id="12" name="Shape 8"/>
          <p:cNvSpPr/>
          <p:nvPr/>
        </p:nvSpPr>
        <p:spPr>
          <a:xfrm>
            <a:off x="3203143" y="1737360"/>
            <a:ext cx="658368" cy="658368"/>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3374319" y="1908536"/>
            <a:ext cx="316017" cy="316017"/>
          </a:xfrm>
          <a:prstGeom prst="rect">
            <a:avLst/>
          </a:prstGeom>
        </p:spPr>
      </p:pic>
      <p:sp>
        <p:nvSpPr>
          <p:cNvPr id="14" name="Text 9"/>
          <p:cNvSpPr txBox="1"/>
          <p:nvPr/>
        </p:nvSpPr>
        <p:spPr>
          <a:xfrm>
            <a:off x="734263" y="2468880"/>
            <a:ext cx="3154680" cy="1097280"/>
          </a:xfrm>
          <a:prstGeom prst="rect">
            <a:avLst/>
          </a:prstGeom>
          <a:noFill/>
          <a:ln/>
        </p:spPr>
        <p:txBody>
          <a:bodyPr wrap="square" lIns="50800" tIns="50800" rIns="50800" bIns="50800" rtlCol="0" anchor="t"/>
          <a:lstStyle/>
          <a:p>
            <a:pPr rtl="1" algn="r" indent="0" marL="0">
              <a:buNone/>
            </a:pPr>
            <a:r>
              <a:rPr lang="he-IL" altLang="en-US" sz="1400" dirty="0">
                <a:solidFill>
                  <a:schemeClr val="tx1"/>
                </a:solidFill>
                <a:latin typeface="Arial" pitchFamily="34" charset="0"/>
                <a:ea typeface="Arial" pitchFamily="34" charset="-122"/>
                <a:cs typeface="Arial" pitchFamily="34" charset="-120"/>
              </a:rPr>
              <a:t>עמותות וארגונים ("לקט ישראל", "מהיום", האגודה לבריאות הציבור, רשת ערים בריאות, אג'יק, תוכנית מרפא ועוד)</a:t>
            </a:r>
            <a:endParaRPr lang="he-IL" sz="1400" dirty="0"/>
          </a:p>
        </p:txBody>
      </p:sp>
      <p:sp>
        <p:nvSpPr>
          <p:cNvPr id="15" name="Shape 10"/>
          <p:cNvSpPr/>
          <p:nvPr/>
        </p:nvSpPr>
        <p:spPr>
          <a:xfrm>
            <a:off x="8122615" y="3931920"/>
            <a:ext cx="3520440" cy="2148840"/>
          </a:xfrm>
          <a:prstGeom prst="roundRect">
            <a:avLst>
              <a:gd name="adj" fmla="val 5106"/>
            </a:avLst>
          </a:prstGeom>
          <a:solidFill>
            <a:schemeClr val="bg2"/>
          </a:solidFill>
          <a:ln w="12700">
            <a:solidFill>
              <a:schemeClr val="bg2"/>
            </a:solidFill>
            <a:prstDash val="solid"/>
          </a:ln>
        </p:spPr>
      </p:sp>
      <p:sp>
        <p:nvSpPr>
          <p:cNvPr id="16" name="Shape 11"/>
          <p:cNvSpPr/>
          <p:nvPr/>
        </p:nvSpPr>
        <p:spPr>
          <a:xfrm>
            <a:off x="10774375" y="4160520"/>
            <a:ext cx="658368" cy="658368"/>
          </a:xfrm>
          <a:prstGeom prst="ellipse">
            <a:avLst/>
          </a:prstGeom>
          <a:solidFill>
            <a:schemeClr val="accent5"/>
          </a:solidFill>
          <a:ln w="12700">
            <a:solidFill>
              <a:schemeClr val="accent5"/>
            </a:solidFill>
            <a:prstDash val="solid"/>
          </a:ln>
        </p:spPr>
      </p:sp>
      <p:pic>
        <p:nvPicPr>
          <p:cNvPr id="17" name="Image 3" descr="preencoded.png">    </p:cNvPr>
          <p:cNvPicPr>
            <a:picLocks noChangeAspect="1"/>
          </p:cNvPicPr>
          <p:nvPr/>
        </p:nvPicPr>
        <p:blipFill>
          <a:blip r:embed="rId4"/>
          <a:stretch>
            <a:fillRect/>
          </a:stretch>
        </p:blipFill>
        <p:spPr>
          <a:xfrm>
            <a:off x="10945551" y="4331696"/>
            <a:ext cx="316017" cy="316017"/>
          </a:xfrm>
          <a:prstGeom prst="rect">
            <a:avLst/>
          </a:prstGeom>
        </p:spPr>
      </p:pic>
      <p:sp>
        <p:nvSpPr>
          <p:cNvPr id="18" name="Text 12"/>
          <p:cNvSpPr txBox="1"/>
          <p:nvPr/>
        </p:nvSpPr>
        <p:spPr>
          <a:xfrm>
            <a:off x="8305495" y="4892040"/>
            <a:ext cx="3154680" cy="1097280"/>
          </a:xfrm>
          <a:prstGeom prst="rect">
            <a:avLst/>
          </a:prstGeom>
          <a:noFill/>
          <a:ln/>
        </p:spPr>
        <p:txBody>
          <a:bodyPr wrap="square" lIns="50800" tIns="50800" rIns="50800" bIns="50800" rtlCol="0" anchor="t"/>
          <a:lstStyle/>
          <a:p>
            <a:pPr rtl="1" algn="r" indent="0" marL="0">
              <a:buNone/>
            </a:pPr>
            <a:r>
              <a:rPr lang="he-IL" altLang="en-US" sz="1900" b="1" dirty="0">
                <a:solidFill>
                  <a:schemeClr val="tx1"/>
                </a:solidFill>
                <a:latin typeface="Arial" pitchFamily="34" charset="0"/>
                <a:ea typeface="Arial" pitchFamily="34" charset="-122"/>
                <a:cs typeface="Arial" pitchFamily="34" charset="-120"/>
              </a:rPr>
              <a:t>כנסת</a:t>
            </a:r>
            <a:endParaRPr lang="he-IL" sz="1900" dirty="0"/>
          </a:p>
        </p:txBody>
      </p:sp>
      <p:sp>
        <p:nvSpPr>
          <p:cNvPr id="19" name="Shape 13"/>
          <p:cNvSpPr/>
          <p:nvPr/>
        </p:nvSpPr>
        <p:spPr>
          <a:xfrm>
            <a:off x="4336999" y="3931920"/>
            <a:ext cx="3520440" cy="2148840"/>
          </a:xfrm>
          <a:prstGeom prst="roundRect">
            <a:avLst>
              <a:gd name="adj" fmla="val 5106"/>
            </a:avLst>
          </a:prstGeom>
          <a:solidFill>
            <a:schemeClr val="bg2"/>
          </a:solidFill>
          <a:ln w="12700">
            <a:solidFill>
              <a:schemeClr val="bg2"/>
            </a:solidFill>
            <a:prstDash val="solid"/>
          </a:ln>
        </p:spPr>
      </p:sp>
      <p:sp>
        <p:nvSpPr>
          <p:cNvPr id="20" name="Shape 14"/>
          <p:cNvSpPr/>
          <p:nvPr/>
        </p:nvSpPr>
        <p:spPr>
          <a:xfrm>
            <a:off x="6988759" y="4160520"/>
            <a:ext cx="658368" cy="658368"/>
          </a:xfrm>
          <a:prstGeom prst="ellipse">
            <a:avLst/>
          </a:prstGeom>
          <a:solidFill>
            <a:schemeClr val="accent3"/>
          </a:solidFill>
          <a:ln w="12700">
            <a:solidFill>
              <a:schemeClr val="accent3"/>
            </a:solidFill>
            <a:prstDash val="solid"/>
          </a:ln>
        </p:spPr>
      </p:sp>
      <p:pic>
        <p:nvPicPr>
          <p:cNvPr id="21" name="Image 4" descr="preencoded.png">    </p:cNvPr>
          <p:cNvPicPr>
            <a:picLocks noChangeAspect="1"/>
          </p:cNvPicPr>
          <p:nvPr/>
        </p:nvPicPr>
        <p:blipFill>
          <a:blip r:embed="rId5"/>
          <a:stretch>
            <a:fillRect/>
          </a:stretch>
        </p:blipFill>
        <p:spPr>
          <a:xfrm>
            <a:off x="7159935" y="4331696"/>
            <a:ext cx="316017" cy="316017"/>
          </a:xfrm>
          <a:prstGeom prst="rect">
            <a:avLst/>
          </a:prstGeom>
        </p:spPr>
      </p:pic>
      <p:sp>
        <p:nvSpPr>
          <p:cNvPr id="22" name="Text 15"/>
          <p:cNvSpPr txBox="1"/>
          <p:nvPr/>
        </p:nvSpPr>
        <p:spPr>
          <a:xfrm>
            <a:off x="4519879" y="4892040"/>
            <a:ext cx="3154680" cy="1097280"/>
          </a:xfrm>
          <a:prstGeom prst="rect">
            <a:avLst/>
          </a:prstGeom>
          <a:noFill/>
          <a:ln/>
        </p:spPr>
        <p:txBody>
          <a:bodyPr wrap="square" lIns="50800" tIns="50800" rIns="50800" bIns="50800" rtlCol="0" anchor="t"/>
          <a:lstStyle/>
          <a:p>
            <a:pPr rtl="1" algn="r" indent="0" marL="0">
              <a:buNone/>
            </a:pPr>
            <a:r>
              <a:rPr lang="he-IL" altLang="en-US" sz="1900" b="1" dirty="0">
                <a:solidFill>
                  <a:schemeClr val="tx1"/>
                </a:solidFill>
                <a:latin typeface="Arial" pitchFamily="34" charset="0"/>
                <a:ea typeface="Arial" pitchFamily="34" charset="-122"/>
                <a:cs typeface="Arial" pitchFamily="34" charset="-120"/>
              </a:rPr>
              <a:t>מקומות עבודה (למשל בהייטק)</a:t>
            </a:r>
            <a:endParaRPr lang="he-IL" sz="1900" dirty="0"/>
          </a:p>
        </p:txBody>
      </p:sp>
      <p:sp>
        <p:nvSpPr>
          <p:cNvPr id="23" name="Shape 16"/>
          <p:cNvSpPr/>
          <p:nvPr/>
        </p:nvSpPr>
        <p:spPr>
          <a:xfrm>
            <a:off x="551383" y="3931920"/>
            <a:ext cx="3520440" cy="2148840"/>
          </a:xfrm>
          <a:prstGeom prst="roundRect">
            <a:avLst>
              <a:gd name="adj" fmla="val 5106"/>
            </a:avLst>
          </a:prstGeom>
          <a:solidFill>
            <a:schemeClr val="bg2"/>
          </a:solidFill>
          <a:ln w="12700">
            <a:solidFill>
              <a:schemeClr val="bg2"/>
            </a:solidFill>
            <a:prstDash val="solid"/>
          </a:ln>
        </p:spPr>
      </p:sp>
      <p:sp>
        <p:nvSpPr>
          <p:cNvPr id="24" name="Shape 17"/>
          <p:cNvSpPr/>
          <p:nvPr/>
        </p:nvSpPr>
        <p:spPr>
          <a:xfrm>
            <a:off x="3203143" y="4160520"/>
            <a:ext cx="658368" cy="658368"/>
          </a:xfrm>
          <a:prstGeom prst="ellipse">
            <a:avLst/>
          </a:prstGeom>
          <a:solidFill>
            <a:schemeClr val="accent4"/>
          </a:solidFill>
          <a:ln w="12700">
            <a:solidFill>
              <a:schemeClr val="accent4"/>
            </a:solidFill>
            <a:prstDash val="solid"/>
          </a:ln>
        </p:spPr>
      </p:sp>
      <p:pic>
        <p:nvPicPr>
          <p:cNvPr id="25" name="Image 5" descr="preencoded.png">    </p:cNvPr>
          <p:cNvPicPr>
            <a:picLocks noChangeAspect="1"/>
          </p:cNvPicPr>
          <p:nvPr/>
        </p:nvPicPr>
        <p:blipFill>
          <a:blip r:embed="rId6"/>
          <a:stretch>
            <a:fillRect/>
          </a:stretch>
        </p:blipFill>
        <p:spPr>
          <a:xfrm>
            <a:off x="3374319" y="4331696"/>
            <a:ext cx="316017" cy="316017"/>
          </a:xfrm>
          <a:prstGeom prst="rect">
            <a:avLst/>
          </a:prstGeom>
        </p:spPr>
      </p:pic>
      <p:sp>
        <p:nvSpPr>
          <p:cNvPr id="26" name="Text 18"/>
          <p:cNvSpPr txBox="1"/>
          <p:nvPr/>
        </p:nvSpPr>
        <p:spPr>
          <a:xfrm>
            <a:off x="734263" y="4892040"/>
            <a:ext cx="3154680" cy="1097280"/>
          </a:xfrm>
          <a:prstGeom prst="rect">
            <a:avLst/>
          </a:prstGeom>
          <a:noFill/>
          <a:ln/>
        </p:spPr>
        <p:txBody>
          <a:bodyPr wrap="square" lIns="50800" tIns="50800" rIns="50800" bIns="50800" rtlCol="0" anchor="t"/>
          <a:lstStyle/>
          <a:p>
            <a:pPr rtl="1" algn="r" indent="0" marL="0">
              <a:buNone/>
            </a:pPr>
            <a:r>
              <a:rPr lang="he-IL" altLang="en-US" sz="1900" b="1" dirty="0">
                <a:solidFill>
                  <a:schemeClr val="tx1"/>
                </a:solidFill>
                <a:latin typeface="Arial" pitchFamily="34" charset="0"/>
                <a:ea typeface="Arial" pitchFamily="34" charset="-122"/>
                <a:cs typeface="Arial" pitchFamily="34" charset="-120"/>
              </a:rPr>
              <a:t>גופים המבצעים פיקוח (מפעל ההזנה)</a:t>
            </a:r>
            <a:endParaRPr lang="he-IL" sz="19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תחומים עיקריים בהם עוסקת התזונה בבריאות הציבור</a:t>
            </a:r>
            <a:endParaRPr lang="he-IL" sz="3000" dirty="0"/>
          </a:p>
        </p:txBody>
      </p:sp>
      <p:sp>
        <p:nvSpPr>
          <p:cNvPr id="3" name="Shape 1"/>
          <p:cNvSpPr/>
          <p:nvPr/>
        </p:nvSpPr>
        <p:spPr>
          <a:xfrm>
            <a:off x="9035186" y="1554480"/>
            <a:ext cx="2606040" cy="1325880"/>
          </a:xfrm>
          <a:prstGeom prst="roundRect">
            <a:avLst>
              <a:gd name="adj" fmla="val 8276"/>
            </a:avLst>
          </a:prstGeom>
          <a:solidFill>
            <a:schemeClr val="bg2"/>
          </a:solidFill>
          <a:ln w="12700">
            <a:solidFill>
              <a:schemeClr val="bg2"/>
            </a:solidFill>
            <a:prstDash val="solid"/>
          </a:ln>
        </p:spPr>
      </p:sp>
      <p:sp>
        <p:nvSpPr>
          <p:cNvPr id="4" name="Shape 2"/>
          <p:cNvSpPr/>
          <p:nvPr/>
        </p:nvSpPr>
        <p:spPr>
          <a:xfrm>
            <a:off x="10863986" y="1892808"/>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1030407" y="2059229"/>
            <a:ext cx="307238" cy="307238"/>
          </a:xfrm>
          <a:prstGeom prst="rect">
            <a:avLst/>
          </a:prstGeom>
        </p:spPr>
      </p:pic>
      <p:sp>
        <p:nvSpPr>
          <p:cNvPr id="6" name="Text 3"/>
          <p:cNvSpPr txBox="1"/>
          <p:nvPr/>
        </p:nvSpPr>
        <p:spPr>
          <a:xfrm>
            <a:off x="9126626" y="155448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השמנה</a:t>
            </a:r>
            <a:endParaRPr lang="he-IL" sz="1800" dirty="0"/>
          </a:p>
        </p:txBody>
      </p:sp>
      <p:sp>
        <p:nvSpPr>
          <p:cNvPr id="7" name="Shape 4"/>
          <p:cNvSpPr/>
          <p:nvPr/>
        </p:nvSpPr>
        <p:spPr>
          <a:xfrm>
            <a:off x="6206947" y="1554480"/>
            <a:ext cx="2606040" cy="1325880"/>
          </a:xfrm>
          <a:prstGeom prst="roundRect">
            <a:avLst>
              <a:gd name="adj" fmla="val 8276"/>
            </a:avLst>
          </a:prstGeom>
          <a:solidFill>
            <a:schemeClr val="bg2"/>
          </a:solidFill>
          <a:ln w="12700">
            <a:solidFill>
              <a:schemeClr val="bg2"/>
            </a:solidFill>
            <a:prstDash val="solid"/>
          </a:ln>
        </p:spPr>
      </p:sp>
      <p:sp>
        <p:nvSpPr>
          <p:cNvPr id="8" name="Shape 5"/>
          <p:cNvSpPr/>
          <p:nvPr/>
        </p:nvSpPr>
        <p:spPr>
          <a:xfrm>
            <a:off x="8035747" y="1892808"/>
            <a:ext cx="640080" cy="64008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8202168" y="2059229"/>
            <a:ext cx="307238" cy="307238"/>
          </a:xfrm>
          <a:prstGeom prst="rect">
            <a:avLst/>
          </a:prstGeom>
        </p:spPr>
      </p:pic>
      <p:sp>
        <p:nvSpPr>
          <p:cNvPr id="10" name="Text 6"/>
          <p:cNvSpPr txBox="1"/>
          <p:nvPr/>
        </p:nvSpPr>
        <p:spPr>
          <a:xfrm>
            <a:off x="6298387" y="155448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סכרת</a:t>
            </a:r>
            <a:endParaRPr lang="he-IL" sz="1800" dirty="0"/>
          </a:p>
        </p:txBody>
      </p:sp>
      <p:sp>
        <p:nvSpPr>
          <p:cNvPr id="11" name="Shape 7"/>
          <p:cNvSpPr/>
          <p:nvPr/>
        </p:nvSpPr>
        <p:spPr>
          <a:xfrm>
            <a:off x="3378708" y="1554480"/>
            <a:ext cx="2606040" cy="1325880"/>
          </a:xfrm>
          <a:prstGeom prst="roundRect">
            <a:avLst>
              <a:gd name="adj" fmla="val 8276"/>
            </a:avLst>
          </a:prstGeom>
          <a:solidFill>
            <a:schemeClr val="bg2"/>
          </a:solidFill>
          <a:ln w="12700">
            <a:solidFill>
              <a:schemeClr val="bg2"/>
            </a:solidFill>
            <a:prstDash val="solid"/>
          </a:ln>
        </p:spPr>
      </p:sp>
      <p:sp>
        <p:nvSpPr>
          <p:cNvPr id="12" name="Shape 8"/>
          <p:cNvSpPr/>
          <p:nvPr/>
        </p:nvSpPr>
        <p:spPr>
          <a:xfrm>
            <a:off x="5207508" y="1892808"/>
            <a:ext cx="640080" cy="640080"/>
          </a:xfrm>
          <a:prstGeom prst="ellipse">
            <a:avLst/>
          </a:prstGeom>
          <a:solidFill>
            <a:schemeClr val="accent3"/>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5373929" y="2059229"/>
            <a:ext cx="307238" cy="307238"/>
          </a:xfrm>
          <a:prstGeom prst="rect">
            <a:avLst/>
          </a:prstGeom>
        </p:spPr>
      </p:pic>
      <p:sp>
        <p:nvSpPr>
          <p:cNvPr id="14" name="Text 9"/>
          <p:cNvSpPr txBox="1"/>
          <p:nvPr/>
        </p:nvSpPr>
        <p:spPr>
          <a:xfrm>
            <a:off x="3470148" y="155448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הנקה</a:t>
            </a:r>
            <a:endParaRPr lang="he-IL" sz="1800" dirty="0"/>
          </a:p>
        </p:txBody>
      </p:sp>
      <p:sp>
        <p:nvSpPr>
          <p:cNvPr id="15" name="Shape 10"/>
          <p:cNvSpPr/>
          <p:nvPr/>
        </p:nvSpPr>
        <p:spPr>
          <a:xfrm>
            <a:off x="550469" y="1554480"/>
            <a:ext cx="2606040" cy="1325880"/>
          </a:xfrm>
          <a:prstGeom prst="roundRect">
            <a:avLst>
              <a:gd name="adj" fmla="val 8276"/>
            </a:avLst>
          </a:prstGeom>
          <a:solidFill>
            <a:schemeClr val="bg2"/>
          </a:solidFill>
          <a:ln w="12700">
            <a:solidFill>
              <a:schemeClr val="bg2"/>
            </a:solidFill>
            <a:prstDash val="solid"/>
          </a:ln>
        </p:spPr>
      </p:sp>
      <p:sp>
        <p:nvSpPr>
          <p:cNvPr id="16" name="Shape 11"/>
          <p:cNvSpPr/>
          <p:nvPr/>
        </p:nvSpPr>
        <p:spPr>
          <a:xfrm>
            <a:off x="2379269" y="1892808"/>
            <a:ext cx="640080" cy="640080"/>
          </a:xfrm>
          <a:prstGeom prst="ellipse">
            <a:avLst/>
          </a:prstGeom>
          <a:solidFill>
            <a:schemeClr val="accent4"/>
          </a:solidFill>
          <a:ln w="12700">
            <a:solidFill>
              <a:schemeClr val="accent4"/>
            </a:solidFill>
            <a:prstDash val="solid"/>
          </a:ln>
        </p:spPr>
      </p:sp>
      <p:pic>
        <p:nvPicPr>
          <p:cNvPr id="17" name="Image 3" descr="preencoded.png">    </p:cNvPr>
          <p:cNvPicPr>
            <a:picLocks noChangeAspect="1"/>
          </p:cNvPicPr>
          <p:nvPr/>
        </p:nvPicPr>
        <p:blipFill>
          <a:blip r:embed="rId4"/>
          <a:stretch>
            <a:fillRect/>
          </a:stretch>
        </p:blipFill>
        <p:spPr>
          <a:xfrm>
            <a:off x="2545690" y="2059229"/>
            <a:ext cx="307238" cy="307238"/>
          </a:xfrm>
          <a:prstGeom prst="rect">
            <a:avLst/>
          </a:prstGeom>
        </p:spPr>
      </p:pic>
      <p:sp>
        <p:nvSpPr>
          <p:cNvPr id="18" name="Text 12"/>
          <p:cNvSpPr txBox="1"/>
          <p:nvPr/>
        </p:nvSpPr>
        <p:spPr>
          <a:xfrm>
            <a:off x="641909" y="155448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בריאות העובד</a:t>
            </a:r>
            <a:endParaRPr lang="he-IL" sz="1800" dirty="0"/>
          </a:p>
        </p:txBody>
      </p:sp>
      <p:sp>
        <p:nvSpPr>
          <p:cNvPr id="19" name="Shape 13"/>
          <p:cNvSpPr/>
          <p:nvPr/>
        </p:nvSpPr>
        <p:spPr>
          <a:xfrm>
            <a:off x="9035186" y="3108960"/>
            <a:ext cx="2606040" cy="1325880"/>
          </a:xfrm>
          <a:prstGeom prst="roundRect">
            <a:avLst>
              <a:gd name="adj" fmla="val 8276"/>
            </a:avLst>
          </a:prstGeom>
          <a:solidFill>
            <a:schemeClr val="bg2"/>
          </a:solidFill>
          <a:ln w="12700">
            <a:solidFill>
              <a:schemeClr val="bg2"/>
            </a:solidFill>
            <a:prstDash val="solid"/>
          </a:ln>
        </p:spPr>
      </p:sp>
      <p:sp>
        <p:nvSpPr>
          <p:cNvPr id="20" name="Shape 14"/>
          <p:cNvSpPr/>
          <p:nvPr/>
        </p:nvSpPr>
        <p:spPr>
          <a:xfrm>
            <a:off x="10863986" y="3447288"/>
            <a:ext cx="640080" cy="640080"/>
          </a:xfrm>
          <a:prstGeom prst="ellipse">
            <a:avLst/>
          </a:prstGeom>
          <a:solidFill>
            <a:schemeClr val="accent6"/>
          </a:solidFill>
          <a:ln w="12700">
            <a:solidFill>
              <a:schemeClr val="accent6"/>
            </a:solidFill>
            <a:prstDash val="solid"/>
          </a:ln>
        </p:spPr>
      </p:sp>
      <p:pic>
        <p:nvPicPr>
          <p:cNvPr id="21" name="Image 4" descr="preencoded.png">    </p:cNvPr>
          <p:cNvPicPr>
            <a:picLocks noChangeAspect="1"/>
          </p:cNvPicPr>
          <p:nvPr/>
        </p:nvPicPr>
        <p:blipFill>
          <a:blip r:embed="rId5"/>
          <a:stretch>
            <a:fillRect/>
          </a:stretch>
        </p:blipFill>
        <p:spPr>
          <a:xfrm>
            <a:off x="11030407" y="3613709"/>
            <a:ext cx="307238" cy="307238"/>
          </a:xfrm>
          <a:prstGeom prst="rect">
            <a:avLst/>
          </a:prstGeom>
        </p:spPr>
      </p:pic>
      <p:sp>
        <p:nvSpPr>
          <p:cNvPr id="22" name="Text 15"/>
          <p:cNvSpPr txBox="1"/>
          <p:nvPr/>
        </p:nvSpPr>
        <p:spPr>
          <a:xfrm>
            <a:off x="9126626" y="310896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בריאות העצם</a:t>
            </a:r>
            <a:endParaRPr lang="he-IL" sz="1800" dirty="0"/>
          </a:p>
        </p:txBody>
      </p:sp>
      <p:sp>
        <p:nvSpPr>
          <p:cNvPr id="23" name="Shape 16"/>
          <p:cNvSpPr/>
          <p:nvPr/>
        </p:nvSpPr>
        <p:spPr>
          <a:xfrm>
            <a:off x="6206947" y="3108960"/>
            <a:ext cx="2606040" cy="1325880"/>
          </a:xfrm>
          <a:prstGeom prst="roundRect">
            <a:avLst>
              <a:gd name="adj" fmla="val 8276"/>
            </a:avLst>
          </a:prstGeom>
          <a:solidFill>
            <a:schemeClr val="bg2"/>
          </a:solidFill>
          <a:ln w="12700">
            <a:solidFill>
              <a:schemeClr val="bg2"/>
            </a:solidFill>
            <a:prstDash val="solid"/>
          </a:ln>
        </p:spPr>
      </p:sp>
      <p:sp>
        <p:nvSpPr>
          <p:cNvPr id="24" name="Shape 17"/>
          <p:cNvSpPr/>
          <p:nvPr/>
        </p:nvSpPr>
        <p:spPr>
          <a:xfrm>
            <a:off x="8035747" y="3447288"/>
            <a:ext cx="640080" cy="640080"/>
          </a:xfrm>
          <a:prstGeom prst="ellipse">
            <a:avLst/>
          </a:prstGeom>
          <a:solidFill>
            <a:schemeClr val="accent5"/>
          </a:solidFill>
          <a:ln w="12700">
            <a:solidFill>
              <a:schemeClr val="accent5"/>
            </a:solidFill>
            <a:prstDash val="solid"/>
          </a:ln>
        </p:spPr>
      </p:sp>
      <p:pic>
        <p:nvPicPr>
          <p:cNvPr id="25" name="Image 5" descr="preencoded.png">    </p:cNvPr>
          <p:cNvPicPr>
            <a:picLocks noChangeAspect="1"/>
          </p:cNvPicPr>
          <p:nvPr/>
        </p:nvPicPr>
        <p:blipFill>
          <a:blip r:embed="rId6"/>
          <a:stretch>
            <a:fillRect/>
          </a:stretch>
        </p:blipFill>
        <p:spPr>
          <a:xfrm>
            <a:off x="8202168" y="3613709"/>
            <a:ext cx="307238" cy="307238"/>
          </a:xfrm>
          <a:prstGeom prst="rect">
            <a:avLst/>
          </a:prstGeom>
        </p:spPr>
      </p:pic>
      <p:sp>
        <p:nvSpPr>
          <p:cNvPr id="26" name="Text 18"/>
          <p:cNvSpPr txBox="1"/>
          <p:nvPr/>
        </p:nvSpPr>
        <p:spPr>
          <a:xfrm>
            <a:off x="6298387" y="310896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גיל המעבר</a:t>
            </a:r>
            <a:endParaRPr lang="he-IL" sz="1800" dirty="0"/>
          </a:p>
        </p:txBody>
      </p:sp>
      <p:sp>
        <p:nvSpPr>
          <p:cNvPr id="27" name="Shape 19"/>
          <p:cNvSpPr/>
          <p:nvPr/>
        </p:nvSpPr>
        <p:spPr>
          <a:xfrm>
            <a:off x="3378708" y="3108960"/>
            <a:ext cx="2606040" cy="1325880"/>
          </a:xfrm>
          <a:prstGeom prst="roundRect">
            <a:avLst>
              <a:gd name="adj" fmla="val 8276"/>
            </a:avLst>
          </a:prstGeom>
          <a:solidFill>
            <a:schemeClr val="bg2"/>
          </a:solidFill>
          <a:ln w="12700">
            <a:solidFill>
              <a:schemeClr val="bg2"/>
            </a:solidFill>
            <a:prstDash val="solid"/>
          </a:ln>
        </p:spPr>
      </p:sp>
      <p:sp>
        <p:nvSpPr>
          <p:cNvPr id="28" name="Shape 20"/>
          <p:cNvSpPr/>
          <p:nvPr/>
        </p:nvSpPr>
        <p:spPr>
          <a:xfrm>
            <a:off x="5207508" y="3447288"/>
            <a:ext cx="640080" cy="640080"/>
          </a:xfrm>
          <a:prstGeom prst="ellipse">
            <a:avLst/>
          </a:prstGeom>
          <a:solidFill>
            <a:schemeClr val="accent1"/>
          </a:solidFill>
          <a:ln w="12700">
            <a:solidFill>
              <a:schemeClr val="accent1"/>
            </a:solidFill>
            <a:prstDash val="solid"/>
          </a:ln>
        </p:spPr>
      </p:sp>
      <p:pic>
        <p:nvPicPr>
          <p:cNvPr id="29" name="Image 6" descr="preencoded.png">    </p:cNvPr>
          <p:cNvPicPr>
            <a:picLocks noChangeAspect="1"/>
          </p:cNvPicPr>
          <p:nvPr/>
        </p:nvPicPr>
        <p:blipFill>
          <a:blip r:embed="rId7"/>
          <a:stretch>
            <a:fillRect/>
          </a:stretch>
        </p:blipFill>
        <p:spPr>
          <a:xfrm>
            <a:off x="5373929" y="3613709"/>
            <a:ext cx="307238" cy="307238"/>
          </a:xfrm>
          <a:prstGeom prst="rect">
            <a:avLst/>
          </a:prstGeom>
        </p:spPr>
      </p:pic>
      <p:sp>
        <p:nvSpPr>
          <p:cNvPr id="30" name="Text 21"/>
          <p:cNvSpPr txBox="1"/>
          <p:nvPr/>
        </p:nvSpPr>
        <p:spPr>
          <a:xfrm>
            <a:off x="3470148" y="310896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הזדקנות מיטבית</a:t>
            </a:r>
            <a:endParaRPr lang="he-IL" sz="1800" dirty="0"/>
          </a:p>
        </p:txBody>
      </p:sp>
      <p:sp>
        <p:nvSpPr>
          <p:cNvPr id="31" name="Shape 22"/>
          <p:cNvSpPr/>
          <p:nvPr/>
        </p:nvSpPr>
        <p:spPr>
          <a:xfrm>
            <a:off x="550469" y="3108960"/>
            <a:ext cx="2606040" cy="1325880"/>
          </a:xfrm>
          <a:prstGeom prst="roundRect">
            <a:avLst>
              <a:gd name="adj" fmla="val 8276"/>
            </a:avLst>
          </a:prstGeom>
          <a:solidFill>
            <a:schemeClr val="bg2"/>
          </a:solidFill>
          <a:ln w="12700">
            <a:solidFill>
              <a:schemeClr val="bg2"/>
            </a:solidFill>
            <a:prstDash val="solid"/>
          </a:ln>
        </p:spPr>
      </p:sp>
      <p:sp>
        <p:nvSpPr>
          <p:cNvPr id="32" name="Shape 23"/>
          <p:cNvSpPr/>
          <p:nvPr/>
        </p:nvSpPr>
        <p:spPr>
          <a:xfrm>
            <a:off x="2379269" y="3447288"/>
            <a:ext cx="640080" cy="640080"/>
          </a:xfrm>
          <a:prstGeom prst="ellipse">
            <a:avLst/>
          </a:prstGeom>
          <a:solidFill>
            <a:schemeClr val="accent2"/>
          </a:solidFill>
          <a:ln w="12700">
            <a:solidFill>
              <a:schemeClr val="accent2"/>
            </a:solidFill>
            <a:prstDash val="solid"/>
          </a:ln>
        </p:spPr>
      </p:sp>
      <p:pic>
        <p:nvPicPr>
          <p:cNvPr id="33" name="Image 7" descr="preencoded.png">    </p:cNvPr>
          <p:cNvPicPr>
            <a:picLocks noChangeAspect="1"/>
          </p:cNvPicPr>
          <p:nvPr/>
        </p:nvPicPr>
        <p:blipFill>
          <a:blip r:embed="rId8"/>
          <a:stretch>
            <a:fillRect/>
          </a:stretch>
        </p:blipFill>
        <p:spPr>
          <a:xfrm>
            <a:off x="2545690" y="3613709"/>
            <a:ext cx="307238" cy="307238"/>
          </a:xfrm>
          <a:prstGeom prst="rect">
            <a:avLst/>
          </a:prstGeom>
        </p:spPr>
      </p:pic>
      <p:sp>
        <p:nvSpPr>
          <p:cNvPr id="34" name="Text 24"/>
          <p:cNvSpPr txBox="1"/>
          <p:nvPr/>
        </p:nvSpPr>
        <p:spPr>
          <a:xfrm>
            <a:off x="641909" y="310896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סימון מזון</a:t>
            </a:r>
            <a:endParaRPr lang="he-IL" sz="1800" dirty="0"/>
          </a:p>
        </p:txBody>
      </p:sp>
      <p:sp>
        <p:nvSpPr>
          <p:cNvPr id="35" name="Shape 25"/>
          <p:cNvSpPr/>
          <p:nvPr/>
        </p:nvSpPr>
        <p:spPr>
          <a:xfrm>
            <a:off x="7621067" y="4663440"/>
            <a:ext cx="2606040" cy="1325880"/>
          </a:xfrm>
          <a:prstGeom prst="roundRect">
            <a:avLst>
              <a:gd name="adj" fmla="val 8276"/>
            </a:avLst>
          </a:prstGeom>
          <a:solidFill>
            <a:schemeClr val="bg2"/>
          </a:solidFill>
          <a:ln w="12700">
            <a:solidFill>
              <a:schemeClr val="bg2"/>
            </a:solidFill>
            <a:prstDash val="solid"/>
          </a:ln>
        </p:spPr>
      </p:sp>
      <p:sp>
        <p:nvSpPr>
          <p:cNvPr id="36" name="Shape 26"/>
          <p:cNvSpPr/>
          <p:nvPr/>
        </p:nvSpPr>
        <p:spPr>
          <a:xfrm>
            <a:off x="9449867" y="5001768"/>
            <a:ext cx="640080" cy="640080"/>
          </a:xfrm>
          <a:prstGeom prst="ellipse">
            <a:avLst/>
          </a:prstGeom>
          <a:solidFill>
            <a:schemeClr val="accent3"/>
          </a:solidFill>
          <a:ln w="12700">
            <a:solidFill>
              <a:schemeClr val="accent3"/>
            </a:solidFill>
            <a:prstDash val="solid"/>
          </a:ln>
        </p:spPr>
      </p:sp>
      <p:pic>
        <p:nvPicPr>
          <p:cNvPr id="37" name="Image 8" descr="preencoded.png">    </p:cNvPr>
          <p:cNvPicPr>
            <a:picLocks noChangeAspect="1"/>
          </p:cNvPicPr>
          <p:nvPr/>
        </p:nvPicPr>
        <p:blipFill>
          <a:blip r:embed="rId9"/>
          <a:stretch>
            <a:fillRect/>
          </a:stretch>
        </p:blipFill>
        <p:spPr>
          <a:xfrm>
            <a:off x="9616288" y="5168189"/>
            <a:ext cx="307238" cy="307238"/>
          </a:xfrm>
          <a:prstGeom prst="rect">
            <a:avLst/>
          </a:prstGeom>
        </p:spPr>
      </p:pic>
      <p:sp>
        <p:nvSpPr>
          <p:cNvPr id="38" name="Text 27"/>
          <p:cNvSpPr txBox="1"/>
          <p:nvPr/>
        </p:nvSpPr>
        <p:spPr>
          <a:xfrm>
            <a:off x="7712507" y="466344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גדילה והתפתחות בגיל הרך</a:t>
            </a:r>
            <a:endParaRPr lang="he-IL" sz="1800" dirty="0"/>
          </a:p>
        </p:txBody>
      </p:sp>
      <p:sp>
        <p:nvSpPr>
          <p:cNvPr id="39" name="Shape 28"/>
          <p:cNvSpPr/>
          <p:nvPr/>
        </p:nvSpPr>
        <p:spPr>
          <a:xfrm>
            <a:off x="4792828" y="4663440"/>
            <a:ext cx="2606040" cy="1325880"/>
          </a:xfrm>
          <a:prstGeom prst="roundRect">
            <a:avLst>
              <a:gd name="adj" fmla="val 8276"/>
            </a:avLst>
          </a:prstGeom>
          <a:solidFill>
            <a:schemeClr val="bg2"/>
          </a:solidFill>
          <a:ln w="12700">
            <a:solidFill>
              <a:schemeClr val="bg2"/>
            </a:solidFill>
            <a:prstDash val="solid"/>
          </a:ln>
        </p:spPr>
      </p:sp>
      <p:sp>
        <p:nvSpPr>
          <p:cNvPr id="40" name="Shape 29"/>
          <p:cNvSpPr/>
          <p:nvPr/>
        </p:nvSpPr>
        <p:spPr>
          <a:xfrm>
            <a:off x="6621628" y="5001768"/>
            <a:ext cx="640080" cy="640080"/>
          </a:xfrm>
          <a:prstGeom prst="ellipse">
            <a:avLst/>
          </a:prstGeom>
          <a:solidFill>
            <a:schemeClr val="accent4"/>
          </a:solidFill>
          <a:ln w="12700">
            <a:solidFill>
              <a:schemeClr val="accent4"/>
            </a:solidFill>
            <a:prstDash val="solid"/>
          </a:ln>
        </p:spPr>
      </p:sp>
      <p:pic>
        <p:nvPicPr>
          <p:cNvPr id="41" name="Image 9" descr="preencoded.png">    </p:cNvPr>
          <p:cNvPicPr>
            <a:picLocks noChangeAspect="1"/>
          </p:cNvPicPr>
          <p:nvPr/>
        </p:nvPicPr>
        <p:blipFill>
          <a:blip r:embed="rId10"/>
          <a:stretch>
            <a:fillRect/>
          </a:stretch>
        </p:blipFill>
        <p:spPr>
          <a:xfrm>
            <a:off x="6788048" y="5168189"/>
            <a:ext cx="307238" cy="307238"/>
          </a:xfrm>
          <a:prstGeom prst="rect">
            <a:avLst/>
          </a:prstGeom>
        </p:spPr>
      </p:pic>
      <p:sp>
        <p:nvSpPr>
          <p:cNvPr id="42" name="Text 30"/>
          <p:cNvSpPr txBox="1"/>
          <p:nvPr/>
        </p:nvSpPr>
        <p:spPr>
          <a:xfrm>
            <a:off x="4884268" y="466344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הזנה מוסדית</a:t>
            </a:r>
            <a:endParaRPr lang="he-IL" sz="1800" dirty="0"/>
          </a:p>
        </p:txBody>
      </p:sp>
      <p:sp>
        <p:nvSpPr>
          <p:cNvPr id="43" name="Shape 31"/>
          <p:cNvSpPr/>
          <p:nvPr/>
        </p:nvSpPr>
        <p:spPr>
          <a:xfrm>
            <a:off x="1964588" y="4663440"/>
            <a:ext cx="2606040" cy="1325880"/>
          </a:xfrm>
          <a:prstGeom prst="roundRect">
            <a:avLst>
              <a:gd name="adj" fmla="val 8276"/>
            </a:avLst>
          </a:prstGeom>
          <a:solidFill>
            <a:schemeClr val="bg2"/>
          </a:solidFill>
          <a:ln w="12700">
            <a:solidFill>
              <a:schemeClr val="bg2"/>
            </a:solidFill>
            <a:prstDash val="solid"/>
          </a:ln>
        </p:spPr>
      </p:sp>
      <p:sp>
        <p:nvSpPr>
          <p:cNvPr id="44" name="Shape 32"/>
          <p:cNvSpPr/>
          <p:nvPr/>
        </p:nvSpPr>
        <p:spPr>
          <a:xfrm>
            <a:off x="3793388" y="5001768"/>
            <a:ext cx="640080" cy="640080"/>
          </a:xfrm>
          <a:prstGeom prst="ellipse">
            <a:avLst/>
          </a:prstGeom>
          <a:solidFill>
            <a:schemeClr val="accent6"/>
          </a:solidFill>
          <a:ln w="12700">
            <a:solidFill>
              <a:schemeClr val="accent6"/>
            </a:solidFill>
            <a:prstDash val="solid"/>
          </a:ln>
        </p:spPr>
      </p:sp>
      <p:pic>
        <p:nvPicPr>
          <p:cNvPr id="45" name="Image 10" descr="preencoded.png">    </p:cNvPr>
          <p:cNvPicPr>
            <a:picLocks noChangeAspect="1"/>
          </p:cNvPicPr>
          <p:nvPr/>
        </p:nvPicPr>
        <p:blipFill>
          <a:blip r:embed="rId11"/>
          <a:stretch>
            <a:fillRect/>
          </a:stretch>
        </p:blipFill>
        <p:spPr>
          <a:xfrm>
            <a:off x="3959809" y="5168189"/>
            <a:ext cx="307238" cy="307238"/>
          </a:xfrm>
          <a:prstGeom prst="rect">
            <a:avLst/>
          </a:prstGeom>
        </p:spPr>
      </p:pic>
      <p:sp>
        <p:nvSpPr>
          <p:cNvPr id="46" name="Text 33"/>
          <p:cNvSpPr txBox="1"/>
          <p:nvPr/>
        </p:nvSpPr>
        <p:spPr>
          <a:xfrm>
            <a:off x="2056028" y="4663440"/>
            <a:ext cx="1691640" cy="1325880"/>
          </a:xfrm>
          <a:prstGeom prst="rect">
            <a:avLst/>
          </a:prstGeom>
          <a:noFill/>
          <a:ln/>
        </p:spPr>
        <p:txBody>
          <a:bodyPr wrap="square" lIns="50800" tIns="50800" rIns="50800" bIns="50800" rtlCol="0" anchor="ctr"/>
          <a:lstStyle/>
          <a:p>
            <a:pPr rtl="1" algn="r" indent="0" marL="0">
              <a:buNone/>
            </a:pPr>
            <a:r>
              <a:rPr lang="he-IL" altLang="en-US" sz="1800" b="1" dirty="0">
                <a:solidFill>
                  <a:schemeClr val="tx1"/>
                </a:solidFill>
                <a:latin typeface="Arial" pitchFamily="34" charset="0"/>
                <a:ea typeface="Arial" pitchFamily="34" charset="-122"/>
                <a:cs typeface="Arial" pitchFamily="34" charset="-120"/>
              </a:rPr>
              <a:t>חוסן</a:t>
            </a:r>
            <a:endParaRPr lang="he-IL" sz="18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תחומים עיקריים בהם עוסקת התזונה בבריאות הציבור</a:t>
            </a:r>
            <a:endParaRPr lang="he-IL" sz="3000" dirty="0"/>
          </a:p>
        </p:txBody>
      </p:sp>
      <p:sp>
        <p:nvSpPr>
          <p:cNvPr id="3" name="Shape 1"/>
          <p:cNvSpPr/>
          <p:nvPr/>
        </p:nvSpPr>
        <p:spPr>
          <a:xfrm>
            <a:off x="5501488" y="1554480"/>
            <a:ext cx="1188720" cy="1188720"/>
          </a:xfrm>
          <a:prstGeom prst="ellipse">
            <a:avLst/>
          </a:prstGeom>
          <a:solidFill>
            <a:schemeClr val="accent3"/>
          </a:solidFill>
          <a:ln w="12700">
            <a:solidFill>
              <a:schemeClr val="accent3"/>
            </a:solidFill>
            <a:prstDash val="solid"/>
          </a:ln>
        </p:spPr>
      </p:sp>
      <p:pic>
        <p:nvPicPr>
          <p:cNvPr id="4" name="Image 0" descr="preencoded.png">    </p:cNvPr>
          <p:cNvPicPr>
            <a:picLocks noChangeAspect="1"/>
          </p:cNvPicPr>
          <p:nvPr/>
        </p:nvPicPr>
        <p:blipFill>
          <a:blip r:embed="rId1"/>
          <a:stretch>
            <a:fillRect/>
          </a:stretch>
        </p:blipFill>
        <p:spPr>
          <a:xfrm>
            <a:off x="5810555" y="1863547"/>
            <a:ext cx="570586" cy="570586"/>
          </a:xfrm>
          <a:prstGeom prst="rect">
            <a:avLst/>
          </a:prstGeom>
        </p:spPr>
      </p:pic>
      <p:sp>
        <p:nvSpPr>
          <p:cNvPr id="5" name="Text 2"/>
          <p:cNvSpPr txBox="1"/>
          <p:nvPr/>
        </p:nvSpPr>
        <p:spPr>
          <a:xfrm>
            <a:off x="1371600" y="2926080"/>
            <a:ext cx="9445752" cy="2743200"/>
          </a:xfrm>
          <a:prstGeom prst="rect">
            <a:avLst/>
          </a:prstGeom>
          <a:noFill/>
          <a:ln/>
        </p:spPr>
        <p:txBody>
          <a:bodyPr wrap="square" lIns="50800" tIns="50800" rIns="50800" bIns="50800" rtlCol="0" anchor="ctr"/>
          <a:lstStyle/>
          <a:p>
            <a:pPr rtl="1" algn="ctr" indent="0" marL="0">
              <a:lnSpc>
                <a:spcPct val="110000"/>
              </a:lnSpc>
              <a:buNone/>
            </a:pPr>
            <a:r>
              <a:rPr lang="he-IL" altLang="en-US" sz="4000" b="1" dirty="0">
                <a:solidFill>
                  <a:schemeClr val="tx2"/>
                </a:solidFill>
                <a:latin typeface="Arial" pitchFamily="34" charset="0"/>
                <a:ea typeface="Arial" pitchFamily="34" charset="-122"/>
                <a:cs typeface="Arial" pitchFamily="34" charset="-120"/>
              </a:rPr>
              <a:t>על אילו מסגרות מלוות חיים</a:t>
            </a:r>
            <a:endParaRPr lang="he-IL" sz="4000" dirty="0"/>
          </a:p>
          <a:p>
            <a:pPr rtl="1" algn="ctr" indent="0" marL="0">
              <a:lnSpc>
                <a:spcPct val="110000"/>
              </a:lnSpc>
              <a:buNone/>
            </a:pPr>
            <a:r>
              <a:rPr lang="he-IL" altLang="en-US" sz="4000" b="1" dirty="0">
                <a:solidFill>
                  <a:schemeClr val="tx2"/>
                </a:solidFill>
                <a:latin typeface="Arial" pitchFamily="34" charset="0"/>
                <a:ea typeface="Arial" pitchFamily="34" charset="-122"/>
                <a:cs typeface="Arial" pitchFamily="34" charset="-120"/>
              </a:rPr>
              <a:t>אתם יכולים לחשוב?</a:t>
            </a:r>
            <a:endParaRPr lang="he-IL" sz="4000" dirty="0"/>
          </a:p>
          <a:p>
            <a:pPr rtl="1" algn="ctr" indent="0" marL="0">
              <a:lnSpc>
                <a:spcPct val="110000"/>
              </a:lnSpc>
              <a:buNone/>
            </a:pPr>
            <a:r>
              <a:rPr lang="he-IL" altLang="en-US" sz="4000" b="1" dirty="0">
                <a:solidFill>
                  <a:schemeClr val="accent1"/>
                </a:solidFill>
                <a:latin typeface="Arial" pitchFamily="34" charset="0"/>
                <a:ea typeface="Arial" pitchFamily="34" charset="-122"/>
                <a:cs typeface="Arial" pitchFamily="34" charset="-120"/>
              </a:rPr>
              <a:t>מה קורה ביום יום</a:t>
            </a:r>
            <a:endParaRPr lang="he-IL" sz="40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מסגרות מלוות במהלך החיים בהן ניתן לבצע תוכניות קידום בריאות בתחום התזונה</a:t>
            </a:r>
            <a:endParaRPr lang="he-IL" sz="3000" dirty="0"/>
          </a:p>
        </p:txBody>
      </p:sp>
      <p:sp>
        <p:nvSpPr>
          <p:cNvPr id="3" name="Shape 1"/>
          <p:cNvSpPr/>
          <p:nvPr/>
        </p:nvSpPr>
        <p:spPr>
          <a:xfrm>
            <a:off x="1097280" y="2240280"/>
            <a:ext cx="10058400" cy="0"/>
          </a:xfrm>
          <a:prstGeom prst="line">
            <a:avLst/>
          </a:prstGeom>
          <a:noFill/>
          <a:ln w="38100">
            <a:solidFill>
              <a:schemeClr val="accent1"/>
            </a:solidFill>
            <a:prstDash val="solid"/>
            <a:headEnd type="triangle"/>
          </a:ln>
        </p:spPr>
      </p:sp>
      <p:sp>
        <p:nvSpPr>
          <p:cNvPr id="4" name="Shape 2"/>
          <p:cNvSpPr/>
          <p:nvPr/>
        </p:nvSpPr>
        <p:spPr>
          <a:xfrm>
            <a:off x="10372039" y="1828800"/>
            <a:ext cx="822960" cy="822960"/>
          </a:xfrm>
          <a:prstGeom prst="ellipse">
            <a:avLst/>
          </a:prstGeom>
          <a:solidFill>
            <a:schemeClr val="accent2"/>
          </a:solidFill>
          <a:ln w="38100">
            <a:solidFill>
              <a:schemeClr val="bg1"/>
            </a:solidFill>
            <a:prstDash val="solid"/>
          </a:ln>
        </p:spPr>
      </p:sp>
      <p:pic>
        <p:nvPicPr>
          <p:cNvPr id="5" name="Image 0" descr="preencoded.png">    </p:cNvPr>
          <p:cNvPicPr>
            <a:picLocks noChangeAspect="1"/>
          </p:cNvPicPr>
          <p:nvPr/>
        </p:nvPicPr>
        <p:blipFill>
          <a:blip r:embed="rId1"/>
          <a:stretch>
            <a:fillRect/>
          </a:stretch>
        </p:blipFill>
        <p:spPr>
          <a:xfrm>
            <a:off x="10586009" y="2042770"/>
            <a:ext cx="395021" cy="395021"/>
          </a:xfrm>
          <a:prstGeom prst="rect">
            <a:avLst/>
          </a:prstGeom>
        </p:spPr>
      </p:pic>
      <p:sp>
        <p:nvSpPr>
          <p:cNvPr id="6" name="Shape 3"/>
          <p:cNvSpPr/>
          <p:nvPr/>
        </p:nvSpPr>
        <p:spPr>
          <a:xfrm>
            <a:off x="9923983" y="2926080"/>
            <a:ext cx="1719072" cy="2651760"/>
          </a:xfrm>
          <a:prstGeom prst="roundRect">
            <a:avLst>
              <a:gd name="adj" fmla="val 6383"/>
            </a:avLst>
          </a:prstGeom>
          <a:solidFill>
            <a:schemeClr val="bg2"/>
          </a:solidFill>
          <a:ln w="12700">
            <a:solidFill>
              <a:schemeClr val="bg2"/>
            </a:solidFill>
            <a:prstDash val="solid"/>
          </a:ln>
        </p:spPr>
      </p:sp>
      <p:sp>
        <p:nvSpPr>
          <p:cNvPr id="7" name="Text 4"/>
          <p:cNvSpPr txBox="1"/>
          <p:nvPr/>
        </p:nvSpPr>
        <p:spPr>
          <a:xfrm>
            <a:off x="9997135" y="3017520"/>
            <a:ext cx="1572768" cy="2468880"/>
          </a:xfrm>
          <a:prstGeom prst="rect">
            <a:avLst/>
          </a:prstGeom>
          <a:noFill/>
          <a:ln/>
        </p:spPr>
        <p:txBody>
          <a:bodyPr wrap="square" lIns="50800" tIns="50800" rIns="50800" bIns="50800" rtlCol="0" anchor="t"/>
          <a:lstStyle/>
          <a:p>
            <a:pPr rtl="1" algn="ctr" indent="0" marL="0">
              <a:buNone/>
            </a:pPr>
            <a:r>
              <a:rPr lang="he-IL" altLang="en-US" sz="1700" b="1" dirty="0">
                <a:solidFill>
                  <a:schemeClr val="tx1"/>
                </a:solidFill>
                <a:latin typeface="Arial" pitchFamily="34" charset="0"/>
                <a:ea typeface="Arial" pitchFamily="34" charset="-122"/>
                <a:cs typeface="Arial" pitchFamily="34" charset="-120"/>
              </a:rPr>
              <a:t>טיפת חלב</a:t>
            </a:r>
            <a:endParaRPr lang="he-IL" sz="1700" dirty="0"/>
          </a:p>
        </p:txBody>
      </p:sp>
      <p:sp>
        <p:nvSpPr>
          <p:cNvPr id="8" name="Shape 5"/>
          <p:cNvSpPr/>
          <p:nvPr/>
        </p:nvSpPr>
        <p:spPr>
          <a:xfrm>
            <a:off x="8497519" y="1828800"/>
            <a:ext cx="822960" cy="822960"/>
          </a:xfrm>
          <a:prstGeom prst="ellipse">
            <a:avLst/>
          </a:prstGeom>
          <a:solidFill>
            <a:schemeClr val="accent1"/>
          </a:solidFill>
          <a:ln w="38100">
            <a:solidFill>
              <a:schemeClr val="bg1"/>
            </a:solidFill>
            <a:prstDash val="solid"/>
          </a:ln>
        </p:spPr>
      </p:sp>
      <p:pic>
        <p:nvPicPr>
          <p:cNvPr id="9" name="Image 1" descr="preencoded.png">    </p:cNvPr>
          <p:cNvPicPr>
            <a:picLocks noChangeAspect="1"/>
          </p:cNvPicPr>
          <p:nvPr/>
        </p:nvPicPr>
        <p:blipFill>
          <a:blip r:embed="rId2"/>
          <a:stretch>
            <a:fillRect/>
          </a:stretch>
        </p:blipFill>
        <p:spPr>
          <a:xfrm>
            <a:off x="8711489" y="2042770"/>
            <a:ext cx="395021" cy="395021"/>
          </a:xfrm>
          <a:prstGeom prst="rect">
            <a:avLst/>
          </a:prstGeom>
        </p:spPr>
      </p:pic>
      <p:sp>
        <p:nvSpPr>
          <p:cNvPr id="10" name="Shape 6"/>
          <p:cNvSpPr/>
          <p:nvPr/>
        </p:nvSpPr>
        <p:spPr>
          <a:xfrm>
            <a:off x="8049463" y="2926080"/>
            <a:ext cx="1719072" cy="2651760"/>
          </a:xfrm>
          <a:prstGeom prst="roundRect">
            <a:avLst>
              <a:gd name="adj" fmla="val 6383"/>
            </a:avLst>
          </a:prstGeom>
          <a:solidFill>
            <a:schemeClr val="bg2"/>
          </a:solidFill>
          <a:ln w="12700">
            <a:solidFill>
              <a:schemeClr val="bg2"/>
            </a:solidFill>
            <a:prstDash val="solid"/>
          </a:ln>
        </p:spPr>
      </p:sp>
      <p:sp>
        <p:nvSpPr>
          <p:cNvPr id="11" name="Text 7"/>
          <p:cNvSpPr txBox="1"/>
          <p:nvPr/>
        </p:nvSpPr>
        <p:spPr>
          <a:xfrm>
            <a:off x="8122615" y="3017520"/>
            <a:ext cx="1572768" cy="2468880"/>
          </a:xfrm>
          <a:prstGeom prst="rect">
            <a:avLst/>
          </a:prstGeom>
          <a:noFill/>
          <a:ln/>
        </p:spPr>
        <p:txBody>
          <a:bodyPr wrap="square" lIns="50800" tIns="50800" rIns="50800" bIns="50800" rtlCol="0" anchor="t"/>
          <a:lstStyle/>
          <a:p>
            <a:pPr rtl="1" algn="ctr" indent="0" marL="0">
              <a:buNone/>
            </a:pPr>
            <a:r>
              <a:rPr lang="he-IL" altLang="en-US" sz="1700" b="1" dirty="0">
                <a:solidFill>
                  <a:schemeClr val="tx1"/>
                </a:solidFill>
                <a:latin typeface="Arial" pitchFamily="34" charset="0"/>
                <a:ea typeface="Arial" pitchFamily="34" charset="-122"/>
                <a:cs typeface="Arial" pitchFamily="34" charset="-120"/>
              </a:rPr>
              <a:t>משפחתון, מעון</a:t>
            </a:r>
            <a:endParaRPr lang="he-IL" sz="1700" dirty="0"/>
          </a:p>
        </p:txBody>
      </p:sp>
      <p:sp>
        <p:nvSpPr>
          <p:cNvPr id="12" name="Shape 8"/>
          <p:cNvSpPr/>
          <p:nvPr/>
        </p:nvSpPr>
        <p:spPr>
          <a:xfrm>
            <a:off x="6622999" y="1828800"/>
            <a:ext cx="822960" cy="822960"/>
          </a:xfrm>
          <a:prstGeom prst="ellipse">
            <a:avLst/>
          </a:prstGeom>
          <a:solidFill>
            <a:schemeClr val="accent6"/>
          </a:solidFill>
          <a:ln w="38100">
            <a:solidFill>
              <a:schemeClr val="bg1"/>
            </a:solidFill>
            <a:prstDash val="solid"/>
          </a:ln>
        </p:spPr>
      </p:sp>
      <p:pic>
        <p:nvPicPr>
          <p:cNvPr id="13" name="Image 2" descr="preencoded.png">    </p:cNvPr>
          <p:cNvPicPr>
            <a:picLocks noChangeAspect="1"/>
          </p:cNvPicPr>
          <p:nvPr/>
        </p:nvPicPr>
        <p:blipFill>
          <a:blip r:embed="rId3"/>
          <a:stretch>
            <a:fillRect/>
          </a:stretch>
        </p:blipFill>
        <p:spPr>
          <a:xfrm>
            <a:off x="6836969" y="2042770"/>
            <a:ext cx="395021" cy="395021"/>
          </a:xfrm>
          <a:prstGeom prst="rect">
            <a:avLst/>
          </a:prstGeom>
        </p:spPr>
      </p:pic>
      <p:sp>
        <p:nvSpPr>
          <p:cNvPr id="14" name="Shape 9"/>
          <p:cNvSpPr/>
          <p:nvPr/>
        </p:nvSpPr>
        <p:spPr>
          <a:xfrm>
            <a:off x="6174943" y="2926080"/>
            <a:ext cx="1719072" cy="2651760"/>
          </a:xfrm>
          <a:prstGeom prst="roundRect">
            <a:avLst>
              <a:gd name="adj" fmla="val 6383"/>
            </a:avLst>
          </a:prstGeom>
          <a:solidFill>
            <a:schemeClr val="bg2"/>
          </a:solidFill>
          <a:ln w="12700">
            <a:solidFill>
              <a:schemeClr val="bg2"/>
            </a:solidFill>
            <a:prstDash val="solid"/>
          </a:ln>
        </p:spPr>
      </p:sp>
      <p:sp>
        <p:nvSpPr>
          <p:cNvPr id="15" name="Text 10"/>
          <p:cNvSpPr txBox="1"/>
          <p:nvPr/>
        </p:nvSpPr>
        <p:spPr>
          <a:xfrm>
            <a:off x="6248095" y="3017520"/>
            <a:ext cx="1572768" cy="2468880"/>
          </a:xfrm>
          <a:prstGeom prst="rect">
            <a:avLst/>
          </a:prstGeom>
          <a:noFill/>
          <a:ln/>
        </p:spPr>
        <p:txBody>
          <a:bodyPr wrap="square" lIns="50800" tIns="50800" rIns="50800" bIns="50800" rtlCol="0" anchor="t"/>
          <a:lstStyle/>
          <a:p>
            <a:pPr rtl="1" algn="ctr" indent="0" marL="0">
              <a:buNone/>
            </a:pPr>
            <a:r>
              <a:rPr lang="he-IL" altLang="en-US" sz="1700" dirty="0">
                <a:solidFill>
                  <a:schemeClr val="tx1"/>
                </a:solidFill>
                <a:latin typeface="Arial" pitchFamily="34" charset="0"/>
                <a:ea typeface="Arial" pitchFamily="34" charset="-122"/>
                <a:cs typeface="Arial" pitchFamily="34" charset="-120"/>
              </a:rPr>
              <a:t>מסגרות חינוכיות: גן, בית ספר, ישיבה, פנימיה, אוניברסיטה</a:t>
            </a:r>
            <a:endParaRPr lang="he-IL" sz="1700" dirty="0"/>
          </a:p>
        </p:txBody>
      </p:sp>
      <p:sp>
        <p:nvSpPr>
          <p:cNvPr id="16" name="Shape 11"/>
          <p:cNvSpPr/>
          <p:nvPr/>
        </p:nvSpPr>
        <p:spPr>
          <a:xfrm>
            <a:off x="4748479" y="1828800"/>
            <a:ext cx="822960" cy="822960"/>
          </a:xfrm>
          <a:prstGeom prst="ellipse">
            <a:avLst/>
          </a:prstGeom>
          <a:solidFill>
            <a:schemeClr val="accent3"/>
          </a:solidFill>
          <a:ln w="38100">
            <a:solidFill>
              <a:schemeClr val="bg1"/>
            </a:solidFill>
            <a:prstDash val="solid"/>
          </a:ln>
        </p:spPr>
      </p:sp>
      <p:pic>
        <p:nvPicPr>
          <p:cNvPr id="17" name="Image 3" descr="preencoded.png">    </p:cNvPr>
          <p:cNvPicPr>
            <a:picLocks noChangeAspect="1"/>
          </p:cNvPicPr>
          <p:nvPr/>
        </p:nvPicPr>
        <p:blipFill>
          <a:blip r:embed="rId4"/>
          <a:stretch>
            <a:fillRect/>
          </a:stretch>
        </p:blipFill>
        <p:spPr>
          <a:xfrm>
            <a:off x="4962449" y="2042770"/>
            <a:ext cx="395021" cy="395021"/>
          </a:xfrm>
          <a:prstGeom prst="rect">
            <a:avLst/>
          </a:prstGeom>
        </p:spPr>
      </p:pic>
      <p:sp>
        <p:nvSpPr>
          <p:cNvPr id="18" name="Shape 12"/>
          <p:cNvSpPr/>
          <p:nvPr/>
        </p:nvSpPr>
        <p:spPr>
          <a:xfrm>
            <a:off x="4300423" y="2926080"/>
            <a:ext cx="1719072" cy="2651760"/>
          </a:xfrm>
          <a:prstGeom prst="roundRect">
            <a:avLst>
              <a:gd name="adj" fmla="val 6383"/>
            </a:avLst>
          </a:prstGeom>
          <a:solidFill>
            <a:schemeClr val="bg2"/>
          </a:solidFill>
          <a:ln w="12700">
            <a:solidFill>
              <a:schemeClr val="bg2"/>
            </a:solidFill>
            <a:prstDash val="solid"/>
          </a:ln>
        </p:spPr>
      </p:sp>
      <p:sp>
        <p:nvSpPr>
          <p:cNvPr id="19" name="Text 13"/>
          <p:cNvSpPr txBox="1"/>
          <p:nvPr/>
        </p:nvSpPr>
        <p:spPr>
          <a:xfrm>
            <a:off x="4373575" y="3017520"/>
            <a:ext cx="1572768" cy="2468880"/>
          </a:xfrm>
          <a:prstGeom prst="rect">
            <a:avLst/>
          </a:prstGeom>
          <a:noFill/>
          <a:ln/>
        </p:spPr>
        <p:txBody>
          <a:bodyPr wrap="square" lIns="50800" tIns="50800" rIns="50800" bIns="50800" rtlCol="0" anchor="t"/>
          <a:lstStyle/>
          <a:p>
            <a:pPr rtl="1" algn="ctr" indent="0" marL="0">
              <a:buNone/>
            </a:pPr>
            <a:r>
              <a:rPr lang="he-IL" altLang="en-US" sz="1500" dirty="0">
                <a:solidFill>
                  <a:schemeClr val="tx1"/>
                </a:solidFill>
                <a:latin typeface="Arial" pitchFamily="34" charset="0"/>
                <a:ea typeface="Arial" pitchFamily="34" charset="-122"/>
                <a:cs typeface="Arial" pitchFamily="34" charset="-120"/>
              </a:rPr>
              <a:t>חינוך לא פורמאלי : מרכזים קהילתיים (חוגים), תנועות נוער, בתים חמים, בתי נוער, קייטנות, מרכזי ספורט</a:t>
            </a:r>
            <a:endParaRPr lang="he-IL" sz="1500" dirty="0"/>
          </a:p>
        </p:txBody>
      </p:sp>
      <p:sp>
        <p:nvSpPr>
          <p:cNvPr id="20" name="Shape 14"/>
          <p:cNvSpPr/>
          <p:nvPr/>
        </p:nvSpPr>
        <p:spPr>
          <a:xfrm>
            <a:off x="2873959" y="1828800"/>
            <a:ext cx="822960" cy="822960"/>
          </a:xfrm>
          <a:prstGeom prst="ellipse">
            <a:avLst/>
          </a:prstGeom>
          <a:solidFill>
            <a:schemeClr val="accent4"/>
          </a:solidFill>
          <a:ln w="38100">
            <a:solidFill>
              <a:schemeClr val="bg1"/>
            </a:solidFill>
            <a:prstDash val="solid"/>
          </a:ln>
        </p:spPr>
      </p:sp>
      <p:pic>
        <p:nvPicPr>
          <p:cNvPr id="21" name="Image 4" descr="preencoded.png">    </p:cNvPr>
          <p:cNvPicPr>
            <a:picLocks noChangeAspect="1"/>
          </p:cNvPicPr>
          <p:nvPr/>
        </p:nvPicPr>
        <p:blipFill>
          <a:blip r:embed="rId5"/>
          <a:stretch>
            <a:fillRect/>
          </a:stretch>
        </p:blipFill>
        <p:spPr>
          <a:xfrm>
            <a:off x="3087929" y="2042770"/>
            <a:ext cx="395021" cy="395021"/>
          </a:xfrm>
          <a:prstGeom prst="rect">
            <a:avLst/>
          </a:prstGeom>
        </p:spPr>
      </p:pic>
      <p:sp>
        <p:nvSpPr>
          <p:cNvPr id="22" name="Shape 15"/>
          <p:cNvSpPr/>
          <p:nvPr/>
        </p:nvSpPr>
        <p:spPr>
          <a:xfrm>
            <a:off x="2425903" y="2926080"/>
            <a:ext cx="1719072" cy="2651760"/>
          </a:xfrm>
          <a:prstGeom prst="roundRect">
            <a:avLst>
              <a:gd name="adj" fmla="val 6383"/>
            </a:avLst>
          </a:prstGeom>
          <a:solidFill>
            <a:schemeClr val="bg2"/>
          </a:solidFill>
          <a:ln w="12700">
            <a:solidFill>
              <a:schemeClr val="bg2"/>
            </a:solidFill>
            <a:prstDash val="solid"/>
          </a:ln>
        </p:spPr>
      </p:sp>
      <p:sp>
        <p:nvSpPr>
          <p:cNvPr id="23" name="Text 16"/>
          <p:cNvSpPr txBox="1"/>
          <p:nvPr/>
        </p:nvSpPr>
        <p:spPr>
          <a:xfrm>
            <a:off x="2499055" y="3017520"/>
            <a:ext cx="1572768" cy="2468880"/>
          </a:xfrm>
          <a:prstGeom prst="rect">
            <a:avLst/>
          </a:prstGeom>
          <a:noFill/>
          <a:ln/>
        </p:spPr>
        <p:txBody>
          <a:bodyPr wrap="square" lIns="50800" tIns="50800" rIns="50800" bIns="50800" rtlCol="0" anchor="t"/>
          <a:lstStyle/>
          <a:p>
            <a:pPr rtl="1" algn="ctr" indent="0" marL="0">
              <a:buNone/>
            </a:pPr>
            <a:r>
              <a:rPr lang="he-IL" altLang="en-US" sz="1700" b="1" dirty="0">
                <a:solidFill>
                  <a:schemeClr val="tx1"/>
                </a:solidFill>
                <a:latin typeface="Arial" pitchFamily="34" charset="0"/>
                <a:ea typeface="Arial" pitchFamily="34" charset="-122"/>
                <a:cs typeface="Arial" pitchFamily="34" charset="-120"/>
              </a:rPr>
              <a:t>מקומות עבודה</a:t>
            </a:r>
            <a:endParaRPr lang="he-IL" sz="1700" dirty="0"/>
          </a:p>
        </p:txBody>
      </p:sp>
      <p:sp>
        <p:nvSpPr>
          <p:cNvPr id="24" name="Shape 17"/>
          <p:cNvSpPr/>
          <p:nvPr/>
        </p:nvSpPr>
        <p:spPr>
          <a:xfrm>
            <a:off x="999439" y="1828800"/>
            <a:ext cx="822960" cy="822960"/>
          </a:xfrm>
          <a:prstGeom prst="ellipse">
            <a:avLst/>
          </a:prstGeom>
          <a:solidFill>
            <a:schemeClr val="accent5"/>
          </a:solidFill>
          <a:ln w="38100">
            <a:solidFill>
              <a:schemeClr val="bg1"/>
            </a:solidFill>
            <a:prstDash val="solid"/>
          </a:ln>
        </p:spPr>
      </p:sp>
      <p:pic>
        <p:nvPicPr>
          <p:cNvPr id="25" name="Image 5" descr="preencoded.png">    </p:cNvPr>
          <p:cNvPicPr>
            <a:picLocks noChangeAspect="1"/>
          </p:cNvPicPr>
          <p:nvPr/>
        </p:nvPicPr>
        <p:blipFill>
          <a:blip r:embed="rId6"/>
          <a:stretch>
            <a:fillRect/>
          </a:stretch>
        </p:blipFill>
        <p:spPr>
          <a:xfrm>
            <a:off x="1213409" y="2042770"/>
            <a:ext cx="395021" cy="395021"/>
          </a:xfrm>
          <a:prstGeom prst="rect">
            <a:avLst/>
          </a:prstGeom>
        </p:spPr>
      </p:pic>
      <p:sp>
        <p:nvSpPr>
          <p:cNvPr id="26" name="Shape 18"/>
          <p:cNvSpPr/>
          <p:nvPr/>
        </p:nvSpPr>
        <p:spPr>
          <a:xfrm>
            <a:off x="551383" y="2926080"/>
            <a:ext cx="1719072" cy="2651760"/>
          </a:xfrm>
          <a:prstGeom prst="roundRect">
            <a:avLst>
              <a:gd name="adj" fmla="val 6383"/>
            </a:avLst>
          </a:prstGeom>
          <a:solidFill>
            <a:schemeClr val="bg2"/>
          </a:solidFill>
          <a:ln w="12700">
            <a:solidFill>
              <a:schemeClr val="bg2"/>
            </a:solidFill>
            <a:prstDash val="solid"/>
          </a:ln>
        </p:spPr>
      </p:sp>
      <p:sp>
        <p:nvSpPr>
          <p:cNvPr id="27" name="Text 19"/>
          <p:cNvSpPr txBox="1"/>
          <p:nvPr/>
        </p:nvSpPr>
        <p:spPr>
          <a:xfrm>
            <a:off x="624535" y="3017520"/>
            <a:ext cx="1572768" cy="2468880"/>
          </a:xfrm>
          <a:prstGeom prst="rect">
            <a:avLst/>
          </a:prstGeom>
          <a:noFill/>
          <a:ln/>
        </p:spPr>
        <p:txBody>
          <a:bodyPr wrap="square" lIns="50800" tIns="50800" rIns="50800" bIns="50800" rtlCol="0" anchor="t"/>
          <a:lstStyle/>
          <a:p>
            <a:pPr rtl="1" algn="ctr" indent="0" marL="0">
              <a:buNone/>
            </a:pPr>
            <a:r>
              <a:rPr lang="he-IL" altLang="en-US" sz="1700" dirty="0">
                <a:solidFill>
                  <a:schemeClr val="tx1"/>
                </a:solidFill>
                <a:latin typeface="Arial" pitchFamily="34" charset="0"/>
                <a:ea typeface="Arial" pitchFamily="34" charset="-122"/>
                <a:cs typeface="Arial" pitchFamily="34" charset="-120"/>
              </a:rPr>
              <a:t>מסגרות לגיל השלישי: מועדוני גיל הזהב, מרכזי יום לקשישים, בתי אבות</a:t>
            </a:r>
            <a:endParaRPr lang="he-IL" sz="17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תרגיל 3: "משבר משקאות האנרגיה בבתי הספר"</a:t>
            </a:r>
            <a:endParaRPr lang="he-IL" sz="3000" dirty="0"/>
          </a:p>
        </p:txBody>
      </p:sp>
      <p:sp>
        <p:nvSpPr>
          <p:cNvPr id="3" name="Shape 1"/>
          <p:cNvSpPr/>
          <p:nvPr/>
        </p:nvSpPr>
        <p:spPr>
          <a:xfrm>
            <a:off x="548640" y="1417320"/>
            <a:ext cx="11091672" cy="1371600"/>
          </a:xfrm>
          <a:prstGeom prst="roundRect">
            <a:avLst>
              <a:gd name="adj" fmla="val 8000"/>
            </a:avLst>
          </a:prstGeom>
          <a:solidFill>
            <a:schemeClr val="bg1"/>
          </a:solidFill>
          <a:ln w="12700">
            <a:solidFill>
              <a:schemeClr val="bg1"/>
            </a:solidFill>
            <a:prstDash val="solid"/>
          </a:ln>
        </p:spPr>
      </p:sp>
      <p:sp>
        <p:nvSpPr>
          <p:cNvPr id="4" name="Shape 2"/>
          <p:cNvSpPr/>
          <p:nvPr/>
        </p:nvSpPr>
        <p:spPr>
          <a:xfrm>
            <a:off x="10698480" y="1691640"/>
            <a:ext cx="777240" cy="777240"/>
          </a:xfrm>
          <a:prstGeom prst="ellipse">
            <a:avLst/>
          </a:prstGeom>
          <a:solidFill>
            <a:schemeClr val="accent4"/>
          </a:solidFill>
          <a:ln w="12700">
            <a:solidFill>
              <a:schemeClr val="accent4"/>
            </a:solidFill>
            <a:prstDash val="solid"/>
          </a:ln>
        </p:spPr>
      </p:sp>
      <p:pic>
        <p:nvPicPr>
          <p:cNvPr id="5" name="Image 0" descr="preencoded.png">    </p:cNvPr>
          <p:cNvPicPr>
            <a:picLocks noChangeAspect="1"/>
          </p:cNvPicPr>
          <p:nvPr/>
        </p:nvPicPr>
        <p:blipFill>
          <a:blip r:embed="rId1"/>
          <a:stretch>
            <a:fillRect/>
          </a:stretch>
        </p:blipFill>
        <p:spPr>
          <a:xfrm>
            <a:off x="10900562" y="1893722"/>
            <a:ext cx="373075" cy="373075"/>
          </a:xfrm>
          <a:prstGeom prst="rect">
            <a:avLst/>
          </a:prstGeom>
        </p:spPr>
      </p:pic>
      <p:sp>
        <p:nvSpPr>
          <p:cNvPr id="6" name="Text 3"/>
          <p:cNvSpPr txBox="1"/>
          <p:nvPr/>
        </p:nvSpPr>
        <p:spPr>
          <a:xfrm>
            <a:off x="731520" y="1463040"/>
            <a:ext cx="9829800" cy="1280160"/>
          </a:xfrm>
          <a:prstGeom prst="rect">
            <a:avLst/>
          </a:prstGeom>
          <a:noFill/>
          <a:ln/>
        </p:spPr>
        <p:txBody>
          <a:bodyPr wrap="square" lIns="50800" tIns="50800" rIns="50800" bIns="50800" rtlCol="0" anchor="ctr"/>
          <a:lstStyle/>
          <a:p>
            <a:pPr rtl="1" algn="r" indent="0" marL="0">
              <a:buNone/>
            </a:pPr>
            <a:r>
              <a:rPr lang="he-IL" altLang="en-US" sz="1800" b="1" dirty="0">
                <a:solidFill>
                  <a:schemeClr val="tx2"/>
                </a:solidFill>
                <a:latin typeface="Arial" pitchFamily="34" charset="0"/>
                <a:ea typeface="Arial" pitchFamily="34" charset="-122"/>
                <a:cs typeface="Arial" pitchFamily="34" charset="-120"/>
              </a:rPr>
              <a:t>רשת בתי ספר תיכוניים מדווחת על תופעה מדאיגה:</a:t>
            </a:r>
            <a:endParaRPr lang="he-IL" sz="1800" dirty="0"/>
          </a:p>
          <a:p>
            <a:pPr rtl="1" algn="r" indent="0" marL="0">
              <a:buNone/>
            </a:pPr>
            <a:r>
              <a:rPr lang="he-IL" altLang="en-US" sz="1800" dirty="0">
                <a:solidFill>
                  <a:schemeClr val="tx1"/>
                </a:solidFill>
                <a:latin typeface="Arial" pitchFamily="34" charset="0"/>
                <a:ea typeface="Arial" pitchFamily="34" charset="-122"/>
                <a:cs typeface="Arial" pitchFamily="34" charset="-120"/>
              </a:rPr>
              <a:t>בני נוער מגיעים ללימודים עם משקאות אנרגיה במקום ארוחת בוקר, ויש עלייה בדיווחי מורים על דופק מהיר, חרדות וחוסר ריכוז.</a:t>
            </a:r>
            <a:endParaRPr lang="he-IL" sz="1800" dirty="0"/>
          </a:p>
        </p:txBody>
      </p:sp>
      <p:sp>
        <p:nvSpPr>
          <p:cNvPr id="7" name="Text 4"/>
          <p:cNvSpPr txBox="1"/>
          <p:nvPr/>
        </p:nvSpPr>
        <p:spPr>
          <a:xfrm>
            <a:off x="548640" y="2926080"/>
            <a:ext cx="11091672" cy="457200"/>
          </a:xfrm>
          <a:prstGeom prst="rect">
            <a:avLst/>
          </a:prstGeom>
          <a:noFill/>
          <a:ln/>
        </p:spPr>
        <p:txBody>
          <a:bodyPr wrap="square" lIns="50800" tIns="50800" rIns="50800" bIns="50800" rtlCol="0" anchor="t"/>
          <a:lstStyle/>
          <a:p>
            <a:pPr rtl="1" algn="r" indent="0" marL="0">
              <a:buNone/>
            </a:pPr>
            <a:r>
              <a:rPr lang="he-IL" altLang="en-US" sz="2000" b="1" dirty="0">
                <a:solidFill>
                  <a:schemeClr val="accent1"/>
                </a:solidFill>
                <a:latin typeface="Arial" pitchFamily="34" charset="0"/>
                <a:ea typeface="Arial" pitchFamily="34" charset="-122"/>
                <a:cs typeface="Arial" pitchFamily="34" charset="-120"/>
              </a:rPr>
              <a:t>משחק תפקידים במליאה :</a:t>
            </a:r>
            <a:endParaRPr lang="he-IL" sz="2000" dirty="0"/>
          </a:p>
        </p:txBody>
      </p:sp>
      <p:sp>
        <p:nvSpPr>
          <p:cNvPr id="8" name="Shape 5"/>
          <p:cNvSpPr/>
          <p:nvPr/>
        </p:nvSpPr>
        <p:spPr>
          <a:xfrm>
            <a:off x="9037015" y="3474720"/>
            <a:ext cx="2606040" cy="265176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9" name="Shape 6"/>
          <p:cNvSpPr/>
          <p:nvPr/>
        </p:nvSpPr>
        <p:spPr>
          <a:xfrm>
            <a:off x="9997135" y="3657600"/>
            <a:ext cx="685800" cy="6858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10175443" y="3835908"/>
            <a:ext cx="329184" cy="329184"/>
          </a:xfrm>
          <a:prstGeom prst="rect">
            <a:avLst/>
          </a:prstGeom>
        </p:spPr>
      </p:pic>
      <p:sp>
        <p:nvSpPr>
          <p:cNvPr id="11" name="Text 7"/>
          <p:cNvSpPr txBox="1"/>
          <p:nvPr/>
        </p:nvSpPr>
        <p:spPr>
          <a:xfrm>
            <a:off x="9146743" y="4434840"/>
            <a:ext cx="2386584" cy="1600200"/>
          </a:xfrm>
          <a:prstGeom prst="rect">
            <a:avLst/>
          </a:prstGeom>
          <a:noFill/>
          <a:ln/>
        </p:spPr>
        <p:txBody>
          <a:bodyPr wrap="square" lIns="50800" tIns="50800" rIns="50800" bIns="50800" rtlCol="0" anchor="t"/>
          <a:lstStyle/>
          <a:p>
            <a:pPr rtl="1" algn="ctr" indent="0" marL="0">
              <a:buNone/>
            </a:pPr>
            <a:r>
              <a:rPr lang="he-IL" altLang="en-US" sz="1500" b="1" dirty="0">
                <a:solidFill>
                  <a:schemeClr val="tx2"/>
                </a:solidFill>
                <a:latin typeface="Arial" pitchFamily="34" charset="0"/>
                <a:ea typeface="Arial" pitchFamily="34" charset="-122"/>
                <a:cs typeface="Arial" pitchFamily="34" charset="-120"/>
              </a:rPr>
              <a:t>הדיאטנית של משרד הבריאות/ העירייה</a:t>
            </a:r>
            <a:pPr rtl="1" algn="ctr" indent="0" marL="0">
              <a:buNone/>
            </a:pPr>
            <a:r>
              <a:rPr lang="he-IL" altLang="en-US" sz="1500" dirty="0">
                <a:solidFill>
                  <a:schemeClr val="tx1"/>
                </a:solidFill>
                <a:latin typeface="Arial" pitchFamily="34" charset="0"/>
                <a:ea typeface="Arial" pitchFamily="34" charset="-122"/>
                <a:cs typeface="Arial" pitchFamily="34" charset="-120"/>
              </a:rPr>
              <a:t> (מנסה להוביל שינוי).</a:t>
            </a:r>
            <a:endParaRPr lang="he-IL" sz="1500" dirty="0"/>
          </a:p>
        </p:txBody>
      </p:sp>
      <p:sp>
        <p:nvSpPr>
          <p:cNvPr id="12" name="Shape 8"/>
          <p:cNvSpPr/>
          <p:nvPr/>
        </p:nvSpPr>
        <p:spPr>
          <a:xfrm>
            <a:off x="6208776" y="3474720"/>
            <a:ext cx="2606040" cy="265176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13" name="Shape 9"/>
          <p:cNvSpPr/>
          <p:nvPr/>
        </p:nvSpPr>
        <p:spPr>
          <a:xfrm>
            <a:off x="7168896" y="3657600"/>
            <a:ext cx="685800" cy="685800"/>
          </a:xfrm>
          <a:prstGeom prst="ellipse">
            <a:avLst/>
          </a:prstGeom>
          <a:solidFill>
            <a:schemeClr val="accent3"/>
          </a:solidFill>
          <a:ln w="12700">
            <a:solidFill>
              <a:schemeClr val="accent3"/>
            </a:solidFill>
            <a:prstDash val="solid"/>
          </a:ln>
        </p:spPr>
      </p:sp>
      <p:pic>
        <p:nvPicPr>
          <p:cNvPr id="14" name="Image 2" descr="preencoded.png">    </p:cNvPr>
          <p:cNvPicPr>
            <a:picLocks noChangeAspect="1"/>
          </p:cNvPicPr>
          <p:nvPr/>
        </p:nvPicPr>
        <p:blipFill>
          <a:blip r:embed="rId3"/>
          <a:stretch>
            <a:fillRect/>
          </a:stretch>
        </p:blipFill>
        <p:spPr>
          <a:xfrm>
            <a:off x="7347204" y="3835908"/>
            <a:ext cx="329184" cy="329184"/>
          </a:xfrm>
          <a:prstGeom prst="rect">
            <a:avLst/>
          </a:prstGeom>
        </p:spPr>
      </p:pic>
      <p:sp>
        <p:nvSpPr>
          <p:cNvPr id="15" name="Text 10"/>
          <p:cNvSpPr txBox="1"/>
          <p:nvPr/>
        </p:nvSpPr>
        <p:spPr>
          <a:xfrm>
            <a:off x="6318504" y="4434840"/>
            <a:ext cx="2386584" cy="1600200"/>
          </a:xfrm>
          <a:prstGeom prst="rect">
            <a:avLst/>
          </a:prstGeom>
          <a:noFill/>
          <a:ln/>
        </p:spPr>
        <p:txBody>
          <a:bodyPr wrap="square" lIns="50800" tIns="50800" rIns="50800" bIns="50800" rtlCol="0" anchor="t"/>
          <a:lstStyle/>
          <a:p>
            <a:pPr rtl="1" algn="ctr" indent="0" marL="0">
              <a:buNone/>
            </a:pPr>
            <a:r>
              <a:rPr lang="he-IL" altLang="en-US" sz="1500" b="1" dirty="0">
                <a:solidFill>
                  <a:schemeClr val="tx2"/>
                </a:solidFill>
                <a:latin typeface="Arial" pitchFamily="34" charset="0"/>
                <a:ea typeface="Arial" pitchFamily="34" charset="-122"/>
                <a:cs typeface="Arial" pitchFamily="34" charset="-120"/>
              </a:rPr>
              <a:t>מנהלת בית הספר</a:t>
            </a:r>
            <a:pPr rtl="1" algn="ctr" indent="0" marL="0">
              <a:buNone/>
            </a:pPr>
            <a:r>
              <a:rPr lang="he-IL" altLang="en-US" sz="1500" dirty="0">
                <a:solidFill>
                  <a:schemeClr val="tx1"/>
                </a:solidFill>
                <a:latin typeface="Arial" pitchFamily="34" charset="0"/>
                <a:ea typeface="Arial" pitchFamily="34" charset="-122"/>
                <a:cs typeface="Arial" pitchFamily="34" charset="-120"/>
              </a:rPr>
              <a:t> (מודאגת, אבל לחוץ על התקציב שהקיוסק הפרטי משלם לביה"ס).</a:t>
            </a:r>
            <a:endParaRPr lang="he-IL" sz="1500" dirty="0"/>
          </a:p>
        </p:txBody>
      </p:sp>
      <p:sp>
        <p:nvSpPr>
          <p:cNvPr id="16" name="Shape 11"/>
          <p:cNvSpPr/>
          <p:nvPr/>
        </p:nvSpPr>
        <p:spPr>
          <a:xfrm>
            <a:off x="3380537" y="3474720"/>
            <a:ext cx="2606040" cy="265176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17" name="Shape 12"/>
          <p:cNvSpPr/>
          <p:nvPr/>
        </p:nvSpPr>
        <p:spPr>
          <a:xfrm>
            <a:off x="4340657" y="3657600"/>
            <a:ext cx="685800" cy="685800"/>
          </a:xfrm>
          <a:prstGeom prst="ellipse">
            <a:avLst/>
          </a:prstGeom>
          <a:solidFill>
            <a:schemeClr val="accent4"/>
          </a:solidFill>
          <a:ln w="12700">
            <a:solidFill>
              <a:schemeClr val="accent4"/>
            </a:solidFill>
            <a:prstDash val="solid"/>
          </a:ln>
        </p:spPr>
      </p:sp>
      <p:pic>
        <p:nvPicPr>
          <p:cNvPr id="18" name="Image 3" descr="preencoded.png">    </p:cNvPr>
          <p:cNvPicPr>
            <a:picLocks noChangeAspect="1"/>
          </p:cNvPicPr>
          <p:nvPr/>
        </p:nvPicPr>
        <p:blipFill>
          <a:blip r:embed="rId4"/>
          <a:stretch>
            <a:fillRect/>
          </a:stretch>
        </p:blipFill>
        <p:spPr>
          <a:xfrm>
            <a:off x="4518965" y="3835908"/>
            <a:ext cx="329184" cy="329184"/>
          </a:xfrm>
          <a:prstGeom prst="rect">
            <a:avLst/>
          </a:prstGeom>
        </p:spPr>
      </p:pic>
      <p:sp>
        <p:nvSpPr>
          <p:cNvPr id="19" name="Text 13"/>
          <p:cNvSpPr txBox="1"/>
          <p:nvPr/>
        </p:nvSpPr>
        <p:spPr>
          <a:xfrm>
            <a:off x="3490265" y="4434840"/>
            <a:ext cx="2386584" cy="1600200"/>
          </a:xfrm>
          <a:prstGeom prst="rect">
            <a:avLst/>
          </a:prstGeom>
          <a:noFill/>
          <a:ln/>
        </p:spPr>
        <p:txBody>
          <a:bodyPr wrap="square" lIns="50800" tIns="50800" rIns="50800" bIns="50800" rtlCol="0" anchor="t"/>
          <a:lstStyle/>
          <a:p>
            <a:pPr rtl="1" algn="ctr" indent="0" marL="0">
              <a:buNone/>
            </a:pPr>
            <a:r>
              <a:rPr lang="he-IL" altLang="en-US" sz="1500" b="1" dirty="0">
                <a:solidFill>
                  <a:schemeClr val="tx2"/>
                </a:solidFill>
                <a:latin typeface="Arial" pitchFamily="34" charset="0"/>
                <a:ea typeface="Arial" pitchFamily="34" charset="-122"/>
                <a:cs typeface="Arial" pitchFamily="34" charset="-120"/>
              </a:rPr>
              <a:t>נציג ועד ההורים</a:t>
            </a:r>
            <a:pPr rtl="1" algn="ctr" indent="0" marL="0">
              <a:buNone/>
            </a:pPr>
            <a:r>
              <a:rPr lang="he-IL" altLang="en-US" sz="1500" dirty="0">
                <a:solidFill>
                  <a:schemeClr val="tx1"/>
                </a:solidFill>
                <a:latin typeface="Arial" pitchFamily="34" charset="0"/>
                <a:ea typeface="Arial" pitchFamily="34" charset="-122"/>
                <a:cs typeface="Arial" pitchFamily="34" charset="-120"/>
              </a:rPr>
              <a:t> (כועס, מאשים את המערכת, רוצה פתרון מיידי).</a:t>
            </a:r>
            <a:endParaRPr lang="he-IL" sz="1500" dirty="0"/>
          </a:p>
        </p:txBody>
      </p:sp>
      <p:sp>
        <p:nvSpPr>
          <p:cNvPr id="20" name="Shape 14"/>
          <p:cNvSpPr/>
          <p:nvPr/>
        </p:nvSpPr>
        <p:spPr>
          <a:xfrm>
            <a:off x="552298" y="3474720"/>
            <a:ext cx="2606040" cy="265176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21" name="Shape 15"/>
          <p:cNvSpPr/>
          <p:nvPr/>
        </p:nvSpPr>
        <p:spPr>
          <a:xfrm>
            <a:off x="1512418" y="3657600"/>
            <a:ext cx="685800" cy="685800"/>
          </a:xfrm>
          <a:prstGeom prst="ellipse">
            <a:avLst/>
          </a:prstGeom>
          <a:solidFill>
            <a:schemeClr val="accent6"/>
          </a:solidFill>
          <a:ln w="12700">
            <a:solidFill>
              <a:schemeClr val="accent6"/>
            </a:solidFill>
            <a:prstDash val="solid"/>
          </a:ln>
        </p:spPr>
      </p:sp>
      <p:pic>
        <p:nvPicPr>
          <p:cNvPr id="22" name="Image 4" descr="preencoded.png">    </p:cNvPr>
          <p:cNvPicPr>
            <a:picLocks noChangeAspect="1"/>
          </p:cNvPicPr>
          <p:nvPr/>
        </p:nvPicPr>
        <p:blipFill>
          <a:blip r:embed="rId5"/>
          <a:stretch>
            <a:fillRect/>
          </a:stretch>
        </p:blipFill>
        <p:spPr>
          <a:xfrm>
            <a:off x="1690726" y="3835908"/>
            <a:ext cx="329184" cy="329184"/>
          </a:xfrm>
          <a:prstGeom prst="rect">
            <a:avLst/>
          </a:prstGeom>
        </p:spPr>
      </p:pic>
      <p:sp>
        <p:nvSpPr>
          <p:cNvPr id="23" name="Text 16"/>
          <p:cNvSpPr txBox="1"/>
          <p:nvPr/>
        </p:nvSpPr>
        <p:spPr>
          <a:xfrm>
            <a:off x="662026" y="4434840"/>
            <a:ext cx="2386584" cy="1600200"/>
          </a:xfrm>
          <a:prstGeom prst="rect">
            <a:avLst/>
          </a:prstGeom>
          <a:noFill/>
          <a:ln/>
        </p:spPr>
        <p:txBody>
          <a:bodyPr wrap="square" lIns="50800" tIns="50800" rIns="50800" bIns="50800" rtlCol="0" anchor="t"/>
          <a:lstStyle/>
          <a:p>
            <a:pPr rtl="1" algn="ctr" indent="0" marL="0">
              <a:buNone/>
            </a:pPr>
            <a:r>
              <a:rPr lang="he-IL" altLang="en-US" sz="1500" b="1" dirty="0">
                <a:solidFill>
                  <a:schemeClr val="tx2"/>
                </a:solidFill>
                <a:latin typeface="Arial" pitchFamily="34" charset="0"/>
                <a:ea typeface="Arial" pitchFamily="34" charset="-122"/>
                <a:cs typeface="Arial" pitchFamily="34" charset="-120"/>
              </a:rPr>
              <a:t>יו"ר מועצת התלמידים</a:t>
            </a:r>
            <a:pPr rtl="1" algn="ctr" indent="0" marL="0">
              <a:buNone/>
            </a:pPr>
            <a:r>
              <a:rPr lang="he-IL" altLang="en-US" sz="1500" dirty="0">
                <a:solidFill>
                  <a:schemeClr val="tx1"/>
                </a:solidFill>
                <a:latin typeface="Arial" pitchFamily="34" charset="0"/>
                <a:ea typeface="Arial" pitchFamily="34" charset="-122"/>
                <a:cs typeface="Arial" pitchFamily="34" charset="-120"/>
              </a:rPr>
              <a:t> (טוען שזו זכותם לשתות מה שרוצים ושזה עוזר להם ללמוד למבחנים).</a:t>
            </a:r>
            <a:endParaRPr lang="he-IL" sz="15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תרגיל 4- תיאור מקרה "השכונה המערבית"</a:t>
            </a:r>
            <a:endParaRPr lang="he-IL" sz="3000" dirty="0"/>
          </a:p>
        </p:txBody>
      </p:sp>
      <p:pic>
        <p:nvPicPr>
          <p:cNvPr id="3" name="Image 0" descr="ידיים מקלידות על מקלדת">    </p:cNvPr>
          <p:cNvPicPr>
            <a:picLocks noChangeAspect="1"/>
          </p:cNvPicPr>
          <p:nvPr/>
        </p:nvPicPr>
        <p:blipFill>
          <a:blip r:embed="rId1"/>
          <a:srcRect l="0" r="0" t="0" b="0"/>
          <a:stretch/>
        </p:blipFill>
        <p:spPr>
          <a:xfrm>
            <a:off x="548640" y="365760"/>
            <a:ext cx="3200400" cy="5943600"/>
          </a:xfrm>
          <a:prstGeom prst="rect">
            <a:avLst/>
          </a:prstGeom>
        </p:spPr>
      </p:pic>
      <p:sp>
        <p:nvSpPr>
          <p:cNvPr id="4" name="Text 1"/>
          <p:cNvSpPr txBox="1"/>
          <p:nvPr/>
        </p:nvSpPr>
        <p:spPr>
          <a:xfrm>
            <a:off x="4023360" y="1325880"/>
            <a:ext cx="7616952" cy="1417320"/>
          </a:xfrm>
          <a:prstGeom prst="rect">
            <a:avLst/>
          </a:prstGeom>
          <a:noFill/>
          <a:ln/>
        </p:spPr>
        <p:txBody>
          <a:bodyPr wrap="square" lIns="50800" tIns="50800" rIns="50800" bIns="50800" rtlCol="0" anchor="ctr"/>
          <a:lstStyle/>
          <a:p>
            <a:pPr rtl="1" algn="r" indent="0" marL="0">
              <a:buNone/>
            </a:pPr>
            <a:r>
              <a:rPr lang="he-IL" altLang="en-US" sz="1600" dirty="0">
                <a:solidFill>
                  <a:schemeClr val="tx1"/>
                </a:solidFill>
                <a:latin typeface="Arial" pitchFamily="34" charset="0"/>
                <a:ea typeface="Arial" pitchFamily="34" charset="-122"/>
                <a:cs typeface="Arial" pitchFamily="34" charset="-120"/>
              </a:rPr>
              <a:t>עיריית "אורנים" מדווחת על אחוזים גבוהים של הימצאות אבחנה של סוכרת סוג 2 בשכונה מערבית בעיר, המאופיינת במצב סוציו-אקונומי נמוך, מחסור ברשתות גדולות לממכר מזון ("מדבר מזון") ושכיחות גבוהה של "חנויות נוחות" ו"פיצוציות" בשכונה.</a:t>
            </a:r>
            <a:endParaRPr lang="he-IL" sz="1600" dirty="0"/>
          </a:p>
        </p:txBody>
      </p:sp>
      <p:sp>
        <p:nvSpPr>
          <p:cNvPr id="5" name="Text 2"/>
          <p:cNvSpPr txBox="1"/>
          <p:nvPr/>
        </p:nvSpPr>
        <p:spPr>
          <a:xfrm>
            <a:off x="4023360" y="2788920"/>
            <a:ext cx="7616952" cy="1051560"/>
          </a:xfrm>
          <a:prstGeom prst="rect">
            <a:avLst/>
          </a:prstGeom>
          <a:noFill/>
          <a:ln/>
        </p:spPr>
        <p:txBody>
          <a:bodyPr wrap="square" lIns="50800" tIns="50800" rIns="50800" bIns="50800" rtlCol="0" anchor="ctr"/>
          <a:lstStyle/>
          <a:p>
            <a:pPr rtl="1" algn="r" indent="0" marL="0">
              <a:buNone/>
            </a:pPr>
            <a:r>
              <a:rPr lang="he-IL" altLang="en-US" sz="2000" b="1" dirty="0">
                <a:solidFill>
                  <a:schemeClr val="accent1"/>
                </a:solidFill>
                <a:latin typeface="Arial" pitchFamily="34" charset="0"/>
                <a:ea typeface="Arial" pitchFamily="34" charset="-122"/>
                <a:cs typeface="Arial" pitchFamily="34" charset="-120"/>
              </a:rPr>
              <a:t>תרגיל</a:t>
            </a:r>
            <a:endParaRPr lang="he-IL" sz="1600" dirty="0"/>
          </a:p>
          <a:p>
            <a:pPr rtl="1" algn="r" indent="0" marL="0">
              <a:buNone/>
            </a:pPr>
            <a:r>
              <a:rPr lang="he-IL" altLang="en-US" sz="1600" dirty="0">
                <a:solidFill>
                  <a:schemeClr val="tx1"/>
                </a:solidFill>
                <a:latin typeface="Arial" pitchFamily="34" charset="0"/>
                <a:ea typeface="Arial" pitchFamily="34" charset="-122"/>
                <a:cs typeface="Arial" pitchFamily="34" charset="-120"/>
              </a:rPr>
              <a:t>(עבודה בחדרים - Breakout Rooms ל-10 דקות):</a:t>
            </a:r>
            <a:endParaRPr lang="he-IL" sz="1600" dirty="0"/>
          </a:p>
          <a:p>
            <a:pPr rtl="1" algn="r" indent="0" marL="0">
              <a:buNone/>
            </a:pPr>
            <a:r>
              <a:rPr lang="he-IL" altLang="en-US" sz="1600" dirty="0">
                <a:solidFill>
                  <a:schemeClr val="tx1"/>
                </a:solidFill>
                <a:latin typeface="Arial" pitchFamily="34" charset="0"/>
                <a:ea typeface="Arial" pitchFamily="34" charset="-122"/>
                <a:cs typeface="Arial" pitchFamily="34" charset="-120"/>
              </a:rPr>
              <a:t>המשתתפות מחולקות ל-3 קבוצות. כל קבוצה מקבלת תפקיד:</a:t>
            </a:r>
            <a:endParaRPr lang="he-IL" sz="1600" dirty="0"/>
          </a:p>
        </p:txBody>
      </p:sp>
      <p:sp>
        <p:nvSpPr>
          <p:cNvPr id="6" name="Shape 3"/>
          <p:cNvSpPr/>
          <p:nvPr/>
        </p:nvSpPr>
        <p:spPr>
          <a:xfrm>
            <a:off x="9219895" y="3977640"/>
            <a:ext cx="2423160"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7" name="Shape 4"/>
          <p:cNvSpPr/>
          <p:nvPr/>
        </p:nvSpPr>
        <p:spPr>
          <a:xfrm>
            <a:off x="10957255" y="4114800"/>
            <a:ext cx="548640" cy="54864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11099902" y="4257446"/>
            <a:ext cx="263347" cy="263347"/>
          </a:xfrm>
          <a:prstGeom prst="rect">
            <a:avLst/>
          </a:prstGeom>
        </p:spPr>
      </p:pic>
      <p:sp>
        <p:nvSpPr>
          <p:cNvPr id="9" name="Text 5"/>
          <p:cNvSpPr txBox="1"/>
          <p:nvPr/>
        </p:nvSpPr>
        <p:spPr>
          <a:xfrm>
            <a:off x="9311335" y="4114800"/>
            <a:ext cx="1600200" cy="548640"/>
          </a:xfrm>
          <a:prstGeom prst="rect">
            <a:avLst/>
          </a:prstGeom>
          <a:noFill/>
          <a:ln/>
        </p:spPr>
        <p:txBody>
          <a:bodyPr wrap="square" lIns="50800" tIns="50800" rIns="50800" bIns="50800" rtlCol="0" anchor="ctr"/>
          <a:lstStyle/>
          <a:p>
            <a:pPr rtl="1" algn="r" indent="0" marL="0">
              <a:buNone/>
            </a:pPr>
            <a:r>
              <a:rPr lang="he-IL" altLang="en-US" sz="1500" b="1" dirty="0">
                <a:solidFill>
                  <a:schemeClr val="tx2"/>
                </a:solidFill>
                <a:latin typeface="Arial" pitchFamily="34" charset="0"/>
                <a:ea typeface="Arial" pitchFamily="34" charset="-122"/>
                <a:cs typeface="Arial" pitchFamily="34" charset="-120"/>
              </a:rPr>
              <a:t>קבוצה 1 (מדיניות):</a:t>
            </a:r>
            <a:endParaRPr lang="he-IL" sz="1500" dirty="0"/>
          </a:p>
        </p:txBody>
      </p:sp>
      <p:sp>
        <p:nvSpPr>
          <p:cNvPr id="10" name="Text 6"/>
          <p:cNvSpPr txBox="1"/>
          <p:nvPr/>
        </p:nvSpPr>
        <p:spPr>
          <a:xfrm>
            <a:off x="9329623" y="4754880"/>
            <a:ext cx="2203704" cy="1463040"/>
          </a:xfrm>
          <a:prstGeom prst="rect">
            <a:avLst/>
          </a:prstGeom>
          <a:noFill/>
          <a:ln/>
        </p:spPr>
        <p:txBody>
          <a:bodyPr wrap="square" lIns="50800" tIns="50800" rIns="50800" bIns="50800" rtlCol="0" anchor="t"/>
          <a:lstStyle/>
          <a:p>
            <a:pPr rtl="1" algn="r" indent="0" marL="0">
              <a:buNone/>
            </a:pPr>
            <a:r>
              <a:rPr lang="he-IL" altLang="en-US" sz="1400" dirty="0">
                <a:solidFill>
                  <a:schemeClr val="tx1"/>
                </a:solidFill>
                <a:latin typeface="Arial" pitchFamily="34" charset="0"/>
                <a:ea typeface="Arial" pitchFamily="34" charset="-122"/>
                <a:cs typeface="Arial" pitchFamily="34" charset="-120"/>
              </a:rPr>
              <a:t>אילו חוקי עזר עירוניים או תמריצים אפשר להציע לראש העיר?</a:t>
            </a:r>
            <a:endParaRPr lang="he-IL" sz="1400" dirty="0"/>
          </a:p>
        </p:txBody>
      </p:sp>
      <p:sp>
        <p:nvSpPr>
          <p:cNvPr id="11" name="Shape 7"/>
          <p:cNvSpPr/>
          <p:nvPr/>
        </p:nvSpPr>
        <p:spPr>
          <a:xfrm>
            <a:off x="6622999" y="3977640"/>
            <a:ext cx="2423160"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12" name="Shape 8"/>
          <p:cNvSpPr/>
          <p:nvPr/>
        </p:nvSpPr>
        <p:spPr>
          <a:xfrm>
            <a:off x="8360359" y="4114800"/>
            <a:ext cx="548640" cy="548640"/>
          </a:xfrm>
          <a:prstGeom prst="ellipse">
            <a:avLst/>
          </a:prstGeom>
          <a:solidFill>
            <a:schemeClr val="accent3"/>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8503006" y="4257446"/>
            <a:ext cx="263347" cy="263347"/>
          </a:xfrm>
          <a:prstGeom prst="rect">
            <a:avLst/>
          </a:prstGeom>
        </p:spPr>
      </p:pic>
      <p:sp>
        <p:nvSpPr>
          <p:cNvPr id="14" name="Text 9"/>
          <p:cNvSpPr txBox="1"/>
          <p:nvPr/>
        </p:nvSpPr>
        <p:spPr>
          <a:xfrm>
            <a:off x="6714439" y="4114800"/>
            <a:ext cx="1600200" cy="548640"/>
          </a:xfrm>
          <a:prstGeom prst="rect">
            <a:avLst/>
          </a:prstGeom>
          <a:noFill/>
          <a:ln/>
        </p:spPr>
        <p:txBody>
          <a:bodyPr wrap="square" lIns="50800" tIns="50800" rIns="50800" bIns="50800" rtlCol="0" anchor="ctr"/>
          <a:lstStyle/>
          <a:p>
            <a:pPr rtl="1" algn="r" indent="0" marL="0">
              <a:buNone/>
            </a:pPr>
            <a:r>
              <a:rPr lang="he-IL" altLang="en-US" sz="1500" b="1" dirty="0">
                <a:solidFill>
                  <a:schemeClr val="tx2"/>
                </a:solidFill>
                <a:latin typeface="Arial" pitchFamily="34" charset="0"/>
                <a:ea typeface="Arial" pitchFamily="34" charset="-122"/>
                <a:cs typeface="Arial" pitchFamily="34" charset="-120"/>
              </a:rPr>
              <a:t>קבוצה 2 (קהילה):</a:t>
            </a:r>
            <a:endParaRPr lang="he-IL" sz="1500" dirty="0"/>
          </a:p>
        </p:txBody>
      </p:sp>
      <p:sp>
        <p:nvSpPr>
          <p:cNvPr id="15" name="Text 10"/>
          <p:cNvSpPr txBox="1"/>
          <p:nvPr/>
        </p:nvSpPr>
        <p:spPr>
          <a:xfrm>
            <a:off x="6732727" y="4754880"/>
            <a:ext cx="2203704" cy="1463040"/>
          </a:xfrm>
          <a:prstGeom prst="rect">
            <a:avLst/>
          </a:prstGeom>
          <a:noFill/>
          <a:ln/>
        </p:spPr>
        <p:txBody>
          <a:bodyPr wrap="square" lIns="50800" tIns="50800" rIns="50800" bIns="50800" rtlCol="0" anchor="t"/>
          <a:lstStyle/>
          <a:p>
            <a:pPr rtl="1" algn="r" indent="0" marL="0">
              <a:buNone/>
            </a:pPr>
            <a:r>
              <a:rPr lang="he-IL" altLang="en-US" sz="1400" dirty="0">
                <a:solidFill>
                  <a:schemeClr val="tx1"/>
                </a:solidFill>
                <a:latin typeface="Arial" pitchFamily="34" charset="0"/>
                <a:ea typeface="Arial" pitchFamily="34" charset="-122"/>
                <a:cs typeface="Arial" pitchFamily="34" charset="-120"/>
              </a:rPr>
              <a:t>איך רותמים את מתנ"ס השכונה ואת מנהיגי הקהילה לשינוי?</a:t>
            </a:r>
            <a:endParaRPr lang="he-IL" sz="1400" dirty="0"/>
          </a:p>
        </p:txBody>
      </p:sp>
      <p:sp>
        <p:nvSpPr>
          <p:cNvPr id="16" name="Shape 11"/>
          <p:cNvSpPr/>
          <p:nvPr/>
        </p:nvSpPr>
        <p:spPr>
          <a:xfrm>
            <a:off x="4026103" y="3977640"/>
            <a:ext cx="2423160"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F4C5C">
                <a:alpha val="14000"/>
              </a:srgbClr>
            </a:outerShdw>
          </a:effectLst>
        </p:spPr>
      </p:sp>
      <p:sp>
        <p:nvSpPr>
          <p:cNvPr id="17" name="Shape 12"/>
          <p:cNvSpPr/>
          <p:nvPr/>
        </p:nvSpPr>
        <p:spPr>
          <a:xfrm>
            <a:off x="5763463" y="4114800"/>
            <a:ext cx="548640" cy="548640"/>
          </a:xfrm>
          <a:prstGeom prst="ellipse">
            <a:avLst/>
          </a:prstGeom>
          <a:solidFill>
            <a:schemeClr val="accent4"/>
          </a:solidFill>
          <a:ln w="12700">
            <a:solidFill>
              <a:schemeClr val="accent4"/>
            </a:solidFill>
            <a:prstDash val="solid"/>
          </a:ln>
        </p:spPr>
      </p:sp>
      <p:pic>
        <p:nvPicPr>
          <p:cNvPr id="18" name="Image 3" descr="preencoded.png">    </p:cNvPr>
          <p:cNvPicPr>
            <a:picLocks noChangeAspect="1"/>
          </p:cNvPicPr>
          <p:nvPr/>
        </p:nvPicPr>
        <p:blipFill>
          <a:blip r:embed="rId4"/>
          <a:stretch>
            <a:fillRect/>
          </a:stretch>
        </p:blipFill>
        <p:spPr>
          <a:xfrm>
            <a:off x="5906110" y="4257446"/>
            <a:ext cx="263347" cy="263347"/>
          </a:xfrm>
          <a:prstGeom prst="rect">
            <a:avLst/>
          </a:prstGeom>
        </p:spPr>
      </p:pic>
      <p:sp>
        <p:nvSpPr>
          <p:cNvPr id="19" name="Text 13"/>
          <p:cNvSpPr txBox="1"/>
          <p:nvPr/>
        </p:nvSpPr>
        <p:spPr>
          <a:xfrm>
            <a:off x="4117543" y="4114800"/>
            <a:ext cx="1600200" cy="548640"/>
          </a:xfrm>
          <a:prstGeom prst="rect">
            <a:avLst/>
          </a:prstGeom>
          <a:noFill/>
          <a:ln/>
        </p:spPr>
        <p:txBody>
          <a:bodyPr wrap="square" lIns="50800" tIns="50800" rIns="50800" bIns="50800" rtlCol="0" anchor="ctr"/>
          <a:lstStyle/>
          <a:p>
            <a:pPr rtl="1" algn="r" indent="0" marL="0">
              <a:buNone/>
            </a:pPr>
            <a:r>
              <a:rPr lang="he-IL" altLang="en-US" sz="1500" b="1" dirty="0">
                <a:solidFill>
                  <a:schemeClr val="tx2"/>
                </a:solidFill>
                <a:latin typeface="Arial" pitchFamily="34" charset="0"/>
                <a:ea typeface="Arial" pitchFamily="34" charset="-122"/>
                <a:cs typeface="Arial" pitchFamily="34" charset="-120"/>
              </a:rPr>
              <a:t>קבוצה 3 (הסברה):</a:t>
            </a:r>
            <a:endParaRPr lang="he-IL" sz="1500" dirty="0"/>
          </a:p>
        </p:txBody>
      </p:sp>
      <p:sp>
        <p:nvSpPr>
          <p:cNvPr id="20" name="Text 14"/>
          <p:cNvSpPr txBox="1"/>
          <p:nvPr/>
        </p:nvSpPr>
        <p:spPr>
          <a:xfrm>
            <a:off x="4135831" y="4754880"/>
            <a:ext cx="2203704" cy="1463040"/>
          </a:xfrm>
          <a:prstGeom prst="rect">
            <a:avLst/>
          </a:prstGeom>
          <a:noFill/>
          <a:ln/>
        </p:spPr>
        <p:txBody>
          <a:bodyPr wrap="square" lIns="50800" tIns="50800" rIns="50800" bIns="50800" rtlCol="0" anchor="t"/>
          <a:lstStyle/>
          <a:p>
            <a:pPr rtl="1" algn="r" indent="0" marL="0">
              <a:buNone/>
            </a:pPr>
            <a:r>
              <a:rPr lang="he-IL" altLang="en-US" sz="1400" dirty="0">
                <a:solidFill>
                  <a:schemeClr val="tx1"/>
                </a:solidFill>
                <a:latin typeface="Arial" pitchFamily="34" charset="0"/>
                <a:ea typeface="Arial" pitchFamily="34" charset="-122"/>
                <a:cs typeface="Arial" pitchFamily="34" charset="-120"/>
              </a:rPr>
              <a:t>איך מייצרים קמפיין מותאם תרבותית לשכונה הזו בלי ליצור סטיגמה ("פאט שיימינג")?</a:t>
            </a:r>
            <a:endParaRPr lang="he-IL" sz="14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עם הפנים קדימה:</a:t>
            </a:r>
            <a:endParaRPr lang="he-IL" sz="3000" dirty="0"/>
          </a:p>
        </p:txBody>
      </p:sp>
      <p:pic>
        <p:nvPicPr>
          <p:cNvPr id="3" name="Image 0" descr="דף עבודה – הכשרת מנחות הכשרה מקצועית בבריאות הציבור">    </p:cNvPr>
          <p:cNvPicPr>
            <a:picLocks noChangeAspect="1"/>
          </p:cNvPicPr>
          <p:nvPr/>
        </p:nvPicPr>
        <p:blipFill>
          <a:blip r:embed="rId1"/>
          <a:stretch>
            <a:fillRect/>
          </a:stretch>
        </p:blipFill>
        <p:spPr>
          <a:xfrm>
            <a:off x="822960" y="1463040"/>
            <a:ext cx="3291840" cy="4359464"/>
          </a:xfrm>
          <a:prstGeom prst="rect">
            <a:avLst/>
          </a:prstGeom>
          <a:effectLst>
            <a:outerShdw sx="100000" sy="100000" kx="0" ky="0" algn="bl" rotWithShape="0" blurRad="101600" dist="25400" dir="5400000">
              <a:srgbClr val="0F4C5C">
                <a:alpha val="14000"/>
              </a:srgbClr>
            </a:outerShdw>
          </a:effectLst>
        </p:spPr>
      </p:pic>
      <p:sp>
        <p:nvSpPr>
          <p:cNvPr id="4" name="Shape 1"/>
          <p:cNvSpPr/>
          <p:nvPr/>
        </p:nvSpPr>
        <p:spPr>
          <a:xfrm>
            <a:off x="10744200" y="1508760"/>
            <a:ext cx="777240" cy="777240"/>
          </a:xfrm>
          <a:prstGeom prst="ellipse">
            <a:avLst/>
          </a:prstGeom>
          <a:solidFill>
            <a:schemeClr val="accent3"/>
          </a:solidFill>
          <a:ln w="12700">
            <a:solidFill>
              <a:schemeClr val="accent3"/>
            </a:solidFill>
            <a:prstDash val="solid"/>
          </a:ln>
        </p:spPr>
      </p:sp>
      <p:pic>
        <p:nvPicPr>
          <p:cNvPr id="5" name="Image 1" descr="preencoded.png">    </p:cNvPr>
          <p:cNvPicPr>
            <a:picLocks noChangeAspect="1"/>
          </p:cNvPicPr>
          <p:nvPr/>
        </p:nvPicPr>
        <p:blipFill>
          <a:blip r:embed="rId2"/>
          <a:stretch>
            <a:fillRect/>
          </a:stretch>
        </p:blipFill>
        <p:spPr>
          <a:xfrm>
            <a:off x="10946282" y="1710842"/>
            <a:ext cx="373075" cy="373075"/>
          </a:xfrm>
          <a:prstGeom prst="rect">
            <a:avLst/>
          </a:prstGeom>
        </p:spPr>
      </p:pic>
      <p:sp>
        <p:nvSpPr>
          <p:cNvPr id="6" name="Text 2"/>
          <p:cNvSpPr txBox="1"/>
          <p:nvPr/>
        </p:nvSpPr>
        <p:spPr>
          <a:xfrm>
            <a:off x="4754880" y="1463040"/>
            <a:ext cx="5806440" cy="1325880"/>
          </a:xfrm>
          <a:prstGeom prst="rect">
            <a:avLst/>
          </a:prstGeom>
          <a:noFill/>
          <a:ln/>
        </p:spPr>
        <p:txBody>
          <a:bodyPr wrap="square" lIns="50800" tIns="50800" rIns="50800" bIns="50800" rtlCol="0" anchor="ctr"/>
          <a:lstStyle/>
          <a:p>
            <a:pPr rtl="1" algn="r" indent="0" marL="0">
              <a:buNone/>
            </a:pPr>
            <a:r>
              <a:rPr lang="he-IL" altLang="en-US" sz="2200" dirty="0">
                <a:solidFill>
                  <a:schemeClr val="tx1"/>
                </a:solidFill>
                <a:latin typeface="Arial" pitchFamily="34" charset="0"/>
                <a:ea typeface="Arial" pitchFamily="34" charset="-122"/>
                <a:cs typeface="Arial" pitchFamily="34" charset="-120"/>
              </a:rPr>
              <a:t>למפגש הבא כל אחת מתבקשת לחשוב על רעיון לפרויקט אצלה במסגרת ולכתוב אותו בדף העבודה המצורף בצ'אט.</a:t>
            </a:r>
            <a:endParaRPr lang="he-IL" sz="2200" dirty="0"/>
          </a:p>
        </p:txBody>
      </p:sp>
      <p:sp>
        <p:nvSpPr>
          <p:cNvPr id="7" name="Shape 3"/>
          <p:cNvSpPr/>
          <p:nvPr/>
        </p:nvSpPr>
        <p:spPr>
          <a:xfrm>
            <a:off x="4754880" y="3154680"/>
            <a:ext cx="6885432" cy="2606040"/>
          </a:xfrm>
          <a:prstGeom prst="roundRect">
            <a:avLst>
              <a:gd name="adj" fmla="val 4211"/>
            </a:avLst>
          </a:prstGeom>
          <a:solidFill>
            <a:schemeClr val="bg2"/>
          </a:solidFill>
          <a:ln w="12700">
            <a:solidFill>
              <a:schemeClr val="bg2"/>
            </a:solidFill>
            <a:prstDash val="solid"/>
          </a:ln>
        </p:spPr>
      </p:sp>
      <p:sp>
        <p:nvSpPr>
          <p:cNvPr id="8" name="Shape 4"/>
          <p:cNvSpPr/>
          <p:nvPr/>
        </p:nvSpPr>
        <p:spPr>
          <a:xfrm>
            <a:off x="10927080" y="4983480"/>
            <a:ext cx="548640" cy="548640"/>
          </a:xfrm>
          <a:prstGeom prst="ellipse">
            <a:avLst/>
          </a:prstGeom>
          <a:solidFill>
            <a:schemeClr val="accent1"/>
          </a:solidFill>
          <a:ln w="12700">
            <a:solidFill>
              <a:schemeClr val="accent1"/>
            </a:solidFill>
            <a:prstDash val="solid"/>
          </a:ln>
        </p:spPr>
      </p:sp>
      <p:pic>
        <p:nvPicPr>
          <p:cNvPr id="9" name="Image 2" descr="preencoded.png">    </p:cNvPr>
          <p:cNvPicPr>
            <a:picLocks noChangeAspect="1"/>
          </p:cNvPicPr>
          <p:nvPr/>
        </p:nvPicPr>
        <p:blipFill>
          <a:blip r:embed="rId3"/>
          <a:stretch>
            <a:fillRect/>
          </a:stretch>
        </p:blipFill>
        <p:spPr>
          <a:xfrm>
            <a:off x="11069726" y="5126126"/>
            <a:ext cx="263347" cy="263347"/>
          </a:xfrm>
          <a:prstGeom prst="rect">
            <a:avLst/>
          </a:prstGeom>
        </p:spPr>
      </p:pic>
      <p:sp>
        <p:nvSpPr>
          <p:cNvPr id="10" name="Text 5"/>
          <p:cNvSpPr txBox="1"/>
          <p:nvPr/>
        </p:nvSpPr>
        <p:spPr>
          <a:xfrm>
            <a:off x="4892040" y="3246120"/>
            <a:ext cx="6629400" cy="1691640"/>
          </a:xfrm>
          <a:prstGeom prst="rect">
            <a:avLst/>
          </a:prstGeom>
          <a:noFill/>
          <a:ln/>
        </p:spPr>
        <p:txBody>
          <a:bodyPr wrap="square" lIns="50800" tIns="50800" rIns="50800" bIns="50800" rtlCol="0" anchor="ctr"/>
          <a:lstStyle/>
          <a:p>
            <a:pPr rtl="1" algn="r" indent="0" marL="0">
              <a:spcAft>
                <a:spcPts val="400"/>
              </a:spcAft>
              <a:buNone/>
            </a:pPr>
            <a:r>
              <a:rPr lang="he-IL" altLang="en-US" sz="1800" b="1" dirty="0">
                <a:solidFill>
                  <a:schemeClr val="tx2"/>
                </a:solidFill>
                <a:latin typeface="Arial" pitchFamily="34" charset="0"/>
                <a:ea typeface="Arial" pitchFamily="34" charset="-122"/>
                <a:cs typeface="Arial" pitchFamily="34" charset="-120"/>
              </a:rPr>
              <a:t>יש לשלוח את הקובץ עד יום ראשון 12.7.26 הקרוב</a:t>
            </a:r>
            <a:endParaRPr lang="he-IL" sz="1800" dirty="0"/>
          </a:p>
          <a:p>
            <a:pPr rtl="1" algn="r" indent="0" marL="0">
              <a:spcAft>
                <a:spcPts val="400"/>
              </a:spcAft>
              <a:buNone/>
            </a:pPr>
            <a:r>
              <a:rPr lang="he-IL" altLang="en-US" sz="1800" dirty="0">
                <a:solidFill>
                  <a:schemeClr val="tx1"/>
                </a:solidFill>
                <a:latin typeface="Arial" pitchFamily="34" charset="0"/>
                <a:ea typeface="Arial" pitchFamily="34" charset="-122"/>
                <a:cs typeface="Arial" pitchFamily="34" charset="-120"/>
              </a:rPr>
              <a:t>לכתובת דואר אלקטרוני של הדיאטנית המחוזית מחוז תל –אביב</a:t>
            </a:r>
            <a:endParaRPr lang="he-IL" sz="1800" dirty="0"/>
          </a:p>
          <a:p>
            <a:pPr rtl="1" algn="r" indent="0" marL="0">
              <a:spcAft>
                <a:spcPts val="400"/>
              </a:spcAft>
              <a:buNone/>
            </a:pPr>
            <a:r>
              <a:rPr lang="he-IL" altLang="en-US" sz="1800" dirty="0">
                <a:solidFill>
                  <a:schemeClr val="tx1"/>
                </a:solidFill>
                <a:latin typeface="Arial" pitchFamily="34" charset="0"/>
                <a:ea typeface="Arial" pitchFamily="34" charset="-122"/>
                <a:cs typeface="Arial" pitchFamily="34" charset="-120"/>
              </a:rPr>
              <a:t>גב' עינת אופיר</a:t>
            </a:r>
            <a:endParaRPr lang="he-IL" sz="1800" dirty="0"/>
          </a:p>
        </p:txBody>
      </p:sp>
      <p:sp>
        <p:nvSpPr>
          <p:cNvPr id="11" name="Text 6">
            <a:hlinkClick r:id="rId4" tooltip=""/>
          </p:cNvPr>
          <p:cNvSpPr/>
          <p:nvPr/>
        </p:nvSpPr>
        <p:spPr>
          <a:xfrm>
            <a:off x="4937760" y="5029200"/>
            <a:ext cx="5852160" cy="502920"/>
          </a:xfrm>
          <a:prstGeom prst="rect">
            <a:avLst/>
          </a:prstGeom>
          <a:noFill/>
          <a:ln/>
        </p:spPr>
        <p:txBody>
          <a:bodyPr wrap="square" lIns="0" tIns="0" rIns="0" bIns="0" rtlCol="0" anchor="ctr"/>
          <a:lstStyle/>
          <a:p>
            <a:pPr rtl="1" algn="r" indent="0" marL="0">
              <a:buNone/>
            </a:pPr>
            <a:r>
              <a:rPr lang="en-US" sz="2000" b="1" u="sng" dirty="0">
                <a:solidFill>
                  <a:schemeClr val="accent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einat.ophir@telaviv.health.gov.il</a:t>
            </a:r>
            <a:endParaRPr lang="en-US" sz="20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עם הפנים קדימה:</a:t>
            </a:r>
            <a:endParaRPr lang="he-IL" sz="3000" dirty="0"/>
          </a:p>
        </p:txBody>
      </p:sp>
      <p:pic>
        <p:nvPicPr>
          <p:cNvPr id="3" name="Image 0" descr="דף עבודה – הכשרת מנחות הכשרה מקצועית בבריאות הציבור, האגף לתזונה והתזונאיות המחוזיות">    </p:cNvPr>
          <p:cNvPicPr>
            <a:picLocks noChangeAspect="1"/>
          </p:cNvPicPr>
          <p:nvPr/>
        </p:nvPicPr>
        <p:blipFill>
          <a:blip r:embed="rId1"/>
          <a:stretch>
            <a:fillRect/>
          </a:stretch>
        </p:blipFill>
        <p:spPr>
          <a:xfrm>
            <a:off x="4223363" y="1371600"/>
            <a:ext cx="3744970" cy="5074920"/>
          </a:xfrm>
          <a:prstGeom prst="rect">
            <a:avLst/>
          </a:prstGeom>
          <a:effectLst>
            <a:outerShdw sx="100000" sy="100000" kx="0" ky="0" algn="bl" rotWithShape="0" blurRad="101600" dist="25400" dir="5400000">
              <a:srgbClr val="0F4C5C">
                <a:alpha val="14000"/>
              </a:srgbClr>
            </a:outerShdw>
          </a:effectLst>
        </p:spPr>
      </p:pic>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3" type="title" hasCustomPrompt="1"/>
          </p:nvPr>
        </p:nvSpPr>
        <p:spPr>
          <a:xfrm>
            <a:off x="1280160" y="329184"/>
            <a:ext cx="10360152" cy="914400"/>
          </a:xfrm>
          <a:prstGeom prst="rect">
            <a:avLst/>
          </a:prstGeom>
          <a:noFill/>
          <a:ln/>
        </p:spPr>
        <p:txBody>
          <a:bodyPr wrap="square" lIns="0" tIns="0" rIns="0" bIns="0" rtlCol="0" anchor="ctr"/>
          <a:lstStyle/>
          <a:p>
            <a:pPr rtl="1" algn="r" indent="0" marL="0">
              <a:buNone/>
            </a:pPr>
            <a:r>
              <a:rPr lang="he-IL" altLang="en-US" sz="3000" b="1" dirty="0">
                <a:solidFill>
                  <a:schemeClr val="tx2"/>
                </a:solidFill>
                <a:latin typeface="Arial" pitchFamily="34" charset="0"/>
                <a:ea typeface="Arial" pitchFamily="34" charset="-122"/>
                <a:cs typeface="Arial" pitchFamily="34" charset="-120"/>
              </a:rPr>
              <a:t>סיכום</a:t>
            </a:r>
            <a:endParaRPr lang="he-IL" sz="3000" dirty="0"/>
          </a:p>
        </p:txBody>
      </p:sp>
      <p:sp>
        <p:nvSpPr>
          <p:cNvPr id="3" name="Shape 1"/>
          <p:cNvSpPr/>
          <p:nvPr/>
        </p:nvSpPr>
        <p:spPr>
          <a:xfrm>
            <a:off x="6248095" y="1463040"/>
            <a:ext cx="5394960" cy="3108960"/>
          </a:xfrm>
          <a:prstGeom prst="roundRect">
            <a:avLst>
              <a:gd name="adj" fmla="val 3529"/>
            </a:avLst>
          </a:prstGeom>
          <a:solidFill>
            <a:schemeClr val="bg2"/>
          </a:solidFill>
          <a:ln w="12700">
            <a:solidFill>
              <a:schemeClr val="bg2"/>
            </a:solidFill>
            <a:prstDash val="solid"/>
          </a:ln>
        </p:spPr>
      </p:sp>
      <p:sp>
        <p:nvSpPr>
          <p:cNvPr id="4" name="Shape 2"/>
          <p:cNvSpPr/>
          <p:nvPr/>
        </p:nvSpPr>
        <p:spPr>
          <a:xfrm>
            <a:off x="8488375" y="1691640"/>
            <a:ext cx="914400" cy="91440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726119" y="1929384"/>
            <a:ext cx="438912" cy="438912"/>
          </a:xfrm>
          <a:prstGeom prst="rect">
            <a:avLst/>
          </a:prstGeom>
        </p:spPr>
      </p:pic>
      <p:sp>
        <p:nvSpPr>
          <p:cNvPr id="6" name="Text 3"/>
          <p:cNvSpPr txBox="1"/>
          <p:nvPr/>
        </p:nvSpPr>
        <p:spPr>
          <a:xfrm>
            <a:off x="6522415" y="2697480"/>
            <a:ext cx="4846320" cy="1783080"/>
          </a:xfrm>
          <a:prstGeom prst="rect">
            <a:avLst/>
          </a:prstGeom>
          <a:noFill/>
          <a:ln/>
        </p:spPr>
        <p:txBody>
          <a:bodyPr wrap="square" lIns="50800" tIns="50800" rIns="50800" bIns="50800" rtlCol="0" anchor="ctr"/>
          <a:lstStyle/>
          <a:p>
            <a:pPr rtl="1" algn="ctr" indent="0" marL="0">
              <a:buNone/>
            </a:pPr>
            <a:r>
              <a:rPr lang="he-IL" altLang="en-US" sz="2000" dirty="0">
                <a:solidFill>
                  <a:schemeClr val="tx1"/>
                </a:solidFill>
                <a:latin typeface="Arial" pitchFamily="34" charset="0"/>
                <a:ea typeface="Arial" pitchFamily="34" charset="-122"/>
                <a:cs typeface="Arial" pitchFamily="34" charset="-120"/>
              </a:rPr>
              <a:t>תזונאית קלינית משנה חיים של </a:t>
            </a:r>
            <a:pPr rtl="1" algn="ctr" indent="0" marL="0">
              <a:buNone/>
            </a:pPr>
            <a:r>
              <a:rPr lang="he-IL" altLang="en-US" sz="2000" b="1" dirty="0">
                <a:solidFill>
                  <a:schemeClr val="accent4"/>
                </a:solidFill>
                <a:latin typeface="Arial" pitchFamily="34" charset="0"/>
                <a:ea typeface="Arial" pitchFamily="34" charset="-122"/>
                <a:cs typeface="Arial" pitchFamily="34" charset="-120"/>
              </a:rPr>
              <a:t>אדם אחד</a:t>
            </a:r>
            <a:pPr rtl="1" algn="ctr" indent="0" marL="0">
              <a:buNone/>
            </a:pPr>
            <a:r>
              <a:rPr lang="he-IL" altLang="en-US" sz="2000" dirty="0">
                <a:solidFill>
                  <a:schemeClr val="tx1"/>
                </a:solidFill>
                <a:latin typeface="Arial" pitchFamily="34" charset="0"/>
                <a:ea typeface="Arial" pitchFamily="34" charset="-122"/>
                <a:cs typeface="Arial" pitchFamily="34" charset="-120"/>
              </a:rPr>
              <a:t> מקצה לקצה.</a:t>
            </a:r>
            <a:endParaRPr lang="he-IL" sz="2000" dirty="0"/>
          </a:p>
        </p:txBody>
      </p:sp>
      <p:sp>
        <p:nvSpPr>
          <p:cNvPr id="7" name="Shape 4"/>
          <p:cNvSpPr/>
          <p:nvPr/>
        </p:nvSpPr>
        <p:spPr>
          <a:xfrm>
            <a:off x="548640" y="1463040"/>
            <a:ext cx="5394960" cy="3108960"/>
          </a:xfrm>
          <a:prstGeom prst="roundRect">
            <a:avLst>
              <a:gd name="adj" fmla="val 3529"/>
            </a:avLst>
          </a:prstGeom>
          <a:solidFill>
            <a:schemeClr val="bg2"/>
          </a:solidFill>
          <a:ln w="12700">
            <a:solidFill>
              <a:schemeClr val="bg2"/>
            </a:solidFill>
            <a:prstDash val="solid"/>
          </a:ln>
        </p:spPr>
      </p:sp>
      <p:sp>
        <p:nvSpPr>
          <p:cNvPr id="8" name="Shape 5"/>
          <p:cNvSpPr/>
          <p:nvPr/>
        </p:nvSpPr>
        <p:spPr>
          <a:xfrm>
            <a:off x="2788920" y="1691640"/>
            <a:ext cx="914400" cy="914400"/>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3026664" y="1929384"/>
            <a:ext cx="438912" cy="438912"/>
          </a:xfrm>
          <a:prstGeom prst="rect">
            <a:avLst/>
          </a:prstGeom>
        </p:spPr>
      </p:pic>
      <p:sp>
        <p:nvSpPr>
          <p:cNvPr id="10" name="Text 6"/>
          <p:cNvSpPr txBox="1"/>
          <p:nvPr/>
        </p:nvSpPr>
        <p:spPr>
          <a:xfrm>
            <a:off x="822960" y="2697480"/>
            <a:ext cx="4846320" cy="1783080"/>
          </a:xfrm>
          <a:prstGeom prst="rect">
            <a:avLst/>
          </a:prstGeom>
          <a:noFill/>
          <a:ln/>
        </p:spPr>
        <p:txBody>
          <a:bodyPr wrap="square" lIns="50800" tIns="50800" rIns="50800" bIns="50800" rtlCol="0" anchor="ctr"/>
          <a:lstStyle/>
          <a:p>
            <a:pPr rtl="1" algn="ctr" indent="0" marL="0">
              <a:buNone/>
            </a:pPr>
            <a:r>
              <a:rPr lang="he-IL" altLang="en-US" sz="2000" dirty="0">
                <a:solidFill>
                  <a:schemeClr val="tx1"/>
                </a:solidFill>
                <a:latin typeface="Arial" pitchFamily="34" charset="0"/>
                <a:ea typeface="Arial" pitchFamily="34" charset="-122"/>
                <a:cs typeface="Arial" pitchFamily="34" charset="-120"/>
              </a:rPr>
              <a:t>תזונאית בריאות הציבור משנה את בריאותם של </a:t>
            </a:r>
            <a:pPr rtl="1" algn="ctr" indent="0" marL="0">
              <a:buNone/>
            </a:pPr>
            <a:r>
              <a:rPr lang="he-IL" altLang="en-US" sz="2000" b="1" dirty="0">
                <a:solidFill>
                  <a:schemeClr val="accent1"/>
                </a:solidFill>
                <a:latin typeface="Arial" pitchFamily="34" charset="0"/>
                <a:ea typeface="Arial" pitchFamily="34" charset="-122"/>
                <a:cs typeface="Arial" pitchFamily="34" charset="-120"/>
              </a:rPr>
              <a:t>אלפי אנשים</a:t>
            </a:r>
            <a:pPr rtl="1" algn="ctr" indent="0" marL="0">
              <a:buNone/>
            </a:pPr>
            <a:r>
              <a:rPr lang="he-IL" altLang="en-US" sz="2000" dirty="0">
                <a:solidFill>
                  <a:schemeClr val="tx1"/>
                </a:solidFill>
                <a:latin typeface="Arial" pitchFamily="34" charset="0"/>
                <a:ea typeface="Arial" pitchFamily="34" charset="-122"/>
                <a:cs typeface="Arial" pitchFamily="34" charset="-120"/>
              </a:rPr>
              <a:t>, לפעמים בלי שהם בכלל יודעים על קיומה, פשוט כי היא הפכה את הסביבה שלהם לבריאה יותר.</a:t>
            </a:r>
            <a:endParaRPr lang="he-IL" sz="2000" dirty="0"/>
          </a:p>
        </p:txBody>
      </p:sp>
      <p:sp>
        <p:nvSpPr>
          <p:cNvPr id="11" name="Shape 7"/>
          <p:cNvSpPr/>
          <p:nvPr/>
        </p:nvSpPr>
        <p:spPr>
          <a:xfrm>
            <a:off x="2011680" y="4892040"/>
            <a:ext cx="8165592" cy="1005840"/>
          </a:xfrm>
          <a:prstGeom prst="roundRect">
            <a:avLst>
              <a:gd name="adj" fmla="val 18182"/>
            </a:avLst>
          </a:prstGeom>
          <a:solidFill>
            <a:schemeClr val="tx2"/>
          </a:solidFill>
          <a:ln/>
        </p:spPr>
      </p:sp>
      <p:sp>
        <p:nvSpPr>
          <p:cNvPr id="12" name="Shape 8"/>
          <p:cNvSpPr/>
          <p:nvPr/>
        </p:nvSpPr>
        <p:spPr>
          <a:xfrm>
            <a:off x="9098280" y="5029200"/>
            <a:ext cx="731520" cy="73152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9288475" y="5219395"/>
            <a:ext cx="351130" cy="351130"/>
          </a:xfrm>
          <a:prstGeom prst="rect">
            <a:avLst/>
          </a:prstGeom>
        </p:spPr>
      </p:pic>
      <p:sp>
        <p:nvSpPr>
          <p:cNvPr id="14" name="Text 9"/>
          <p:cNvSpPr txBox="1"/>
          <p:nvPr/>
        </p:nvSpPr>
        <p:spPr>
          <a:xfrm>
            <a:off x="2286000" y="4892040"/>
            <a:ext cx="6675120" cy="1005840"/>
          </a:xfrm>
          <a:prstGeom prst="rect">
            <a:avLst/>
          </a:prstGeom>
          <a:noFill/>
          <a:ln/>
        </p:spPr>
        <p:txBody>
          <a:bodyPr wrap="square" lIns="50800" tIns="50800" rIns="50800" bIns="50800" rtlCol="0" anchor="ctr"/>
          <a:lstStyle/>
          <a:p>
            <a:pPr rtl="1" algn="ctr" indent="0" marL="0">
              <a:buNone/>
            </a:pPr>
            <a:r>
              <a:rPr lang="he-IL" altLang="en-US" sz="2400" b="1" dirty="0">
                <a:solidFill>
                  <a:schemeClr val="bg1"/>
                </a:solidFill>
                <a:latin typeface="Arial" pitchFamily="34" charset="0"/>
                <a:ea typeface="Arial" pitchFamily="34" charset="-122"/>
                <a:cs typeface="Arial" pitchFamily="34" charset="-120"/>
              </a:rPr>
              <a:t>שתי הגישות חיוניות ומשלימות זו את זו.</a:t>
            </a:r>
            <a:endParaRPr lang="he-IL" sz="24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latin typeface="Arial"/>
                <a:ea typeface="Arial"/>
                <a:cs typeface="Arial"/>
              </a:defRPr>
            </a:lvl1pPr>
          </a:lstStyle>
          <a:p>
            <a:pPr rtl="1"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1280160" y="3108960"/>
            <a:ext cx="5120640" cy="5120640"/>
          </a:xfrm>
          <a:prstGeom prst="ellipse">
            <a:avLst/>
          </a:prstGeom>
          <a:solidFill>
            <a:schemeClr val="accent1">
              <a:alpha val="25000"/>
            </a:schemeClr>
          </a:solidFill>
          <a:ln/>
        </p:spPr>
      </p:sp>
      <p:sp>
        <p:nvSpPr>
          <p:cNvPr id="3" name="Shape 1"/>
          <p:cNvSpPr/>
          <p:nvPr/>
        </p:nvSpPr>
        <p:spPr>
          <a:xfrm>
            <a:off x="9418320" y="-1463040"/>
            <a:ext cx="4206240" cy="4206240"/>
          </a:xfrm>
          <a:prstGeom prst="ellipse">
            <a:avLst/>
          </a:prstGeom>
          <a:solidFill>
            <a:schemeClr val="accent2">
              <a:alpha val="20000"/>
            </a:schemeClr>
          </a:solidFill>
          <a:ln/>
        </p:spPr>
      </p:sp>
      <p:sp>
        <p:nvSpPr>
          <p:cNvPr id="4" name="Shape 2"/>
          <p:cNvSpPr/>
          <p:nvPr/>
        </p:nvSpPr>
        <p:spPr>
          <a:xfrm>
            <a:off x="5547208" y="1417320"/>
            <a:ext cx="1097280" cy="109728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5832500" y="1702613"/>
            <a:ext cx="526694" cy="526694"/>
          </a:xfrm>
          <a:prstGeom prst="rect">
            <a:avLst/>
          </a:prstGeom>
        </p:spPr>
      </p:pic>
      <p:sp>
        <p:nvSpPr>
          <p:cNvPr id="6" name="Text 3"/>
          <p:cNvSpPr txBox="1"/>
          <p:nvPr/>
        </p:nvSpPr>
        <p:spPr>
          <a:xfrm>
            <a:off x="1371600" y="2743200"/>
            <a:ext cx="9445752" cy="2194560"/>
          </a:xfrm>
          <a:prstGeom prst="rect">
            <a:avLst/>
          </a:prstGeom>
          <a:noFill/>
          <a:ln/>
        </p:spPr>
        <p:txBody>
          <a:bodyPr wrap="square" lIns="50800" tIns="50800" rIns="50800" bIns="50800" rtlCol="0" anchor="ctr"/>
          <a:lstStyle/>
          <a:p>
            <a:pPr rtl="1" algn="ctr" indent="0" marL="0">
              <a:buNone/>
            </a:pPr>
            <a:r>
              <a:rPr lang="he-IL" altLang="en-US" sz="4800" b="1" dirty="0">
                <a:solidFill>
                  <a:schemeClr val="bg1"/>
                </a:solidFill>
                <a:latin typeface="Arial" pitchFamily="34" charset="0"/>
                <a:ea typeface="Arial" pitchFamily="34" charset="-122"/>
                <a:cs typeface="Arial" pitchFamily="34" charset="-120"/>
              </a:rPr>
              <a:t>יוצאים לדרך חדשה</a:t>
            </a:r>
            <a:endParaRPr lang="he-IL" sz="4800" dirty="0"/>
          </a:p>
          <a:p>
            <a:pPr rtl="1" algn="ctr" indent="0" marL="0">
              <a:buNone/>
            </a:pPr>
            <a:r>
              <a:rPr lang="he-IL" altLang="en-US" sz="4800" b="1" dirty="0">
                <a:solidFill>
                  <a:schemeClr val="accent2"/>
                </a:solidFill>
                <a:latin typeface="Arial" pitchFamily="34" charset="0"/>
                <a:ea typeface="Arial" pitchFamily="34" charset="-122"/>
                <a:cs typeface="Arial" pitchFamily="34" charset="-120"/>
              </a:rPr>
              <a:t>בהצלחה לכולנו!</a:t>
            </a:r>
            <a:endParaRPr lang="he-IL" sz="4800" dirty="0"/>
          </a:p>
        </p:txBody>
      </p:sp>
      <p:sp>
        <p:nvSpPr>
          <p:cNvPr id="25" name="Slide Number Placeholder 0"/>
          <p:cNvSpPr>
            <a:spLocks noGrp="1"/>
          </p:cNvSpPr>
          <p:nvPr>
            <p:ph type="sldNum" sz="quarter" idx="4294967295"/>
          </p:nvPr>
        </p:nvSpPr>
        <p:spPr>
          <a:xfrm>
            <a:off x="36576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Arial"/>
                <a:ea typeface="Arial"/>
                <a:cs typeface="Arial"/>
              </a:defRPr>
            </a:lvl1pPr>
          </a:lstStyle>
          <a:p>
            <a:pPr rtl="1" algn="l"/>
            <a:fld id="{F7021451-1387-4CA6-816F-3879F97B5CBC}" type="slidenum">
              <a:rPr b="0" lang="en-US"/>
              <a:t>52</a:t>
            </a:fld>
            <a:endParaRPr lang="en-US"/>
          </a:p>
        </p:txBody>
      </p:sp>
    </p:spTree>
  </p:cSld>
  <p:clrMapOvr>
    <a:masterClrMapping/>
  </p:clrMapOvr>
</p:sld>
</file>

<file path=ppt/theme/theme1.xml><?xml version="1.0" encoding="utf-8"?>
<a:theme xmlns:a="http://schemas.openxmlformats.org/drawingml/2006/main" name="Public Health Fresh">
  <a:themeElements>
    <a:clrScheme name="Public Health Fresh">
      <a:dk1>
        <a:srgbClr val="1E2B2F"/>
      </a:dk1>
      <a:lt1>
        <a:srgbClr val="FFFFFF"/>
      </a:lt1>
      <a:dk2>
        <a:srgbClr val="0F4C5C"/>
      </a:dk2>
      <a:lt2>
        <a:srgbClr val="EAF4F0"/>
      </a:lt2>
      <a:accent1>
        <a:srgbClr val="2A9D8F"/>
      </a:accent1>
      <a:accent2>
        <a:srgbClr val="7CB342"/>
      </a:accent2>
      <a:accent3>
        <a:srgbClr val="F4A23B"/>
      </a:accent3>
      <a:accent4>
        <a:srgbClr val="E76F51"/>
      </a:accent4>
      <a:accent5>
        <a:srgbClr val="8E7CC3"/>
      </a:accent5>
      <a:accent6>
        <a:srgbClr val="3D7EA6"/>
      </a:accent6>
      <a:hlink>
        <a:srgbClr val="2A7FA8"/>
      </a:hlink>
      <a:folHlink>
        <a:srgbClr val="6D5A9E"/>
      </a:folHlink>
    </a:clrScheme>
    <a:fontScheme name="Public Health Fres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הקורס המלווה בבריאות הציבור – שיעור 1</dc:title>
  <dc:subject>PptxGenJS Presentation</dc:subject>
  <dc:creator>אורית הלר</dc:creator>
  <cp:lastModifiedBy>אורית הלר</cp:lastModifiedBy>
  <cp:revision>1</cp:revision>
  <dcterms:created xsi:type="dcterms:W3CDTF">2026-10-12T16:49:54Z</dcterms:created>
  <dcterms:modified xsi:type="dcterms:W3CDTF">2026-10-12T16:49:54Z</dcterms:modified>
</cp:coreProperties>
</file>